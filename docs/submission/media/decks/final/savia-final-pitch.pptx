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Lst>
  <p:sldSz cx="14630400" cy="82296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NARRATION (participant voice)</a:t>
            </a:r>
          </a:p>
          <a:p>
            <a:r>
              <a:t>I don't recognize this transaction. For a customer, that is the start of a problem, not just a chat. Meet Savia: one voice assistant that keeps your case moving while you get on with your day. Behind that familiar voice is a network designed for up to one hundred agents.</a:t>
            </a:r>
          </a:p>
          <a:p/>
          <a:p>
            <a:r>
              <a:t>EVIDENCE / Q&amp;A</a:t>
            </a:r>
          </a:p>
          <a:p>
            <a:r>
              <a:t>Product vision: up to 100 team conversations. Working prototype: integrated voice, grounded explanation, durable inquiries and two completed reviewers. Transaction disputes are the first use case. Do not describe all 100 as proven simultaneous customer execution.</a:t>
            </a:r>
          </a:p>
          <a:p/>
          <a:p>
            <a:r>
              <a:t>SOURCES</a:t>
            </a:r>
          </a:p>
          <a:p>
            <a:r>
              <a:t>https://github.com/mario-andreschak/factored-hackathon-2026-mcg/blob/95e2b9d62685f2669473258b88935a43dbe1bf75/docs/submission/CUSTOMER_JOURNEY.md</a:t>
            </a:r>
          </a:p>
          <a:p>
            <a:r>
              <a:t>https://github.com/mario-andreschak/factored-hackathon-2026-mcg/blob/95e2b9d62685f2669473258b88935a43dbe1bf75/docs/submission/assistant/FLEET_CONNECTOR.md</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NARRATION (participant voice)</a:t>
            </a:r>
          </a:p>
          <a:p>
            <a:r>
              <a:t>Savia checks the selected transaction, explains what is known and takes permitted steps with your consent. If the answer needs investigation, the case keeps its context while specialists explore different approaches. Savia returns with a useful result or prepares the next human handoff. Our prototype already shows a grounded answer, two saved perspectives and a customer returning without starting over.</a:t>
            </a:r>
          </a:p>
          <a:p/>
          <a:p>
            <a:r>
              <a:t>EVIDENCE / Q&amp;A</a:t>
            </a:r>
          </a:p>
          <a:p>
            <a:r>
              <a:t>Actual fictional Spanish UI is shown with an English summary. Demonstrated: selected grounded answer 9.338 s; separate browser team interaction 4.278 s; two suggestions survive new chat/reload; customer marks an informational inquiry helpful. Integrated voice closure has complete playback receipts. A separate simulated receipt check repeats after 30 real minutes. Real human assignment, bank resolution/refund, push/email delivery and multi-day completion remain unverified. The story rail describes the intended full lifecycle, not a recorded four-stage production run.</a:t>
            </a:r>
          </a:p>
          <a:p/>
          <a:p>
            <a:r>
              <a:t>SOURCES</a:t>
            </a:r>
          </a:p>
          <a:p>
            <a:r>
              <a:t>https://github.com/mario-andreschak/factored-hackathon-2026-mcg/blob/95e2b9d62685f2669473258b88935a43dbe1bf75/docs/submission/CUSTOMER_JOURNEY.md</a:t>
            </a:r>
          </a:p>
          <a:p>
            <a:r>
              <a:t>https://github.com/mario-andreschak/factored-hackathon-2026-mcg/blob/843da50698b559dc748bea4505d1d93483ff29b3/docs/submission/RELEASE_CANDIDATE.md</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NARRATION (participant voice)</a:t>
            </a:r>
          </a:p>
          <a:p>
            <a:r>
              <a:t>ElevenLabs shows how compelling a natural transaction-dispute conversation can be. That is a commercial reference for voice quality. Savia makes the case itself the product: a persistent goal, multiple perspectives, reviewed findings and a deployment the bank can control. We are selling the service that keeps working after the conversation.</a:t>
            </a:r>
          </a:p>
          <a:p/>
          <a:p>
            <a:r>
              <a:t>EVIDENCE / Q&amp;A</a:t>
            </a:r>
          </a:p>
          <a:p>
            <a:r>
              <a:t>Comparison reframes the supplied analysis as product positioning, not a winner table. ElevenLabs official September 28 article, updated October 5, reports expressive voice, about 100 ms median inference, 90+ languages, a financial-services dispute demo and a combined transcription/turn-taking/TTS stack. No head-to-head performance, stronger compliance or missing competitor features are asserted. Savia focus and proposed deployment options differ in scope from a commercial platform showcase.</a:t>
            </a:r>
          </a:p>
          <a:p/>
          <a:p>
            <a:r>
              <a:t>SOURCES</a:t>
            </a:r>
          </a:p>
          <a:p>
            <a:r>
              <a:t>https://elevenlabs.io/blog/eleven-v4-turbo-in-elevenagents</a:t>
            </a:r>
          </a:p>
          <a:p>
            <a:r>
              <a:t>https://github.com/mario-andreschak/factored-hackathon-2026-mcg/blob/95e2b9d62685f2669473258b88935a43dbe1bf75/docs/submission/assistant/FLEET_CONNECTOR.md</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NARRATION (participant voice)</a:t>
            </a:r>
          </a:p>
          <a:p>
            <a:r>
              <a:t>One assistant stays with the customer. The swarm design spreads the investigation across ten teams: one lead and nine specialists per team, one hundred agent conversations in total. They exchange messages, share evidence, challenge findings and return a reviewed synthesis. FLUJO provides the orchestration foundation; Savia owns the case. Existing sandbox collaboration and capacity tests support this design. The exact hundred-agent customer run still needs qualification.</a:t>
            </a:r>
          </a:p>
          <a:p/>
          <a:p>
            <a:r>
              <a:t>EVIDENCE / Q&amp;A</a:t>
            </a:r>
          </a:p>
          <a:p>
            <a:r>
              <a:t>Counting contract: 10 team Machines × (1 lead + 9 child specialists) = 100 team conversations; Savia root is separate. Configured child concurrency is nine; stock recovered flow used ten. Native subflow messaging/waiting; fleet delegation/message/wait; shared board and independent claim review. Real infrastructure evidence includes 18 simultaneous Fly leaf sandboxes, 17 completed leaf team runs, six matching output hashes; six of 24 leaf slots failed provisioning and operator steering was required. Larger recovered run enrolled 96 child Workers over time, not all simultaneously. Integrated customer attempt failed on first background root model call with disabled provider workspace before delegation. No 100-completion claim.</a:t>
            </a:r>
          </a:p>
          <a:p/>
          <a:p>
            <a:r>
              <a:t>SOURCES</a:t>
            </a:r>
          </a:p>
          <a:p>
            <a:r>
              <a:t>https://github.com/mario-andreschak/factored-hackathon-2026-mcg/blob/95e2b9d62685f2669473258b88935a43dbe1bf75/docs/submission/measurements/INFRASTRUCTURE_CAPACITY.md</a:t>
            </a:r>
          </a:p>
          <a:p>
            <a:r>
              <a:t>https://github.com/mario-andreschak/factored-hackathon-2026-mcg/blob/95e2b9d62685f2669473258b88935a43dbe1bf75/docs/submission/assistant/FLEET_CONNECTOR.md</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NARRATION (participant voice)</a:t>
            </a:r>
          </a:p>
          <a:p>
            <a:r>
              <a:t>The system is modular: customer voice, durable case state, FLUJO orchestration and scoped banking tools. Data ownership and consent stay in the host and Banking MCP. Choose local open-weight inference or a hosted provider. FLUJO exposes run, model, tool and subflow statistics. The foundation returned three hundred correct reference codes from three hundred queued requests. The frozen release also records one hundred twenty-nine frontend and three hundred sixty-seven backend tests.</a:t>
            </a:r>
          </a:p>
          <a:p/>
          <a:p>
            <a:r>
              <a:t>EVIDENCE / Q&amp;A</a:t>
            </a:r>
          </a:p>
          <a:p>
            <a:r>
              <a:t>Deployment design supports self-hosted services and model selection; FLUJO local Ollama path is source-documented, not a measured all-local Savia deployment. Capacity benchmark used Qwen3.8-27B FP8 with vLLM 0.30.0 on rented Modal H100: repeat neutral reference-code workload, 1k context, 300 client submissions, p50 273.40 s, p95 441.60 s including queueing. First wording returned 217/300 correct; direct inference returned 399/400 correct; both retained. Counts 129 frontend / 367 backend refer to frozen rc.1 checks, not a fresh whole-release CI claim (current CI has failures). Statistics are metadata-only and best-effort; not every payload is retained and not an audit completeness guarantee. Current public app calls OpenRouter directly; target connects the FLUJO worker fleet. Cases/chat persist on disk; active audio state does not survive restart. Interrupted/unknown work is held rather than blindly replayed. TLS ingress, signed consent-scoped boundaries and separated data/state are source-backed controls, not a compliance certification.</a:t>
            </a:r>
          </a:p>
          <a:p/>
          <a:p>
            <a:r>
              <a:t>SOURCES</a:t>
            </a:r>
          </a:p>
          <a:p>
            <a:r>
              <a:t>https://github.com/mario-andreschak/factored-hackathon-2026-mcg/blob/95e2b9d62685f2669473258b88935a43dbe1bf75/docs/submission/measurements/INFRASTRUCTURE_CAPACITY.md</a:t>
            </a:r>
          </a:p>
          <a:p>
            <a:r>
              <a:t>https://github.com/mario-andreschak/factored-hackathon-2026-mcg/blob/95e2b9d62685f2669473258b88935a43dbe1bf75/docs/submission/measurements/infrastructure-capacity.json</a:t>
            </a:r>
          </a:p>
          <a:p>
            <a:r>
              <a:t>https://github.com/mario-andreschak/factored-hackathon-2026-mcg/blob/843da50698b559dc748bea4505d1d93483ff29b3/docs/submission/RELEASE_CANDIDATE.md</a:t>
            </a:r>
          </a:p>
          <a:p>
            <a:r>
              <a:t>C:\Users\Moe\Documents\GitHub\FLUJO\docs\features\models\connecting.md</a:t>
            </a:r>
          </a:p>
          <a:p>
            <a:r>
              <a:t>C:\Users\Moe\Documents\GitHub\FLUJO\docs\statistics.md</a:t>
            </a:r>
          </a:p>
          <a:p>
            <a:r>
              <a:t>C:\Users\Moe\Documents\GitHub\factored-hackathon-2026\docs\architecture\rc-runtime-reference.md</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NARRATION (participant voice)</a:t>
            </a:r>
          </a:p>
          <a:p>
            <a:r>
              <a:t>For customers, the ambition is less chasing and less repeating. For the bank, it is clearer evidence and a better prepared handoff. Start with transaction disputes, then reuse the same modular service for other customer problems. We are seeking a bank partner for a bounded pilot: measure repeat contacts, helpful answers, handoff quality and cost per case. Ask once. Savia follows through.</a:t>
            </a:r>
          </a:p>
          <a:p/>
          <a:p>
            <a:r>
              <a:t>EVIDENCE / Q&amp;A</a:t>
            </a:r>
          </a:p>
          <a:p>
            <a:r>
              <a:t>Pilot invitation, not measured ROI. Live fictional demo link is a review entry point, not a freshly verified end-to-end customer acceptance. Entry code SAVIA-2026. Production bank actions and live human assignment are not claimed. Founder/team credits preserve Gloria Yanta Salc (prompt flow / decision design), Carlos Diaz (data pipeline / lookup), Mario Andreschak (integration / orchestration).</a:t>
            </a:r>
          </a:p>
          <a:p/>
          <a:p>
            <a:r>
              <a:t>SOURCES</a:t>
            </a:r>
          </a:p>
          <a:p>
            <a:r>
              <a:t>https://github.com/mario-andreschak/factored-hackathon-2026-mcg/blob/95e2b9d62685f2669473258b88935a43dbe1bf75/docs/submission/CUSTOMER_JOURNEY.md</a:t>
            </a:r>
          </a:p>
          <a:p>
            <a:r>
              <a:t>https://github.com/mario-andreschak/factored-hackathon-2026-mcg/blob/843da50698b559dc748bea4505d1d93483ff29b3/docs/submission/RELEASE_CANDIDATE.md</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 Id="rId3"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 Id="rId3" Type="http://schemas.openxmlformats.org/officeDocument/2006/relationships/hyperlink" Target="https://elevenlabs.io/blog/eleven-v4-turbo-in-elevenagents" TargetMode="Externa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 Id="rId3" Type="http://schemas.openxmlformats.org/officeDocument/2006/relationships/hyperlink" Target="https://savia-rc-2026.fly.dev" TargetMode="Externa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2332D"/>
        </a:solidFill>
        <a:effectLst/>
      </p:bgPr>
    </p:bg>
    <p:spTree>
      <p:nvGrpSpPr>
        <p:cNvPr id="1" name=""/>
        <p:cNvGrpSpPr/>
        <p:nvPr/>
      </p:nvGrpSpPr>
      <p:grpSpPr/>
      <p:sp>
        <p:nvSpPr>
          <p:cNvPr id="2" name="Rectangle 1"/>
          <p:cNvSpPr/>
          <p:nvPr/>
        </p:nvSpPr>
        <p:spPr>
          <a:xfrm>
            <a:off x="585216" y="512064"/>
            <a:ext cx="457200" cy="64008"/>
          </a:xfrm>
          <a:prstGeom prst="rect">
            <a:avLst/>
          </a:prstGeom>
          <a:solidFill>
            <a:srgbClr val="D9EDB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207008" y="374904"/>
            <a:ext cx="11887200" cy="320040"/>
          </a:xfrm>
          <a:prstGeom prst="rect">
            <a:avLst/>
          </a:prstGeom>
          <a:noFill/>
        </p:spPr>
        <p:txBody>
          <a:bodyPr wrap="square" lIns="9144" rIns="9144" tIns="0" bIns="0" anchor="t">
            <a:spAutoFit/>
          </a:bodyPr>
          <a:lstStyle/>
          <a:p>
            <a:pPr>
              <a:spcAft>
                <a:spcPts val="200"/>
              </a:spcAft>
            </a:pPr>
            <a:r>
              <a:rPr sz="1100" b="1">
                <a:solidFill>
                  <a:srgbClr val="D9EDB7"/>
                </a:solidFill>
                <a:latin typeface="Aptos"/>
              </a:rPr>
              <a:t>SAVIA / FACTORED AI &amp; DATA HACKATHON 2026</a:t>
            </a:r>
          </a:p>
        </p:txBody>
      </p:sp>
      <p:sp>
        <p:nvSpPr>
          <p:cNvPr id="4" name="TextBox 3"/>
          <p:cNvSpPr txBox="1"/>
          <p:nvPr/>
        </p:nvSpPr>
        <p:spPr>
          <a:xfrm>
            <a:off x="658368" y="7772400"/>
            <a:ext cx="10972800" cy="228600"/>
          </a:xfrm>
          <a:prstGeom prst="rect">
            <a:avLst/>
          </a:prstGeom>
          <a:noFill/>
        </p:spPr>
        <p:txBody>
          <a:bodyPr wrap="square" lIns="9144" rIns="9144" tIns="0" bIns="0" anchor="t">
            <a:spAutoFit/>
          </a:bodyPr>
          <a:lstStyle/>
          <a:p>
            <a:pPr>
              <a:spcAft>
                <a:spcPts val="200"/>
              </a:spcAft>
            </a:pPr>
            <a:r>
              <a:rPr sz="900" b="0">
                <a:solidFill>
                  <a:srgbClr val="C6D3CA"/>
                </a:solidFill>
                <a:latin typeface="Aptos"/>
              </a:rPr>
              <a:t>SAVIA  /  ONE VOICE. A NETWORK BEHIND IT.</a:t>
            </a:r>
          </a:p>
        </p:txBody>
      </p:sp>
      <p:sp>
        <p:nvSpPr>
          <p:cNvPr id="5" name="TextBox 4"/>
          <p:cNvSpPr txBox="1"/>
          <p:nvPr/>
        </p:nvSpPr>
        <p:spPr>
          <a:xfrm>
            <a:off x="13002768" y="7754112"/>
            <a:ext cx="914400" cy="256032"/>
          </a:xfrm>
          <a:prstGeom prst="rect">
            <a:avLst/>
          </a:prstGeom>
          <a:noFill/>
        </p:spPr>
        <p:txBody>
          <a:bodyPr wrap="square" lIns="9144" rIns="9144" tIns="0" bIns="0" anchor="t">
            <a:spAutoFit/>
          </a:bodyPr>
          <a:lstStyle/>
          <a:p>
            <a:pPr>
              <a:spcAft>
                <a:spcPts val="200"/>
              </a:spcAft>
            </a:pPr>
            <a:r>
              <a:rPr sz="1000" b="1">
                <a:solidFill>
                  <a:srgbClr val="D9EDB7"/>
                </a:solidFill>
                <a:latin typeface="Aptos"/>
              </a:rPr>
              <a:t>01 / 06</a:t>
            </a:r>
          </a:p>
        </p:txBody>
      </p:sp>
      <p:sp>
        <p:nvSpPr>
          <p:cNvPr id="6" name="TextBox 5"/>
          <p:cNvSpPr txBox="1"/>
          <p:nvPr/>
        </p:nvSpPr>
        <p:spPr>
          <a:xfrm>
            <a:off x="685800" y="1353312"/>
            <a:ext cx="8503920" cy="1965960"/>
          </a:xfrm>
          <a:prstGeom prst="rect">
            <a:avLst/>
          </a:prstGeom>
          <a:noFill/>
        </p:spPr>
        <p:txBody>
          <a:bodyPr wrap="square" lIns="9144" rIns="9144" tIns="0" bIns="0" anchor="t">
            <a:spAutoFit/>
          </a:bodyPr>
          <a:lstStyle/>
          <a:p>
            <a:pPr>
              <a:spcAft>
                <a:spcPts val="200"/>
              </a:spcAft>
            </a:pPr>
            <a:r>
              <a:rPr sz="5500" b="1">
                <a:solidFill>
                  <a:srgbClr val="F8F8F2"/>
                </a:solidFill>
                <a:latin typeface="Aptos"/>
              </a:rPr>
              <a:t>Ask once.</a:t>
            </a:r>
          </a:p>
          <a:p>
            <a:pPr>
              <a:spcAft>
                <a:spcPts val="200"/>
              </a:spcAft>
            </a:pPr>
            <a:r>
              <a:rPr sz="5500" b="1">
                <a:solidFill>
                  <a:srgbClr val="F8F8F2"/>
                </a:solidFill>
                <a:latin typeface="Aptos"/>
              </a:rPr>
              <a:t>Savia follows through.</a:t>
            </a:r>
          </a:p>
        </p:txBody>
      </p:sp>
      <p:sp>
        <p:nvSpPr>
          <p:cNvPr id="7" name="TextBox 6"/>
          <p:cNvSpPr txBox="1"/>
          <p:nvPr/>
        </p:nvSpPr>
        <p:spPr>
          <a:xfrm>
            <a:off x="722376" y="3694176"/>
            <a:ext cx="7772400" cy="1234440"/>
          </a:xfrm>
          <a:prstGeom prst="rect">
            <a:avLst/>
          </a:prstGeom>
          <a:noFill/>
        </p:spPr>
        <p:txBody>
          <a:bodyPr wrap="square" lIns="9144" rIns="9144" tIns="0" bIns="0" anchor="t">
            <a:spAutoFit/>
          </a:bodyPr>
          <a:lstStyle/>
          <a:p>
            <a:pPr>
              <a:spcAft>
                <a:spcPts val="200"/>
              </a:spcAft>
            </a:pPr>
            <a:r>
              <a:rPr sz="2700" b="0">
                <a:solidFill>
                  <a:srgbClr val="D9EDB7"/>
                </a:solidFill>
                <a:latin typeface="Aptos"/>
              </a:rPr>
              <a:t>One voice for you.</a:t>
            </a:r>
          </a:p>
          <a:p>
            <a:pPr>
              <a:spcAft>
                <a:spcPts val="200"/>
              </a:spcAft>
            </a:pPr>
            <a:r>
              <a:rPr sz="2700" b="0">
                <a:solidFill>
                  <a:srgbClr val="D9EDB7"/>
                </a:solidFill>
                <a:latin typeface="Aptos"/>
              </a:rPr>
              <a:t>A network designed for up to 100 agents on your case.</a:t>
            </a:r>
          </a:p>
        </p:txBody>
      </p:sp>
      <p:sp>
        <p:nvSpPr>
          <p:cNvPr id="8" name="Oval 7"/>
          <p:cNvSpPr/>
          <p:nvPr/>
        </p:nvSpPr>
        <p:spPr>
          <a:xfrm>
            <a:off x="10122408" y="1655064"/>
            <a:ext cx="1453896" cy="1453896"/>
          </a:xfrm>
          <a:prstGeom prst="ellipse">
            <a:avLst/>
          </a:prstGeom>
          <a:solidFill>
            <a:srgbClr val="F8F8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747583" y="2222083"/>
            <a:ext cx="625175" cy="625175"/>
          </a:xfrm>
          <a:prstGeom prst="ellipse">
            <a:avLst/>
          </a:prstGeom>
          <a:solidFill>
            <a:srgbClr val="1233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11547226" y="1591056"/>
            <a:ext cx="1453896" cy="1453896"/>
          </a:xfrm>
          <a:prstGeom prst="ellipse">
            <a:avLst/>
          </a:prstGeom>
          <a:solidFill>
            <a:srgbClr val="F8F8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12172401" y="2158075"/>
            <a:ext cx="625175" cy="625175"/>
          </a:xfrm>
          <a:prstGeom prst="ellipse">
            <a:avLst/>
          </a:prstGeom>
          <a:solidFill>
            <a:srgbClr val="1233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9372600" y="4023360"/>
            <a:ext cx="73152" cy="384048"/>
          </a:xfrm>
          <a:prstGeom prst="rect">
            <a:avLst/>
          </a:prstGeom>
          <a:solidFill>
            <a:srgbClr val="D9EDB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9619488" y="3895344"/>
            <a:ext cx="73152" cy="640080"/>
          </a:xfrm>
          <a:prstGeom prst="rect">
            <a:avLst/>
          </a:prstGeom>
          <a:solidFill>
            <a:srgbClr val="D9EDB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9866376" y="3767328"/>
            <a:ext cx="73152" cy="896112"/>
          </a:xfrm>
          <a:prstGeom prst="rect">
            <a:avLst/>
          </a:prstGeom>
          <a:solidFill>
            <a:srgbClr val="D9EDB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10113264" y="3639312"/>
            <a:ext cx="73152" cy="1152144"/>
          </a:xfrm>
          <a:prstGeom prst="rect">
            <a:avLst/>
          </a:prstGeom>
          <a:solidFill>
            <a:srgbClr val="D9EDB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10360152" y="3511296"/>
            <a:ext cx="73152" cy="1408176"/>
          </a:xfrm>
          <a:prstGeom prst="rect">
            <a:avLst/>
          </a:prstGeom>
          <a:solidFill>
            <a:srgbClr val="D9EDB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10607040" y="4023360"/>
            <a:ext cx="73152" cy="384048"/>
          </a:xfrm>
          <a:prstGeom prst="rect">
            <a:avLst/>
          </a:prstGeom>
          <a:solidFill>
            <a:srgbClr val="D9EDB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10853928" y="3895344"/>
            <a:ext cx="73152" cy="640080"/>
          </a:xfrm>
          <a:prstGeom prst="rect">
            <a:avLst/>
          </a:prstGeom>
          <a:solidFill>
            <a:srgbClr val="D9EDB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11100816" y="3767328"/>
            <a:ext cx="73152" cy="896112"/>
          </a:xfrm>
          <a:prstGeom prst="rect">
            <a:avLst/>
          </a:prstGeom>
          <a:solidFill>
            <a:srgbClr val="D9EDB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11347704" y="3639312"/>
            <a:ext cx="73152" cy="1152144"/>
          </a:xfrm>
          <a:prstGeom prst="rect">
            <a:avLst/>
          </a:prstGeom>
          <a:solidFill>
            <a:srgbClr val="D9EDB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11594592" y="3511296"/>
            <a:ext cx="73152" cy="1408176"/>
          </a:xfrm>
          <a:prstGeom prst="rect">
            <a:avLst/>
          </a:prstGeom>
          <a:solidFill>
            <a:srgbClr val="D9EDB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11841480" y="4023360"/>
            <a:ext cx="73152" cy="384048"/>
          </a:xfrm>
          <a:prstGeom prst="rect">
            <a:avLst/>
          </a:prstGeom>
          <a:solidFill>
            <a:srgbClr val="D9EDB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12088368" y="3895344"/>
            <a:ext cx="73152" cy="640080"/>
          </a:xfrm>
          <a:prstGeom prst="rect">
            <a:avLst/>
          </a:prstGeom>
          <a:solidFill>
            <a:srgbClr val="D9EDB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12335256" y="3767328"/>
            <a:ext cx="73152" cy="896112"/>
          </a:xfrm>
          <a:prstGeom prst="rect">
            <a:avLst/>
          </a:prstGeom>
          <a:solidFill>
            <a:srgbClr val="D9EDB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12582144" y="3639312"/>
            <a:ext cx="73152" cy="1152144"/>
          </a:xfrm>
          <a:prstGeom prst="rect">
            <a:avLst/>
          </a:prstGeom>
          <a:solidFill>
            <a:srgbClr val="D9EDB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12829032" y="3511296"/>
            <a:ext cx="73152" cy="1408176"/>
          </a:xfrm>
          <a:prstGeom prst="rect">
            <a:avLst/>
          </a:prstGeom>
          <a:solidFill>
            <a:srgbClr val="D9EDB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13075920" y="4023360"/>
            <a:ext cx="73152" cy="384048"/>
          </a:xfrm>
          <a:prstGeom prst="rect">
            <a:avLst/>
          </a:prstGeom>
          <a:solidFill>
            <a:srgbClr val="D9EDB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ounded Rectangle 27"/>
          <p:cNvSpPr/>
          <p:nvPr/>
        </p:nvSpPr>
        <p:spPr>
          <a:xfrm>
            <a:off x="722376" y="5550408"/>
            <a:ext cx="13167360" cy="1399032"/>
          </a:xfrm>
          <a:prstGeom prst="roundRect">
            <a:avLst>
              <a:gd name="adj" fmla="val 12000"/>
            </a:avLst>
          </a:prstGeom>
          <a:solidFill>
            <a:srgbClr val="214A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969264" y="5769864"/>
            <a:ext cx="8686800" cy="548640"/>
          </a:xfrm>
          <a:prstGeom prst="rect">
            <a:avLst/>
          </a:prstGeom>
          <a:noFill/>
        </p:spPr>
        <p:txBody>
          <a:bodyPr wrap="square" lIns="9144" rIns="9144" tIns="0" bIns="0" anchor="t">
            <a:spAutoFit/>
          </a:bodyPr>
          <a:lstStyle/>
          <a:p>
            <a:pPr>
              <a:spcAft>
                <a:spcPts val="200"/>
              </a:spcAft>
            </a:pPr>
            <a:r>
              <a:rPr sz="2800" b="1">
                <a:solidFill>
                  <a:srgbClr val="F8F8F2"/>
                </a:solidFill>
                <a:latin typeface="Aptos"/>
              </a:rPr>
              <a:t>“I don’t recognize this transaction.”</a:t>
            </a:r>
          </a:p>
        </p:txBody>
      </p:sp>
      <p:sp>
        <p:nvSpPr>
          <p:cNvPr id="30" name="TextBox 29"/>
          <p:cNvSpPr txBox="1"/>
          <p:nvPr/>
        </p:nvSpPr>
        <p:spPr>
          <a:xfrm>
            <a:off x="987552" y="6419088"/>
            <a:ext cx="8961120" cy="256032"/>
          </a:xfrm>
          <a:prstGeom prst="rect">
            <a:avLst/>
          </a:prstGeom>
          <a:noFill/>
        </p:spPr>
        <p:txBody>
          <a:bodyPr wrap="square" lIns="9144" rIns="9144" tIns="0" bIns="0" anchor="t">
            <a:spAutoFit/>
          </a:bodyPr>
          <a:lstStyle/>
          <a:p>
            <a:pPr>
              <a:spcAft>
                <a:spcPts val="200"/>
              </a:spcAft>
            </a:pPr>
            <a:r>
              <a:rPr sz="1100" b="1">
                <a:solidFill>
                  <a:srgbClr val="D9EDB7"/>
                </a:solidFill>
                <a:latin typeface="Aptos"/>
              </a:rPr>
              <a:t>OUR FIRST USE CASE: TRANSACTION DISPUTES</a:t>
            </a:r>
          </a:p>
        </p:txBody>
      </p:sp>
      <p:sp>
        <p:nvSpPr>
          <p:cNvPr id="31" name="TextBox 30"/>
          <p:cNvSpPr txBox="1"/>
          <p:nvPr/>
        </p:nvSpPr>
        <p:spPr>
          <a:xfrm>
            <a:off x="10104120" y="5861304"/>
            <a:ext cx="3520440" cy="621792"/>
          </a:xfrm>
          <a:prstGeom prst="rect">
            <a:avLst/>
          </a:prstGeom>
          <a:noFill/>
        </p:spPr>
        <p:txBody>
          <a:bodyPr wrap="square" lIns="9144" rIns="9144" tIns="0" bIns="0" anchor="t">
            <a:spAutoFit/>
          </a:bodyPr>
          <a:lstStyle/>
          <a:p>
            <a:pPr>
              <a:spcAft>
                <a:spcPts val="200"/>
              </a:spcAft>
            </a:pPr>
            <a:r>
              <a:rPr sz="1600" b="0">
                <a:solidFill>
                  <a:srgbClr val="C6D3CA"/>
                </a:solidFill>
                <a:latin typeface="Aptos"/>
              </a:rPr>
              <a:t>Product vision.</a:t>
            </a:r>
          </a:p>
          <a:p>
            <a:pPr>
              <a:spcAft>
                <a:spcPts val="200"/>
              </a:spcAft>
            </a:pPr>
            <a:r>
              <a:rPr sz="1600" b="0">
                <a:solidFill>
                  <a:srgbClr val="C6D3CA"/>
                </a:solidFill>
                <a:latin typeface="Aptos"/>
              </a:rPr>
              <a:t>Working prototype.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12332D"/>
        </a:solidFill>
        <a:effectLst/>
      </p:bgPr>
    </p:bg>
    <p:spTree>
      <p:nvGrpSpPr>
        <p:cNvPr id="1" name=""/>
        <p:cNvGrpSpPr/>
        <p:nvPr/>
      </p:nvGrpSpPr>
      <p:grpSpPr/>
      <p:sp>
        <p:nvSpPr>
          <p:cNvPr id="2" name="Rectangle 1"/>
          <p:cNvSpPr/>
          <p:nvPr/>
        </p:nvSpPr>
        <p:spPr>
          <a:xfrm>
            <a:off x="585216" y="512064"/>
            <a:ext cx="457200" cy="64008"/>
          </a:xfrm>
          <a:prstGeom prst="rect">
            <a:avLst/>
          </a:prstGeom>
          <a:solidFill>
            <a:srgbClr val="D9EDB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207008" y="374904"/>
            <a:ext cx="11887200" cy="320040"/>
          </a:xfrm>
          <a:prstGeom prst="rect">
            <a:avLst/>
          </a:prstGeom>
          <a:noFill/>
        </p:spPr>
        <p:txBody>
          <a:bodyPr wrap="square" lIns="9144" rIns="9144" tIns="0" bIns="0" anchor="t">
            <a:spAutoFit/>
          </a:bodyPr>
          <a:lstStyle/>
          <a:p>
            <a:pPr>
              <a:spcAft>
                <a:spcPts val="200"/>
              </a:spcAft>
            </a:pPr>
            <a:r>
              <a:rPr sz="1100" b="1">
                <a:solidFill>
                  <a:srgbClr val="D9EDB7"/>
                </a:solidFill>
                <a:latin typeface="Aptos"/>
              </a:rPr>
              <a:t>01 / THE CUSTOMER EXPERIENCE</a:t>
            </a:r>
          </a:p>
        </p:txBody>
      </p:sp>
      <p:sp>
        <p:nvSpPr>
          <p:cNvPr id="4" name="TextBox 3"/>
          <p:cNvSpPr txBox="1"/>
          <p:nvPr/>
        </p:nvSpPr>
        <p:spPr>
          <a:xfrm>
            <a:off x="658368" y="7772400"/>
            <a:ext cx="10972800" cy="228600"/>
          </a:xfrm>
          <a:prstGeom prst="rect">
            <a:avLst/>
          </a:prstGeom>
          <a:noFill/>
        </p:spPr>
        <p:txBody>
          <a:bodyPr wrap="square" lIns="9144" rIns="9144" tIns="0" bIns="0" anchor="t">
            <a:spAutoFit/>
          </a:bodyPr>
          <a:lstStyle/>
          <a:p>
            <a:pPr>
              <a:spcAft>
                <a:spcPts val="200"/>
              </a:spcAft>
            </a:pPr>
            <a:r>
              <a:rPr sz="900" b="0">
                <a:solidFill>
                  <a:srgbClr val="C6D3CA"/>
                </a:solidFill>
                <a:latin typeface="Aptos"/>
              </a:rPr>
              <a:t>SAVIA  /  ONE VOICE. A NETWORK BEHIND IT.</a:t>
            </a:r>
          </a:p>
        </p:txBody>
      </p:sp>
      <p:sp>
        <p:nvSpPr>
          <p:cNvPr id="5" name="TextBox 4"/>
          <p:cNvSpPr txBox="1"/>
          <p:nvPr/>
        </p:nvSpPr>
        <p:spPr>
          <a:xfrm>
            <a:off x="13002768" y="7754112"/>
            <a:ext cx="914400" cy="256032"/>
          </a:xfrm>
          <a:prstGeom prst="rect">
            <a:avLst/>
          </a:prstGeom>
          <a:noFill/>
        </p:spPr>
        <p:txBody>
          <a:bodyPr wrap="square" lIns="9144" rIns="9144" tIns="0" bIns="0" anchor="t">
            <a:spAutoFit/>
          </a:bodyPr>
          <a:lstStyle/>
          <a:p>
            <a:pPr>
              <a:spcAft>
                <a:spcPts val="200"/>
              </a:spcAft>
            </a:pPr>
            <a:r>
              <a:rPr sz="1000" b="1">
                <a:solidFill>
                  <a:srgbClr val="D9EDB7"/>
                </a:solidFill>
                <a:latin typeface="Aptos"/>
              </a:rPr>
              <a:t>02 / 06</a:t>
            </a:r>
          </a:p>
        </p:txBody>
      </p:sp>
      <p:sp>
        <p:nvSpPr>
          <p:cNvPr id="6" name="TextBox 5"/>
          <p:cNvSpPr txBox="1"/>
          <p:nvPr/>
        </p:nvSpPr>
        <p:spPr>
          <a:xfrm>
            <a:off x="658368" y="978408"/>
            <a:ext cx="13533120" cy="1444752"/>
          </a:xfrm>
          <a:prstGeom prst="rect">
            <a:avLst/>
          </a:prstGeom>
          <a:noFill/>
        </p:spPr>
        <p:txBody>
          <a:bodyPr wrap="square" lIns="9144" rIns="9144" tIns="0" bIns="0" anchor="t">
            <a:spAutoFit/>
          </a:bodyPr>
          <a:lstStyle/>
          <a:p>
            <a:pPr>
              <a:spcAft>
                <a:spcPts val="200"/>
              </a:spcAft>
            </a:pPr>
            <a:r>
              <a:rPr sz="3800" b="1">
                <a:solidFill>
                  <a:srgbClr val="F8F8F2"/>
                </a:solidFill>
                <a:latin typeface="Aptos"/>
              </a:rPr>
              <a:t>Your problem keeps moving.</a:t>
            </a:r>
          </a:p>
          <a:p>
            <a:pPr>
              <a:spcAft>
                <a:spcPts val="200"/>
              </a:spcAft>
            </a:pPr>
            <a:r>
              <a:rPr sz="3800" b="1">
                <a:solidFill>
                  <a:srgbClr val="F8F8F2"/>
                </a:solidFill>
                <a:latin typeface="Aptos"/>
              </a:rPr>
              <a:t>You get on with your day.</a:t>
            </a:r>
          </a:p>
        </p:txBody>
      </p:sp>
      <p:sp>
        <p:nvSpPr>
          <p:cNvPr id="7" name="Oval 6"/>
          <p:cNvSpPr/>
          <p:nvPr/>
        </p:nvSpPr>
        <p:spPr>
          <a:xfrm>
            <a:off x="713232" y="2779776"/>
            <a:ext cx="329184" cy="329184"/>
          </a:xfrm>
          <a:prstGeom prst="ellipse">
            <a:avLst/>
          </a:prstGeom>
          <a:solidFill>
            <a:srgbClr val="D9EDB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161288" y="2761488"/>
            <a:ext cx="1737360" cy="329184"/>
          </a:xfrm>
          <a:prstGeom prst="rect">
            <a:avLst/>
          </a:prstGeom>
          <a:noFill/>
        </p:spPr>
        <p:txBody>
          <a:bodyPr wrap="square" lIns="9144" rIns="9144" tIns="0" bIns="0" anchor="t">
            <a:spAutoFit/>
          </a:bodyPr>
          <a:lstStyle/>
          <a:p>
            <a:pPr>
              <a:spcAft>
                <a:spcPts val="200"/>
              </a:spcAft>
            </a:pPr>
            <a:r>
              <a:rPr sz="1300" b="1">
                <a:solidFill>
                  <a:srgbClr val="D9EDB7"/>
                </a:solidFill>
                <a:latin typeface="Aptos"/>
              </a:rPr>
              <a:t>01</a:t>
            </a:r>
          </a:p>
        </p:txBody>
      </p:sp>
      <p:cxnSp>
        <p:nvCxnSpPr>
          <p:cNvPr id="9" name="Connector 8"/>
          <p:cNvCxnSpPr/>
          <p:nvPr/>
        </p:nvCxnSpPr>
        <p:spPr>
          <a:xfrm>
            <a:off x="1069848" y="2944368"/>
            <a:ext cx="1965960" cy="0"/>
          </a:xfrm>
          <a:prstGeom prst="line">
            <a:avLst/>
          </a:prstGeom>
          <a:ln w="19050">
            <a:solidFill>
              <a:srgbClr val="D9EDB7"/>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713232" y="3429000"/>
            <a:ext cx="2267712" cy="420624"/>
          </a:xfrm>
          <a:prstGeom prst="rect">
            <a:avLst/>
          </a:prstGeom>
          <a:noFill/>
        </p:spPr>
        <p:txBody>
          <a:bodyPr wrap="square" lIns="9144" rIns="9144" tIns="0" bIns="0" anchor="t">
            <a:spAutoFit/>
          </a:bodyPr>
          <a:lstStyle/>
          <a:p>
            <a:pPr>
              <a:spcAft>
                <a:spcPts val="200"/>
              </a:spcAft>
            </a:pPr>
            <a:r>
              <a:rPr sz="2700" b="1">
                <a:solidFill>
                  <a:srgbClr val="F8F8F2"/>
                </a:solidFill>
                <a:latin typeface="Aptos"/>
              </a:rPr>
              <a:t>Ask</a:t>
            </a:r>
          </a:p>
        </p:txBody>
      </p:sp>
      <p:sp>
        <p:nvSpPr>
          <p:cNvPr id="11" name="TextBox 10"/>
          <p:cNvSpPr txBox="1"/>
          <p:nvPr/>
        </p:nvSpPr>
        <p:spPr>
          <a:xfrm>
            <a:off x="713232" y="3977639"/>
            <a:ext cx="2212848" cy="1051560"/>
          </a:xfrm>
          <a:prstGeom prst="rect">
            <a:avLst/>
          </a:prstGeom>
          <a:noFill/>
        </p:spPr>
        <p:txBody>
          <a:bodyPr wrap="square" lIns="9144" rIns="9144" tIns="0" bIns="0" anchor="t">
            <a:spAutoFit/>
          </a:bodyPr>
          <a:lstStyle/>
          <a:p>
            <a:pPr>
              <a:spcAft>
                <a:spcPts val="200"/>
              </a:spcAft>
            </a:pPr>
            <a:r>
              <a:rPr sz="1800" b="0">
                <a:solidFill>
                  <a:srgbClr val="C6D3CA"/>
                </a:solidFill>
                <a:latin typeface="Aptos"/>
              </a:rPr>
              <a:t>One assistant hears your story.</a:t>
            </a:r>
          </a:p>
        </p:txBody>
      </p:sp>
      <p:sp>
        <p:nvSpPr>
          <p:cNvPr id="12" name="Oval 11"/>
          <p:cNvSpPr/>
          <p:nvPr/>
        </p:nvSpPr>
        <p:spPr>
          <a:xfrm>
            <a:off x="3127248" y="2779776"/>
            <a:ext cx="329184" cy="329184"/>
          </a:xfrm>
          <a:prstGeom prst="ellipse">
            <a:avLst/>
          </a:prstGeom>
          <a:solidFill>
            <a:srgbClr val="D9EDB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575304" y="2761488"/>
            <a:ext cx="1737360" cy="329184"/>
          </a:xfrm>
          <a:prstGeom prst="rect">
            <a:avLst/>
          </a:prstGeom>
          <a:noFill/>
        </p:spPr>
        <p:txBody>
          <a:bodyPr wrap="square" lIns="9144" rIns="9144" tIns="0" bIns="0" anchor="t">
            <a:spAutoFit/>
          </a:bodyPr>
          <a:lstStyle/>
          <a:p>
            <a:pPr>
              <a:spcAft>
                <a:spcPts val="200"/>
              </a:spcAft>
            </a:pPr>
            <a:r>
              <a:rPr sz="1300" b="1">
                <a:solidFill>
                  <a:srgbClr val="D9EDB7"/>
                </a:solidFill>
                <a:latin typeface="Aptos"/>
              </a:rPr>
              <a:t>02</a:t>
            </a:r>
          </a:p>
        </p:txBody>
      </p:sp>
      <p:cxnSp>
        <p:nvCxnSpPr>
          <p:cNvPr id="14" name="Connector 13"/>
          <p:cNvCxnSpPr/>
          <p:nvPr/>
        </p:nvCxnSpPr>
        <p:spPr>
          <a:xfrm>
            <a:off x="3483864" y="2944368"/>
            <a:ext cx="1965960" cy="0"/>
          </a:xfrm>
          <a:prstGeom prst="line">
            <a:avLst/>
          </a:prstGeom>
          <a:ln w="19050">
            <a:solidFill>
              <a:srgbClr val="D9EDB7"/>
            </a:solidFill>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3127248" y="3429000"/>
            <a:ext cx="2267712" cy="420624"/>
          </a:xfrm>
          <a:prstGeom prst="rect">
            <a:avLst/>
          </a:prstGeom>
          <a:noFill/>
        </p:spPr>
        <p:txBody>
          <a:bodyPr wrap="square" lIns="9144" rIns="9144" tIns="0" bIns="0" anchor="t">
            <a:spAutoFit/>
          </a:bodyPr>
          <a:lstStyle/>
          <a:p>
            <a:pPr>
              <a:spcAft>
                <a:spcPts val="200"/>
              </a:spcAft>
            </a:pPr>
            <a:r>
              <a:rPr sz="2700" b="1">
                <a:solidFill>
                  <a:srgbClr val="F8F8F2"/>
                </a:solidFill>
                <a:latin typeface="Aptos"/>
              </a:rPr>
              <a:t>Act</a:t>
            </a:r>
          </a:p>
        </p:txBody>
      </p:sp>
      <p:sp>
        <p:nvSpPr>
          <p:cNvPr id="16" name="TextBox 15"/>
          <p:cNvSpPr txBox="1"/>
          <p:nvPr/>
        </p:nvSpPr>
        <p:spPr>
          <a:xfrm>
            <a:off x="3127248" y="3977639"/>
            <a:ext cx="2212848" cy="1051560"/>
          </a:xfrm>
          <a:prstGeom prst="rect">
            <a:avLst/>
          </a:prstGeom>
          <a:noFill/>
        </p:spPr>
        <p:txBody>
          <a:bodyPr wrap="square" lIns="9144" rIns="9144" tIns="0" bIns="0" anchor="t">
            <a:spAutoFit/>
          </a:bodyPr>
          <a:lstStyle/>
          <a:p>
            <a:pPr>
              <a:spcAft>
                <a:spcPts val="200"/>
              </a:spcAft>
            </a:pPr>
            <a:r>
              <a:rPr sz="1800" b="0">
                <a:solidFill>
                  <a:srgbClr val="C6D3CA"/>
                </a:solidFill>
                <a:latin typeface="Aptos"/>
              </a:rPr>
              <a:t>Permitted steps, with consent.</a:t>
            </a:r>
          </a:p>
        </p:txBody>
      </p:sp>
      <p:sp>
        <p:nvSpPr>
          <p:cNvPr id="17" name="Oval 16"/>
          <p:cNvSpPr/>
          <p:nvPr/>
        </p:nvSpPr>
        <p:spPr>
          <a:xfrm>
            <a:off x="5541264" y="2779776"/>
            <a:ext cx="329184" cy="329184"/>
          </a:xfrm>
          <a:prstGeom prst="ellipse">
            <a:avLst/>
          </a:prstGeom>
          <a:solidFill>
            <a:srgbClr val="D9EDB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989320" y="2761488"/>
            <a:ext cx="1737360" cy="329184"/>
          </a:xfrm>
          <a:prstGeom prst="rect">
            <a:avLst/>
          </a:prstGeom>
          <a:noFill/>
        </p:spPr>
        <p:txBody>
          <a:bodyPr wrap="square" lIns="9144" rIns="9144" tIns="0" bIns="0" anchor="t">
            <a:spAutoFit/>
          </a:bodyPr>
          <a:lstStyle/>
          <a:p>
            <a:pPr>
              <a:spcAft>
                <a:spcPts val="200"/>
              </a:spcAft>
            </a:pPr>
            <a:r>
              <a:rPr sz="1300" b="1">
                <a:solidFill>
                  <a:srgbClr val="D9EDB7"/>
                </a:solidFill>
                <a:latin typeface="Aptos"/>
              </a:rPr>
              <a:t>03</a:t>
            </a:r>
          </a:p>
        </p:txBody>
      </p:sp>
      <p:cxnSp>
        <p:nvCxnSpPr>
          <p:cNvPr id="19" name="Connector 18"/>
          <p:cNvCxnSpPr/>
          <p:nvPr/>
        </p:nvCxnSpPr>
        <p:spPr>
          <a:xfrm>
            <a:off x="5897880" y="2944368"/>
            <a:ext cx="1965960" cy="0"/>
          </a:xfrm>
          <a:prstGeom prst="line">
            <a:avLst/>
          </a:prstGeom>
          <a:ln w="19050">
            <a:solidFill>
              <a:srgbClr val="D9EDB7"/>
            </a:solidFill>
          </a:ln>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5541264" y="3429000"/>
            <a:ext cx="2267712" cy="420624"/>
          </a:xfrm>
          <a:prstGeom prst="rect">
            <a:avLst/>
          </a:prstGeom>
          <a:noFill/>
        </p:spPr>
        <p:txBody>
          <a:bodyPr wrap="square" lIns="9144" rIns="9144" tIns="0" bIns="0" anchor="t">
            <a:spAutoFit/>
          </a:bodyPr>
          <a:lstStyle/>
          <a:p>
            <a:pPr>
              <a:spcAft>
                <a:spcPts val="200"/>
              </a:spcAft>
            </a:pPr>
            <a:r>
              <a:rPr sz="2700" b="1">
                <a:solidFill>
                  <a:srgbClr val="F8F8F2"/>
                </a:solidFill>
                <a:latin typeface="Aptos"/>
              </a:rPr>
              <a:t>Investigate</a:t>
            </a:r>
          </a:p>
        </p:txBody>
      </p:sp>
      <p:sp>
        <p:nvSpPr>
          <p:cNvPr id="21" name="TextBox 20"/>
          <p:cNvSpPr txBox="1"/>
          <p:nvPr/>
        </p:nvSpPr>
        <p:spPr>
          <a:xfrm>
            <a:off x="5541264" y="3977639"/>
            <a:ext cx="2212848" cy="1051560"/>
          </a:xfrm>
          <a:prstGeom prst="rect">
            <a:avLst/>
          </a:prstGeom>
          <a:noFill/>
        </p:spPr>
        <p:txBody>
          <a:bodyPr wrap="square" lIns="9144" rIns="9144" tIns="0" bIns="0" anchor="t">
            <a:spAutoFit/>
          </a:bodyPr>
          <a:lstStyle/>
          <a:p>
            <a:pPr>
              <a:spcAft>
                <a:spcPts val="200"/>
              </a:spcAft>
            </a:pPr>
            <a:r>
              <a:rPr sz="1800" b="0">
                <a:solidFill>
                  <a:srgbClr val="C6D3CA"/>
                </a:solidFill>
                <a:latin typeface="Aptos"/>
              </a:rPr>
              <a:t>Specialists compare evidence.</a:t>
            </a:r>
          </a:p>
        </p:txBody>
      </p:sp>
      <p:sp>
        <p:nvSpPr>
          <p:cNvPr id="22" name="Oval 21"/>
          <p:cNvSpPr/>
          <p:nvPr/>
        </p:nvSpPr>
        <p:spPr>
          <a:xfrm>
            <a:off x="7955279" y="2779776"/>
            <a:ext cx="329184" cy="329184"/>
          </a:xfrm>
          <a:prstGeom prst="ellipse">
            <a:avLst/>
          </a:prstGeom>
          <a:solidFill>
            <a:srgbClr val="D9EDB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403336" y="2761488"/>
            <a:ext cx="1737360" cy="329184"/>
          </a:xfrm>
          <a:prstGeom prst="rect">
            <a:avLst/>
          </a:prstGeom>
          <a:noFill/>
        </p:spPr>
        <p:txBody>
          <a:bodyPr wrap="square" lIns="9144" rIns="9144" tIns="0" bIns="0" anchor="t">
            <a:spAutoFit/>
          </a:bodyPr>
          <a:lstStyle/>
          <a:p>
            <a:pPr>
              <a:spcAft>
                <a:spcPts val="200"/>
              </a:spcAft>
            </a:pPr>
            <a:r>
              <a:rPr sz="1300" b="1">
                <a:solidFill>
                  <a:srgbClr val="D9EDB7"/>
                </a:solidFill>
                <a:latin typeface="Aptos"/>
              </a:rPr>
              <a:t>04</a:t>
            </a:r>
          </a:p>
        </p:txBody>
      </p:sp>
      <p:sp>
        <p:nvSpPr>
          <p:cNvPr id="24" name="TextBox 23"/>
          <p:cNvSpPr txBox="1"/>
          <p:nvPr/>
        </p:nvSpPr>
        <p:spPr>
          <a:xfrm>
            <a:off x="7955279" y="3429000"/>
            <a:ext cx="2267712" cy="420624"/>
          </a:xfrm>
          <a:prstGeom prst="rect">
            <a:avLst/>
          </a:prstGeom>
          <a:noFill/>
        </p:spPr>
        <p:txBody>
          <a:bodyPr wrap="square" lIns="9144" rIns="9144" tIns="0" bIns="0" anchor="t">
            <a:spAutoFit/>
          </a:bodyPr>
          <a:lstStyle/>
          <a:p>
            <a:pPr>
              <a:spcAft>
                <a:spcPts val="200"/>
              </a:spcAft>
            </a:pPr>
            <a:r>
              <a:rPr sz="2700" b="1">
                <a:solidFill>
                  <a:srgbClr val="F8F8F2"/>
                </a:solidFill>
                <a:latin typeface="Aptos"/>
              </a:rPr>
              <a:t>Return</a:t>
            </a:r>
          </a:p>
        </p:txBody>
      </p:sp>
      <p:sp>
        <p:nvSpPr>
          <p:cNvPr id="25" name="TextBox 24"/>
          <p:cNvSpPr txBox="1"/>
          <p:nvPr/>
        </p:nvSpPr>
        <p:spPr>
          <a:xfrm>
            <a:off x="7955279" y="3977639"/>
            <a:ext cx="2212848" cy="1051560"/>
          </a:xfrm>
          <a:prstGeom prst="rect">
            <a:avLst/>
          </a:prstGeom>
          <a:noFill/>
        </p:spPr>
        <p:txBody>
          <a:bodyPr wrap="square" lIns="9144" rIns="9144" tIns="0" bIns="0" anchor="t">
            <a:spAutoFit/>
          </a:bodyPr>
          <a:lstStyle/>
          <a:p>
            <a:pPr>
              <a:spcAft>
                <a:spcPts val="200"/>
              </a:spcAft>
            </a:pPr>
            <a:r>
              <a:rPr sz="1800" b="0">
                <a:solidFill>
                  <a:srgbClr val="C6D3CA"/>
                </a:solidFill>
                <a:latin typeface="Aptos"/>
              </a:rPr>
              <a:t>A result or a human handoff.</a:t>
            </a:r>
          </a:p>
        </p:txBody>
      </p:sp>
      <p:sp>
        <p:nvSpPr>
          <p:cNvPr id="26" name="Rounded Rectangle 25"/>
          <p:cNvSpPr/>
          <p:nvPr/>
        </p:nvSpPr>
        <p:spPr>
          <a:xfrm>
            <a:off x="713232" y="5550408"/>
            <a:ext cx="9464040" cy="1435608"/>
          </a:xfrm>
          <a:prstGeom prst="roundRect">
            <a:avLst>
              <a:gd name="adj" fmla="val 12000"/>
            </a:avLst>
          </a:prstGeom>
          <a:solidFill>
            <a:srgbClr val="214A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32688" y="5742432"/>
            <a:ext cx="8961120" cy="256032"/>
          </a:xfrm>
          <a:prstGeom prst="rect">
            <a:avLst/>
          </a:prstGeom>
          <a:noFill/>
        </p:spPr>
        <p:txBody>
          <a:bodyPr wrap="square" lIns="9144" rIns="9144" tIns="0" bIns="0" anchor="t">
            <a:spAutoFit/>
          </a:bodyPr>
          <a:lstStyle/>
          <a:p>
            <a:pPr>
              <a:spcAft>
                <a:spcPts val="200"/>
              </a:spcAft>
            </a:pPr>
            <a:r>
              <a:rPr sz="1000" b="1">
                <a:solidFill>
                  <a:srgbClr val="D9EDB7"/>
                </a:solidFill>
                <a:latin typeface="Aptos"/>
              </a:rPr>
              <a:t>DEMONSTRATED IN THE PROTOTYPE</a:t>
            </a:r>
          </a:p>
        </p:txBody>
      </p:sp>
      <p:sp>
        <p:nvSpPr>
          <p:cNvPr id="28" name="TextBox 27"/>
          <p:cNvSpPr txBox="1"/>
          <p:nvPr/>
        </p:nvSpPr>
        <p:spPr>
          <a:xfrm>
            <a:off x="932688" y="6227064"/>
            <a:ext cx="8915400" cy="566928"/>
          </a:xfrm>
          <a:prstGeom prst="rect">
            <a:avLst/>
          </a:prstGeom>
          <a:noFill/>
        </p:spPr>
        <p:txBody>
          <a:bodyPr wrap="square" lIns="9144" rIns="9144" tIns="0" bIns="0" anchor="t">
            <a:spAutoFit/>
          </a:bodyPr>
          <a:lstStyle/>
          <a:p>
            <a:pPr>
              <a:spcAft>
                <a:spcPts val="200"/>
              </a:spcAft>
            </a:pPr>
            <a:r>
              <a:rPr sz="1800" b="0">
                <a:solidFill>
                  <a:srgbClr val="F8F8F2"/>
                </a:solidFill>
                <a:latin typeface="Aptos"/>
              </a:rPr>
              <a:t>Grounded answer · two saved perspectives</a:t>
            </a:r>
          </a:p>
          <a:p>
            <a:pPr>
              <a:spcAft>
                <a:spcPts val="200"/>
              </a:spcAft>
            </a:pPr>
            <a:r>
              <a:rPr sz="1800" b="0">
                <a:solidFill>
                  <a:srgbClr val="F8F8F2"/>
                </a:solidFill>
                <a:latin typeface="Aptos"/>
              </a:rPr>
              <a:t>Return after a new chat without starting over</a:t>
            </a:r>
          </a:p>
        </p:txBody>
      </p:sp>
      <p:pic>
        <p:nvPicPr>
          <p:cNvPr id="29" name="Picture 28" descr="savia-integrated-closure-crop.png"/>
          <p:cNvPicPr>
            <a:picLocks noChangeAspect="1"/>
          </p:cNvPicPr>
          <p:nvPr/>
        </p:nvPicPr>
        <p:blipFill>
          <a:blip r:embed="rId3"/>
          <a:stretch>
            <a:fillRect/>
          </a:stretch>
        </p:blipFill>
        <p:spPr>
          <a:xfrm>
            <a:off x="10771632" y="2697480"/>
            <a:ext cx="3054096" cy="3456432"/>
          </a:xfrm>
          <a:prstGeom prst="rect">
            <a:avLst/>
          </a:prstGeom>
        </p:spPr>
      </p:pic>
      <p:sp>
        <p:nvSpPr>
          <p:cNvPr id="30" name="TextBox 29"/>
          <p:cNvSpPr txBox="1"/>
          <p:nvPr/>
        </p:nvSpPr>
        <p:spPr>
          <a:xfrm>
            <a:off x="10762488" y="6318504"/>
            <a:ext cx="3090672" cy="850392"/>
          </a:xfrm>
          <a:prstGeom prst="rect">
            <a:avLst/>
          </a:prstGeom>
          <a:noFill/>
        </p:spPr>
        <p:txBody>
          <a:bodyPr wrap="square" lIns="9144" rIns="9144" tIns="0" bIns="0" anchor="t">
            <a:spAutoFit/>
          </a:bodyPr>
          <a:lstStyle/>
          <a:p>
            <a:pPr>
              <a:spcAft>
                <a:spcPts val="200"/>
              </a:spcAft>
            </a:pPr>
            <a:r>
              <a:rPr sz="1500" b="0">
                <a:solidFill>
                  <a:srgbClr val="D9EDB7"/>
                </a:solidFill>
                <a:latin typeface="Aptos"/>
              </a:rPr>
              <a:t>English summary: “The explanation helped.” Saved suggestions remain available.</a:t>
            </a:r>
          </a:p>
        </p:txBody>
      </p:sp>
      <p:sp>
        <p:nvSpPr>
          <p:cNvPr id="31" name="TextBox 30"/>
          <p:cNvSpPr txBox="1"/>
          <p:nvPr/>
        </p:nvSpPr>
        <p:spPr>
          <a:xfrm>
            <a:off x="722376" y="7278624"/>
            <a:ext cx="13213080" cy="283464"/>
          </a:xfrm>
          <a:prstGeom prst="rect">
            <a:avLst/>
          </a:prstGeom>
          <a:noFill/>
        </p:spPr>
        <p:txBody>
          <a:bodyPr wrap="square" lIns="9144" rIns="9144" tIns="0" bIns="0" anchor="t">
            <a:spAutoFit/>
          </a:bodyPr>
          <a:lstStyle/>
          <a:p>
            <a:pPr>
              <a:spcAft>
                <a:spcPts val="200"/>
              </a:spcAft>
            </a:pPr>
            <a:r>
              <a:rPr sz="1100" b="0">
                <a:solidFill>
                  <a:srgbClr val="C6D3CA"/>
                </a:solidFill>
                <a:latin typeface="Aptos"/>
              </a:rPr>
              <a:t>Product journey shown above; human pickup and bank resolution are pilot integrations. Fictional UI capture.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12332D"/>
        </a:solidFill>
        <a:effectLst/>
      </p:bgPr>
    </p:bg>
    <p:spTree>
      <p:nvGrpSpPr>
        <p:cNvPr id="1" name=""/>
        <p:cNvGrpSpPr/>
        <p:nvPr/>
      </p:nvGrpSpPr>
      <p:grpSpPr/>
      <p:sp>
        <p:nvSpPr>
          <p:cNvPr id="2" name="Rectangle 1"/>
          <p:cNvSpPr/>
          <p:nvPr/>
        </p:nvSpPr>
        <p:spPr>
          <a:xfrm>
            <a:off x="585216" y="512064"/>
            <a:ext cx="457200" cy="64008"/>
          </a:xfrm>
          <a:prstGeom prst="rect">
            <a:avLst/>
          </a:prstGeom>
          <a:solidFill>
            <a:srgbClr val="D9EDB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207008" y="374904"/>
            <a:ext cx="11887200" cy="320040"/>
          </a:xfrm>
          <a:prstGeom prst="rect">
            <a:avLst/>
          </a:prstGeom>
          <a:noFill/>
        </p:spPr>
        <p:txBody>
          <a:bodyPr wrap="square" lIns="9144" rIns="9144" tIns="0" bIns="0" anchor="t">
            <a:spAutoFit/>
          </a:bodyPr>
          <a:lstStyle/>
          <a:p>
            <a:pPr>
              <a:spcAft>
                <a:spcPts val="200"/>
              </a:spcAft>
            </a:pPr>
            <a:r>
              <a:rPr sz="1100" b="1">
                <a:solidFill>
                  <a:srgbClr val="D9EDB7"/>
                </a:solidFill>
                <a:latin typeface="Aptos"/>
              </a:rPr>
              <a:t>02 / THE COMMERCIAL REFERENCE</a:t>
            </a:r>
          </a:p>
        </p:txBody>
      </p:sp>
      <p:sp>
        <p:nvSpPr>
          <p:cNvPr id="4" name="TextBox 3"/>
          <p:cNvSpPr txBox="1"/>
          <p:nvPr/>
        </p:nvSpPr>
        <p:spPr>
          <a:xfrm>
            <a:off x="658368" y="7772400"/>
            <a:ext cx="10972800" cy="228600"/>
          </a:xfrm>
          <a:prstGeom prst="rect">
            <a:avLst/>
          </a:prstGeom>
          <a:noFill/>
        </p:spPr>
        <p:txBody>
          <a:bodyPr wrap="square" lIns="9144" rIns="9144" tIns="0" bIns="0" anchor="t">
            <a:spAutoFit/>
          </a:bodyPr>
          <a:lstStyle/>
          <a:p>
            <a:pPr>
              <a:spcAft>
                <a:spcPts val="200"/>
              </a:spcAft>
            </a:pPr>
            <a:r>
              <a:rPr sz="900" b="0">
                <a:solidFill>
                  <a:srgbClr val="C6D3CA"/>
                </a:solidFill>
                <a:latin typeface="Aptos"/>
              </a:rPr>
              <a:t>SAVIA  /  ONE VOICE. A NETWORK BEHIND IT.</a:t>
            </a:r>
          </a:p>
        </p:txBody>
      </p:sp>
      <p:sp>
        <p:nvSpPr>
          <p:cNvPr id="5" name="TextBox 4"/>
          <p:cNvSpPr txBox="1"/>
          <p:nvPr/>
        </p:nvSpPr>
        <p:spPr>
          <a:xfrm>
            <a:off x="13002768" y="7754112"/>
            <a:ext cx="914400" cy="256032"/>
          </a:xfrm>
          <a:prstGeom prst="rect">
            <a:avLst/>
          </a:prstGeom>
          <a:noFill/>
        </p:spPr>
        <p:txBody>
          <a:bodyPr wrap="square" lIns="9144" rIns="9144" tIns="0" bIns="0" anchor="t">
            <a:spAutoFit/>
          </a:bodyPr>
          <a:lstStyle/>
          <a:p>
            <a:pPr>
              <a:spcAft>
                <a:spcPts val="200"/>
              </a:spcAft>
            </a:pPr>
            <a:r>
              <a:rPr sz="1000" b="1">
                <a:solidFill>
                  <a:srgbClr val="D9EDB7"/>
                </a:solidFill>
                <a:latin typeface="Aptos"/>
              </a:rPr>
              <a:t>03 / 06</a:t>
            </a:r>
          </a:p>
        </p:txBody>
      </p:sp>
      <p:sp>
        <p:nvSpPr>
          <p:cNvPr id="6" name="TextBox 5"/>
          <p:cNvSpPr txBox="1"/>
          <p:nvPr/>
        </p:nvSpPr>
        <p:spPr>
          <a:xfrm>
            <a:off x="658368" y="978408"/>
            <a:ext cx="13533120" cy="1444752"/>
          </a:xfrm>
          <a:prstGeom prst="rect">
            <a:avLst/>
          </a:prstGeom>
          <a:noFill/>
        </p:spPr>
        <p:txBody>
          <a:bodyPr wrap="square" lIns="9144" rIns="9144" tIns="0" bIns="0" anchor="t">
            <a:spAutoFit/>
          </a:bodyPr>
          <a:lstStyle/>
          <a:p>
            <a:pPr>
              <a:spcAft>
                <a:spcPts val="200"/>
              </a:spcAft>
            </a:pPr>
            <a:r>
              <a:rPr sz="3800" b="1">
                <a:solidFill>
                  <a:srgbClr val="F8F8F2"/>
                </a:solidFill>
                <a:latin typeface="Aptos"/>
              </a:rPr>
              <a:t>Voice is the beginning.</a:t>
            </a:r>
          </a:p>
          <a:p>
            <a:pPr>
              <a:spcAft>
                <a:spcPts val="200"/>
              </a:spcAft>
            </a:pPr>
            <a:r>
              <a:rPr sz="3800" b="1">
                <a:solidFill>
                  <a:srgbClr val="F8F8F2"/>
                </a:solidFill>
                <a:latin typeface="Aptos"/>
              </a:rPr>
              <a:t>Follow-through is the product.</a:t>
            </a:r>
          </a:p>
        </p:txBody>
      </p:sp>
      <p:sp>
        <p:nvSpPr>
          <p:cNvPr id="7" name="Rounded Rectangle 6"/>
          <p:cNvSpPr/>
          <p:nvPr/>
        </p:nvSpPr>
        <p:spPr>
          <a:xfrm>
            <a:off x="722376" y="2770632"/>
            <a:ext cx="6336792" cy="3566160"/>
          </a:xfrm>
          <a:prstGeom prst="roundRect">
            <a:avLst>
              <a:gd name="adj" fmla="val 12000"/>
            </a:avLst>
          </a:prstGeom>
          <a:solidFill>
            <a:srgbClr val="214A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23544" y="2935224"/>
            <a:ext cx="5934455" cy="292608"/>
          </a:xfrm>
          <a:prstGeom prst="rect">
            <a:avLst/>
          </a:prstGeom>
          <a:noFill/>
        </p:spPr>
        <p:txBody>
          <a:bodyPr wrap="square" lIns="9144" rIns="9144" tIns="0" bIns="0" anchor="t">
            <a:spAutoFit/>
          </a:bodyPr>
          <a:lstStyle/>
          <a:p>
            <a:pPr>
              <a:spcAft>
                <a:spcPts val="200"/>
              </a:spcAft>
            </a:pPr>
            <a:r>
              <a:rPr sz="1000" b="1">
                <a:solidFill>
                  <a:srgbClr val="E9C977"/>
                </a:solidFill>
                <a:latin typeface="Aptos"/>
              </a:rPr>
              <a:t>ELEVENAGENTS / COMMERCIAL VOICE REFERENCE</a:t>
            </a:r>
          </a:p>
        </p:txBody>
      </p:sp>
      <p:sp>
        <p:nvSpPr>
          <p:cNvPr id="9" name="TextBox 8"/>
          <p:cNvSpPr txBox="1"/>
          <p:nvPr/>
        </p:nvSpPr>
        <p:spPr>
          <a:xfrm>
            <a:off x="923544" y="3355848"/>
            <a:ext cx="5934455" cy="630936"/>
          </a:xfrm>
          <a:prstGeom prst="rect">
            <a:avLst/>
          </a:prstGeom>
          <a:noFill/>
        </p:spPr>
        <p:txBody>
          <a:bodyPr wrap="square" lIns="9144" rIns="9144" tIns="0" bIns="0" anchor="t">
            <a:spAutoFit/>
          </a:bodyPr>
          <a:lstStyle/>
          <a:p>
            <a:pPr>
              <a:spcAft>
                <a:spcPts val="200"/>
              </a:spcAft>
            </a:pPr>
            <a:r>
              <a:rPr sz="2300" b="1">
                <a:solidFill>
                  <a:srgbClr val="F8F8F2"/>
                </a:solidFill>
                <a:latin typeface="Aptos"/>
              </a:rPr>
              <a:t>A compelling conversation</a:t>
            </a:r>
          </a:p>
        </p:txBody>
      </p:sp>
      <p:sp>
        <p:nvSpPr>
          <p:cNvPr id="10" name="TextBox 9"/>
          <p:cNvSpPr txBox="1"/>
          <p:nvPr/>
        </p:nvSpPr>
        <p:spPr>
          <a:xfrm>
            <a:off x="923544" y="4069079"/>
            <a:ext cx="5934455" cy="2139696"/>
          </a:xfrm>
          <a:prstGeom prst="rect">
            <a:avLst/>
          </a:prstGeom>
          <a:noFill/>
        </p:spPr>
        <p:txBody>
          <a:bodyPr wrap="square" lIns="9144" rIns="9144" tIns="0" bIns="0" anchor="t">
            <a:spAutoFit/>
          </a:bodyPr>
          <a:lstStyle/>
          <a:p>
            <a:pPr>
              <a:spcAft>
                <a:spcPts val="200"/>
              </a:spcAft>
            </a:pPr>
            <a:r>
              <a:rPr sz="1600" b="0">
                <a:solidFill>
                  <a:srgbClr val="C6D3CA"/>
                </a:solidFill>
                <a:latin typeface="Aptos"/>
              </a:rPr>
              <a:t>Expressive, responsive voice</a:t>
            </a:r>
          </a:p>
          <a:p>
            <a:pPr>
              <a:spcAft>
                <a:spcPts val="200"/>
              </a:spcAft>
            </a:pPr>
            <a:r>
              <a:rPr sz="1600" b="0">
                <a:solidFill>
                  <a:srgbClr val="C6D3CA"/>
                </a:solidFill>
                <a:latin typeface="Aptos"/>
              </a:rPr>
              <a:t>Financial-services dispute showcase</a:t>
            </a:r>
          </a:p>
          <a:p>
            <a:pPr>
              <a:spcAft>
                <a:spcPts val="200"/>
              </a:spcAft>
            </a:pPr>
            <a:r>
              <a:rPr sz="1600" b="0">
                <a:solidFill>
                  <a:srgbClr val="C6D3CA"/>
                </a:solidFill>
                <a:latin typeface="Aptos"/>
              </a:rPr>
              <a:t>Integrated speech and turn-taking</a:t>
            </a:r>
          </a:p>
        </p:txBody>
      </p:sp>
      <p:sp>
        <p:nvSpPr>
          <p:cNvPr id="11" name="Rounded Rectangle 10"/>
          <p:cNvSpPr/>
          <p:nvPr/>
        </p:nvSpPr>
        <p:spPr>
          <a:xfrm>
            <a:off x="7324344" y="2770632"/>
            <a:ext cx="6565392" cy="3566160"/>
          </a:xfrm>
          <a:prstGeom prst="roundRect">
            <a:avLst>
              <a:gd name="adj" fmla="val 12000"/>
            </a:avLst>
          </a:prstGeom>
          <a:solidFill>
            <a:srgbClr val="214A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525512" y="2935224"/>
            <a:ext cx="6163055" cy="292608"/>
          </a:xfrm>
          <a:prstGeom prst="rect">
            <a:avLst/>
          </a:prstGeom>
          <a:noFill/>
        </p:spPr>
        <p:txBody>
          <a:bodyPr wrap="square" lIns="9144" rIns="9144" tIns="0" bIns="0" anchor="t">
            <a:spAutoFit/>
          </a:bodyPr>
          <a:lstStyle/>
          <a:p>
            <a:pPr>
              <a:spcAft>
                <a:spcPts val="200"/>
              </a:spcAft>
            </a:pPr>
            <a:r>
              <a:rPr sz="1000" b="1">
                <a:solidFill>
                  <a:srgbClr val="D9EDB7"/>
                </a:solidFill>
                <a:latin typeface="Aptos"/>
              </a:rPr>
              <a:t>SAVIA / CASE ORCHESTRATION</a:t>
            </a:r>
          </a:p>
        </p:txBody>
      </p:sp>
      <p:sp>
        <p:nvSpPr>
          <p:cNvPr id="13" name="TextBox 12"/>
          <p:cNvSpPr txBox="1"/>
          <p:nvPr/>
        </p:nvSpPr>
        <p:spPr>
          <a:xfrm>
            <a:off x="7525512" y="3355848"/>
            <a:ext cx="6163055" cy="630936"/>
          </a:xfrm>
          <a:prstGeom prst="rect">
            <a:avLst/>
          </a:prstGeom>
          <a:noFill/>
        </p:spPr>
        <p:txBody>
          <a:bodyPr wrap="square" lIns="9144" rIns="9144" tIns="0" bIns="0" anchor="t">
            <a:spAutoFit/>
          </a:bodyPr>
          <a:lstStyle/>
          <a:p>
            <a:pPr>
              <a:spcAft>
                <a:spcPts val="200"/>
              </a:spcAft>
            </a:pPr>
            <a:r>
              <a:rPr sz="2300" b="1">
                <a:solidFill>
                  <a:srgbClr val="F8F8F2"/>
                </a:solidFill>
                <a:latin typeface="Aptos"/>
              </a:rPr>
              <a:t>A case that keeps moving</a:t>
            </a:r>
          </a:p>
        </p:txBody>
      </p:sp>
      <p:sp>
        <p:nvSpPr>
          <p:cNvPr id="14" name="TextBox 13"/>
          <p:cNvSpPr txBox="1"/>
          <p:nvPr/>
        </p:nvSpPr>
        <p:spPr>
          <a:xfrm>
            <a:off x="7525512" y="4069079"/>
            <a:ext cx="6163055" cy="2139696"/>
          </a:xfrm>
          <a:prstGeom prst="rect">
            <a:avLst/>
          </a:prstGeom>
          <a:noFill/>
        </p:spPr>
        <p:txBody>
          <a:bodyPr wrap="square" lIns="9144" rIns="9144" tIns="0" bIns="0" anchor="t">
            <a:spAutoFit/>
          </a:bodyPr>
          <a:lstStyle/>
          <a:p>
            <a:pPr>
              <a:spcAft>
                <a:spcPts val="200"/>
              </a:spcAft>
            </a:pPr>
            <a:r>
              <a:rPr sz="1600" b="0">
                <a:solidFill>
                  <a:srgbClr val="C6D3CA"/>
                </a:solidFill>
                <a:latin typeface="Aptos"/>
              </a:rPr>
              <a:t>Persistent goal and saved context</a:t>
            </a:r>
          </a:p>
          <a:p>
            <a:pPr>
              <a:spcAft>
                <a:spcPts val="200"/>
              </a:spcAft>
            </a:pPr>
            <a:r>
              <a:rPr sz="1600" b="0">
                <a:solidFill>
                  <a:srgbClr val="C6D3CA"/>
                </a:solidFill>
                <a:latin typeface="Aptos"/>
              </a:rPr>
              <a:t>Up to 100 agents in the swarm design</a:t>
            </a:r>
          </a:p>
          <a:p>
            <a:pPr>
              <a:spcAft>
                <a:spcPts val="200"/>
              </a:spcAft>
            </a:pPr>
            <a:r>
              <a:rPr sz="1600" b="0">
                <a:solidFill>
                  <a:srgbClr val="C6D3CA"/>
                </a:solidFill>
                <a:latin typeface="Aptos"/>
              </a:rPr>
              <a:t>Bank-controlled data and model choices</a:t>
            </a:r>
          </a:p>
        </p:txBody>
      </p:sp>
      <p:sp>
        <p:nvSpPr>
          <p:cNvPr id="15" name="TextBox 14"/>
          <p:cNvSpPr txBox="1"/>
          <p:nvPr/>
        </p:nvSpPr>
        <p:spPr>
          <a:xfrm>
            <a:off x="749808" y="6665976"/>
            <a:ext cx="12984480" cy="493776"/>
          </a:xfrm>
          <a:prstGeom prst="rect">
            <a:avLst/>
          </a:prstGeom>
          <a:noFill/>
        </p:spPr>
        <p:txBody>
          <a:bodyPr wrap="square" lIns="9144" rIns="9144" tIns="0" bIns="0" anchor="t">
            <a:spAutoFit/>
          </a:bodyPr>
          <a:lstStyle/>
          <a:p>
            <a:pPr>
              <a:spcAft>
                <a:spcPts val="200"/>
              </a:spcAft>
            </a:pPr>
            <a:r>
              <a:rPr sz="2500" b="1">
                <a:solidFill>
                  <a:srgbClr val="D9EDB7"/>
                </a:solidFill>
                <a:latin typeface="Aptos"/>
              </a:rPr>
              <a:t>A familiar voice. A persistent case. A network you control.</a:t>
            </a:r>
          </a:p>
        </p:txBody>
      </p:sp>
      <p:sp>
        <p:nvSpPr>
          <p:cNvPr id="16" name="TextBox 15"/>
          <p:cNvSpPr txBox="1"/>
          <p:nvPr/>
        </p:nvSpPr>
        <p:spPr>
          <a:xfrm>
            <a:off x="749808" y="7278624"/>
            <a:ext cx="12984480" cy="246888"/>
          </a:xfrm>
          <a:prstGeom prst="rect">
            <a:avLst/>
          </a:prstGeom>
          <a:noFill/>
        </p:spPr>
        <p:txBody>
          <a:bodyPr wrap="square" lIns="9144" rIns="9144" tIns="0" bIns="0" anchor="t">
            <a:spAutoFit/>
          </a:bodyPr>
          <a:lstStyle/>
          <a:p>
            <a:pPr>
              <a:spcAft>
                <a:spcPts val="200"/>
              </a:spcAft>
            </a:pPr>
            <a:r>
              <a:rPr sz="1000" b="0">
                <a:solidFill>
                  <a:srgbClr val="C6D3CA"/>
                </a:solidFill>
                <a:latin typeface="Aptos"/>
              </a:rPr>
              <a:t>Comparison of product emphasis; no head-to-head benchmark or claim of exclusive capabilities.</a:t>
            </a:r>
          </a:p>
        </p:txBody>
      </p:sp>
      <p:sp>
        <p:nvSpPr>
          <p:cNvPr id="17" name="TextBox 16">
            <a:hlinkClick r:id="rId3"/>
          </p:cNvPr>
          <p:cNvSpPr txBox="1"/>
          <p:nvPr/>
        </p:nvSpPr>
        <p:spPr>
          <a:xfrm>
            <a:off x="749808" y="7516368"/>
            <a:ext cx="11887200" cy="210312"/>
          </a:xfrm>
          <a:prstGeom prst="rect">
            <a:avLst/>
          </a:prstGeom>
          <a:noFill/>
        </p:spPr>
        <p:txBody>
          <a:bodyPr wrap="square" lIns="9144" rIns="9144" tIns="0" bIns="0" anchor="t">
            <a:spAutoFit/>
          </a:bodyPr>
          <a:lstStyle/>
          <a:p>
            <a:pPr>
              <a:spcAft>
                <a:spcPts val="200"/>
              </a:spcAft>
            </a:pPr>
            <a:r>
              <a:rPr sz="900" b="0">
                <a:solidFill>
                  <a:srgbClr val="C6D3CA"/>
                </a:solidFill>
                <a:latin typeface="Aptos"/>
              </a:rPr>
              <a:t>Reference: ElevenLabs — Eleven v4 Turbo in ElevenAgents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12332D"/>
        </a:solidFill>
        <a:effectLst/>
      </p:bgPr>
    </p:bg>
    <p:spTree>
      <p:nvGrpSpPr>
        <p:cNvPr id="1" name=""/>
        <p:cNvGrpSpPr/>
        <p:nvPr/>
      </p:nvGrpSpPr>
      <p:grpSpPr/>
      <p:sp>
        <p:nvSpPr>
          <p:cNvPr id="2" name="Rectangle 1"/>
          <p:cNvSpPr/>
          <p:nvPr/>
        </p:nvSpPr>
        <p:spPr>
          <a:xfrm>
            <a:off x="585216" y="512064"/>
            <a:ext cx="457200" cy="64008"/>
          </a:xfrm>
          <a:prstGeom prst="rect">
            <a:avLst/>
          </a:prstGeom>
          <a:solidFill>
            <a:srgbClr val="D9EDB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207008" y="374904"/>
            <a:ext cx="11887200" cy="320040"/>
          </a:xfrm>
          <a:prstGeom prst="rect">
            <a:avLst/>
          </a:prstGeom>
          <a:noFill/>
        </p:spPr>
        <p:txBody>
          <a:bodyPr wrap="square" lIns="9144" rIns="9144" tIns="0" bIns="0" anchor="t">
            <a:spAutoFit/>
          </a:bodyPr>
          <a:lstStyle/>
          <a:p>
            <a:pPr>
              <a:spcAft>
                <a:spcPts val="200"/>
              </a:spcAft>
            </a:pPr>
            <a:r>
              <a:rPr sz="1100" b="1">
                <a:solidFill>
                  <a:srgbClr val="D9EDB7"/>
                </a:solidFill>
                <a:latin typeface="Aptos"/>
              </a:rPr>
              <a:t>03 / THE AI SWARM</a:t>
            </a:r>
          </a:p>
        </p:txBody>
      </p:sp>
      <p:sp>
        <p:nvSpPr>
          <p:cNvPr id="4" name="TextBox 3"/>
          <p:cNvSpPr txBox="1"/>
          <p:nvPr/>
        </p:nvSpPr>
        <p:spPr>
          <a:xfrm>
            <a:off x="658368" y="7772400"/>
            <a:ext cx="10972800" cy="228600"/>
          </a:xfrm>
          <a:prstGeom prst="rect">
            <a:avLst/>
          </a:prstGeom>
          <a:noFill/>
        </p:spPr>
        <p:txBody>
          <a:bodyPr wrap="square" lIns="9144" rIns="9144" tIns="0" bIns="0" anchor="t">
            <a:spAutoFit/>
          </a:bodyPr>
          <a:lstStyle/>
          <a:p>
            <a:pPr>
              <a:spcAft>
                <a:spcPts val="200"/>
              </a:spcAft>
            </a:pPr>
            <a:r>
              <a:rPr sz="900" b="0">
                <a:solidFill>
                  <a:srgbClr val="C6D3CA"/>
                </a:solidFill>
                <a:latin typeface="Aptos"/>
              </a:rPr>
              <a:t>SAVIA  /  ONE VOICE. A NETWORK BEHIND IT.</a:t>
            </a:r>
          </a:p>
        </p:txBody>
      </p:sp>
      <p:sp>
        <p:nvSpPr>
          <p:cNvPr id="5" name="TextBox 4"/>
          <p:cNvSpPr txBox="1"/>
          <p:nvPr/>
        </p:nvSpPr>
        <p:spPr>
          <a:xfrm>
            <a:off x="13002768" y="7754112"/>
            <a:ext cx="914400" cy="256032"/>
          </a:xfrm>
          <a:prstGeom prst="rect">
            <a:avLst/>
          </a:prstGeom>
          <a:noFill/>
        </p:spPr>
        <p:txBody>
          <a:bodyPr wrap="square" lIns="9144" rIns="9144" tIns="0" bIns="0" anchor="t">
            <a:spAutoFit/>
          </a:bodyPr>
          <a:lstStyle/>
          <a:p>
            <a:pPr>
              <a:spcAft>
                <a:spcPts val="200"/>
              </a:spcAft>
            </a:pPr>
            <a:r>
              <a:rPr sz="1000" b="1">
                <a:solidFill>
                  <a:srgbClr val="D9EDB7"/>
                </a:solidFill>
                <a:latin typeface="Aptos"/>
              </a:rPr>
              <a:t>04 / 06</a:t>
            </a:r>
          </a:p>
        </p:txBody>
      </p:sp>
      <p:sp>
        <p:nvSpPr>
          <p:cNvPr id="6" name="TextBox 5"/>
          <p:cNvSpPr txBox="1"/>
          <p:nvPr/>
        </p:nvSpPr>
        <p:spPr>
          <a:xfrm>
            <a:off x="658368" y="978408"/>
            <a:ext cx="13533120" cy="1444752"/>
          </a:xfrm>
          <a:prstGeom prst="rect">
            <a:avLst/>
          </a:prstGeom>
          <a:noFill/>
        </p:spPr>
        <p:txBody>
          <a:bodyPr wrap="square" lIns="9144" rIns="9144" tIns="0" bIns="0" anchor="t">
            <a:spAutoFit/>
          </a:bodyPr>
          <a:lstStyle/>
          <a:p>
            <a:pPr>
              <a:spcAft>
                <a:spcPts val="200"/>
              </a:spcAft>
            </a:pPr>
            <a:r>
              <a:rPr sz="3800" b="1">
                <a:solidFill>
                  <a:srgbClr val="F8F8F2"/>
                </a:solidFill>
                <a:latin typeface="Aptos"/>
              </a:rPr>
              <a:t>One conversation.</a:t>
            </a:r>
          </a:p>
          <a:p>
            <a:pPr>
              <a:spcAft>
                <a:spcPts val="200"/>
              </a:spcAft>
            </a:pPr>
            <a:r>
              <a:rPr sz="3800" b="1">
                <a:solidFill>
                  <a:srgbClr val="F8F8F2"/>
                </a:solidFill>
                <a:latin typeface="Aptos"/>
              </a:rPr>
              <a:t>Up to 100 agents behind it.</a:t>
            </a:r>
          </a:p>
        </p:txBody>
      </p:sp>
      <p:sp>
        <p:nvSpPr>
          <p:cNvPr id="7" name="TextBox 6"/>
          <p:cNvSpPr txBox="1"/>
          <p:nvPr/>
        </p:nvSpPr>
        <p:spPr>
          <a:xfrm>
            <a:off x="740664" y="2724912"/>
            <a:ext cx="3749039" cy="1737360"/>
          </a:xfrm>
          <a:prstGeom prst="rect">
            <a:avLst/>
          </a:prstGeom>
          <a:noFill/>
        </p:spPr>
        <p:txBody>
          <a:bodyPr wrap="square" lIns="9144" rIns="9144" tIns="0" bIns="0" anchor="t">
            <a:spAutoFit/>
          </a:bodyPr>
          <a:lstStyle/>
          <a:p>
            <a:pPr>
              <a:spcAft>
                <a:spcPts val="200"/>
              </a:spcAft>
            </a:pPr>
            <a:r>
              <a:rPr sz="10200" b="1">
                <a:solidFill>
                  <a:srgbClr val="D9EDB7"/>
                </a:solidFill>
                <a:latin typeface="Aptos"/>
              </a:rPr>
              <a:t>100</a:t>
            </a:r>
          </a:p>
        </p:txBody>
      </p:sp>
      <p:sp>
        <p:nvSpPr>
          <p:cNvPr id="8" name="TextBox 7"/>
          <p:cNvSpPr txBox="1"/>
          <p:nvPr/>
        </p:nvSpPr>
        <p:spPr>
          <a:xfrm>
            <a:off x="795528" y="4608576"/>
            <a:ext cx="3657600" cy="667512"/>
          </a:xfrm>
          <a:prstGeom prst="rect">
            <a:avLst/>
          </a:prstGeom>
          <a:noFill/>
        </p:spPr>
        <p:txBody>
          <a:bodyPr wrap="square" lIns="9144" rIns="9144" tIns="0" bIns="0" anchor="t">
            <a:spAutoFit/>
          </a:bodyPr>
          <a:lstStyle/>
          <a:p>
            <a:pPr>
              <a:spcAft>
                <a:spcPts val="200"/>
              </a:spcAft>
            </a:pPr>
            <a:r>
              <a:rPr sz="2400" b="1">
                <a:solidFill>
                  <a:srgbClr val="F8F8F2"/>
                </a:solidFill>
                <a:latin typeface="Aptos"/>
              </a:rPr>
              <a:t>team conversations</a:t>
            </a:r>
          </a:p>
        </p:txBody>
      </p:sp>
      <p:sp>
        <p:nvSpPr>
          <p:cNvPr id="9" name="TextBox 8"/>
          <p:cNvSpPr txBox="1"/>
          <p:nvPr/>
        </p:nvSpPr>
        <p:spPr>
          <a:xfrm>
            <a:off x="795528" y="5422392"/>
            <a:ext cx="3749039" cy="868680"/>
          </a:xfrm>
          <a:prstGeom prst="rect">
            <a:avLst/>
          </a:prstGeom>
          <a:noFill/>
        </p:spPr>
        <p:txBody>
          <a:bodyPr wrap="square" lIns="9144" rIns="9144" tIns="0" bIns="0" anchor="t">
            <a:spAutoFit/>
          </a:bodyPr>
          <a:lstStyle/>
          <a:p>
            <a:pPr>
              <a:spcAft>
                <a:spcPts val="200"/>
              </a:spcAft>
            </a:pPr>
            <a:r>
              <a:rPr sz="1600" b="0">
                <a:solidFill>
                  <a:srgbClr val="C6D3CA"/>
                </a:solidFill>
                <a:latin typeface="Aptos"/>
              </a:rPr>
              <a:t>10 teams × (1 lead + 9 specialists)</a:t>
            </a:r>
          </a:p>
          <a:p>
            <a:pPr>
              <a:spcAft>
                <a:spcPts val="200"/>
              </a:spcAft>
            </a:pPr>
            <a:r>
              <a:rPr sz="1600" b="0">
                <a:solidFill>
                  <a:srgbClr val="C6D3CA"/>
                </a:solidFill>
                <a:latin typeface="Aptos"/>
              </a:rPr>
              <a:t>Savia’s coordinator is separate.</a:t>
            </a:r>
          </a:p>
        </p:txBody>
      </p:sp>
      <p:sp>
        <p:nvSpPr>
          <p:cNvPr id="10" name="Rounded Rectangle 9"/>
          <p:cNvSpPr/>
          <p:nvPr/>
        </p:nvSpPr>
        <p:spPr>
          <a:xfrm>
            <a:off x="5093208" y="2752344"/>
            <a:ext cx="1581912" cy="1261872"/>
          </a:xfrm>
          <a:prstGeom prst="roundRect">
            <a:avLst>
              <a:gd name="adj" fmla="val 12000"/>
            </a:avLst>
          </a:prstGeom>
          <a:solidFill>
            <a:srgbClr val="214A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221224" y="2871215"/>
            <a:ext cx="1325880" cy="210312"/>
          </a:xfrm>
          <a:prstGeom prst="rect">
            <a:avLst/>
          </a:prstGeom>
          <a:noFill/>
        </p:spPr>
        <p:txBody>
          <a:bodyPr wrap="square" lIns="9144" rIns="9144" tIns="0" bIns="0" anchor="t">
            <a:spAutoFit/>
          </a:bodyPr>
          <a:lstStyle/>
          <a:p>
            <a:pPr>
              <a:spcAft>
                <a:spcPts val="200"/>
              </a:spcAft>
            </a:pPr>
            <a:r>
              <a:rPr sz="900" b="1">
                <a:solidFill>
                  <a:srgbClr val="C6D3CA"/>
                </a:solidFill>
                <a:latin typeface="Aptos"/>
              </a:rPr>
              <a:t>TEAM 01</a:t>
            </a:r>
          </a:p>
        </p:txBody>
      </p:sp>
      <p:sp>
        <p:nvSpPr>
          <p:cNvPr id="12" name="Oval 11"/>
          <p:cNvSpPr/>
          <p:nvPr/>
        </p:nvSpPr>
        <p:spPr>
          <a:xfrm>
            <a:off x="5276088" y="3246120"/>
            <a:ext cx="155448" cy="155448"/>
          </a:xfrm>
          <a:prstGeom prst="ellipse">
            <a:avLst/>
          </a:prstGeom>
          <a:solidFill>
            <a:srgbClr val="E9C9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522976" y="3246120"/>
            <a:ext cx="155448" cy="155448"/>
          </a:xfrm>
          <a:prstGeom prst="ellipse">
            <a:avLst/>
          </a:prstGeom>
          <a:solidFill>
            <a:srgbClr val="D9EDB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5769864" y="3246120"/>
            <a:ext cx="155448" cy="155448"/>
          </a:xfrm>
          <a:prstGeom prst="ellipse">
            <a:avLst/>
          </a:prstGeom>
          <a:solidFill>
            <a:srgbClr val="D9EDB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6016752" y="3246120"/>
            <a:ext cx="155448" cy="155448"/>
          </a:xfrm>
          <a:prstGeom prst="ellipse">
            <a:avLst/>
          </a:prstGeom>
          <a:solidFill>
            <a:srgbClr val="D9EDB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6263640" y="3246120"/>
            <a:ext cx="155448" cy="155448"/>
          </a:xfrm>
          <a:prstGeom prst="ellipse">
            <a:avLst/>
          </a:prstGeom>
          <a:solidFill>
            <a:srgbClr val="D9EDB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5276088" y="3547872"/>
            <a:ext cx="155448" cy="155448"/>
          </a:xfrm>
          <a:prstGeom prst="ellipse">
            <a:avLst/>
          </a:prstGeom>
          <a:solidFill>
            <a:srgbClr val="D9EDB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5522976" y="3547872"/>
            <a:ext cx="155448" cy="155448"/>
          </a:xfrm>
          <a:prstGeom prst="ellipse">
            <a:avLst/>
          </a:prstGeom>
          <a:solidFill>
            <a:srgbClr val="D9EDB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5769864" y="3547872"/>
            <a:ext cx="155448" cy="155448"/>
          </a:xfrm>
          <a:prstGeom prst="ellipse">
            <a:avLst/>
          </a:prstGeom>
          <a:solidFill>
            <a:srgbClr val="D9EDB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6016752" y="3547872"/>
            <a:ext cx="155448" cy="155448"/>
          </a:xfrm>
          <a:prstGeom prst="ellipse">
            <a:avLst/>
          </a:prstGeom>
          <a:solidFill>
            <a:srgbClr val="D9EDB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263640" y="3547872"/>
            <a:ext cx="155448" cy="155448"/>
          </a:xfrm>
          <a:prstGeom prst="ellipse">
            <a:avLst/>
          </a:prstGeom>
          <a:solidFill>
            <a:srgbClr val="D9EDB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6858000" y="2752344"/>
            <a:ext cx="1581912" cy="1261872"/>
          </a:xfrm>
          <a:prstGeom prst="roundRect">
            <a:avLst>
              <a:gd name="adj" fmla="val 12000"/>
            </a:avLst>
          </a:prstGeom>
          <a:solidFill>
            <a:srgbClr val="214A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986016" y="2871215"/>
            <a:ext cx="1325880" cy="210312"/>
          </a:xfrm>
          <a:prstGeom prst="rect">
            <a:avLst/>
          </a:prstGeom>
          <a:noFill/>
        </p:spPr>
        <p:txBody>
          <a:bodyPr wrap="square" lIns="9144" rIns="9144" tIns="0" bIns="0" anchor="t">
            <a:spAutoFit/>
          </a:bodyPr>
          <a:lstStyle/>
          <a:p>
            <a:pPr>
              <a:spcAft>
                <a:spcPts val="200"/>
              </a:spcAft>
            </a:pPr>
            <a:r>
              <a:rPr sz="900" b="1">
                <a:solidFill>
                  <a:srgbClr val="C6D3CA"/>
                </a:solidFill>
                <a:latin typeface="Aptos"/>
              </a:rPr>
              <a:t>TEAM 02</a:t>
            </a:r>
          </a:p>
        </p:txBody>
      </p:sp>
      <p:sp>
        <p:nvSpPr>
          <p:cNvPr id="24" name="Oval 23"/>
          <p:cNvSpPr/>
          <p:nvPr/>
        </p:nvSpPr>
        <p:spPr>
          <a:xfrm>
            <a:off x="7040880" y="3246120"/>
            <a:ext cx="155448" cy="155448"/>
          </a:xfrm>
          <a:prstGeom prst="ellipse">
            <a:avLst/>
          </a:prstGeom>
          <a:solidFill>
            <a:srgbClr val="E9C9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7287768" y="3246120"/>
            <a:ext cx="155448" cy="155448"/>
          </a:xfrm>
          <a:prstGeom prst="ellipse">
            <a:avLst/>
          </a:prstGeom>
          <a:solidFill>
            <a:srgbClr val="D9EDB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7534656" y="3246120"/>
            <a:ext cx="155448" cy="155448"/>
          </a:xfrm>
          <a:prstGeom prst="ellipse">
            <a:avLst/>
          </a:prstGeom>
          <a:solidFill>
            <a:srgbClr val="D9EDB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7781544" y="3246120"/>
            <a:ext cx="155448" cy="155448"/>
          </a:xfrm>
          <a:prstGeom prst="ellipse">
            <a:avLst/>
          </a:prstGeom>
          <a:solidFill>
            <a:srgbClr val="D9EDB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8028432" y="3246120"/>
            <a:ext cx="155448" cy="155448"/>
          </a:xfrm>
          <a:prstGeom prst="ellipse">
            <a:avLst/>
          </a:prstGeom>
          <a:solidFill>
            <a:srgbClr val="D9EDB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7040880" y="3547872"/>
            <a:ext cx="155448" cy="155448"/>
          </a:xfrm>
          <a:prstGeom prst="ellipse">
            <a:avLst/>
          </a:prstGeom>
          <a:solidFill>
            <a:srgbClr val="D9EDB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7287768" y="3547872"/>
            <a:ext cx="155448" cy="155448"/>
          </a:xfrm>
          <a:prstGeom prst="ellipse">
            <a:avLst/>
          </a:prstGeom>
          <a:solidFill>
            <a:srgbClr val="D9EDB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7534656" y="3547872"/>
            <a:ext cx="155448" cy="155448"/>
          </a:xfrm>
          <a:prstGeom prst="ellipse">
            <a:avLst/>
          </a:prstGeom>
          <a:solidFill>
            <a:srgbClr val="D9EDB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7781544" y="3547872"/>
            <a:ext cx="155448" cy="155448"/>
          </a:xfrm>
          <a:prstGeom prst="ellipse">
            <a:avLst/>
          </a:prstGeom>
          <a:solidFill>
            <a:srgbClr val="D9EDB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8028432" y="3547872"/>
            <a:ext cx="155448" cy="155448"/>
          </a:xfrm>
          <a:prstGeom prst="ellipse">
            <a:avLst/>
          </a:prstGeom>
          <a:solidFill>
            <a:srgbClr val="D9EDB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ounded Rectangle 33"/>
          <p:cNvSpPr/>
          <p:nvPr/>
        </p:nvSpPr>
        <p:spPr>
          <a:xfrm>
            <a:off x="8622792" y="2752344"/>
            <a:ext cx="1581912" cy="1261872"/>
          </a:xfrm>
          <a:prstGeom prst="roundRect">
            <a:avLst>
              <a:gd name="adj" fmla="val 12000"/>
            </a:avLst>
          </a:prstGeom>
          <a:solidFill>
            <a:srgbClr val="214A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8750808" y="2871215"/>
            <a:ext cx="1325880" cy="210312"/>
          </a:xfrm>
          <a:prstGeom prst="rect">
            <a:avLst/>
          </a:prstGeom>
          <a:noFill/>
        </p:spPr>
        <p:txBody>
          <a:bodyPr wrap="square" lIns="9144" rIns="9144" tIns="0" bIns="0" anchor="t">
            <a:spAutoFit/>
          </a:bodyPr>
          <a:lstStyle/>
          <a:p>
            <a:pPr>
              <a:spcAft>
                <a:spcPts val="200"/>
              </a:spcAft>
            </a:pPr>
            <a:r>
              <a:rPr sz="900" b="1">
                <a:solidFill>
                  <a:srgbClr val="C6D3CA"/>
                </a:solidFill>
                <a:latin typeface="Aptos"/>
              </a:rPr>
              <a:t>TEAM 03</a:t>
            </a:r>
          </a:p>
        </p:txBody>
      </p:sp>
      <p:sp>
        <p:nvSpPr>
          <p:cNvPr id="36" name="Oval 35"/>
          <p:cNvSpPr/>
          <p:nvPr/>
        </p:nvSpPr>
        <p:spPr>
          <a:xfrm>
            <a:off x="8805672" y="3246120"/>
            <a:ext cx="155448" cy="155448"/>
          </a:xfrm>
          <a:prstGeom prst="ellipse">
            <a:avLst/>
          </a:prstGeom>
          <a:solidFill>
            <a:srgbClr val="E9C9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9052559" y="3246120"/>
            <a:ext cx="155448" cy="155448"/>
          </a:xfrm>
          <a:prstGeom prst="ellipse">
            <a:avLst/>
          </a:prstGeom>
          <a:solidFill>
            <a:srgbClr val="D9EDB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Oval 37"/>
          <p:cNvSpPr/>
          <p:nvPr/>
        </p:nvSpPr>
        <p:spPr>
          <a:xfrm>
            <a:off x="9299447" y="3246120"/>
            <a:ext cx="155448" cy="155448"/>
          </a:xfrm>
          <a:prstGeom prst="ellipse">
            <a:avLst/>
          </a:prstGeom>
          <a:solidFill>
            <a:srgbClr val="D9EDB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Oval 38"/>
          <p:cNvSpPr/>
          <p:nvPr/>
        </p:nvSpPr>
        <p:spPr>
          <a:xfrm>
            <a:off x="9546336" y="3246120"/>
            <a:ext cx="155448" cy="155448"/>
          </a:xfrm>
          <a:prstGeom prst="ellipse">
            <a:avLst/>
          </a:prstGeom>
          <a:solidFill>
            <a:srgbClr val="D9EDB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Oval 39"/>
          <p:cNvSpPr/>
          <p:nvPr/>
        </p:nvSpPr>
        <p:spPr>
          <a:xfrm>
            <a:off x="9793224" y="3246120"/>
            <a:ext cx="155448" cy="155448"/>
          </a:xfrm>
          <a:prstGeom prst="ellipse">
            <a:avLst/>
          </a:prstGeom>
          <a:solidFill>
            <a:srgbClr val="D9EDB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Oval 40"/>
          <p:cNvSpPr/>
          <p:nvPr/>
        </p:nvSpPr>
        <p:spPr>
          <a:xfrm>
            <a:off x="8805672" y="3547872"/>
            <a:ext cx="155448" cy="155448"/>
          </a:xfrm>
          <a:prstGeom prst="ellipse">
            <a:avLst/>
          </a:prstGeom>
          <a:solidFill>
            <a:srgbClr val="D9EDB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Oval 41"/>
          <p:cNvSpPr/>
          <p:nvPr/>
        </p:nvSpPr>
        <p:spPr>
          <a:xfrm>
            <a:off x="9052559" y="3547872"/>
            <a:ext cx="155448" cy="155448"/>
          </a:xfrm>
          <a:prstGeom prst="ellipse">
            <a:avLst/>
          </a:prstGeom>
          <a:solidFill>
            <a:srgbClr val="D9EDB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Oval 42"/>
          <p:cNvSpPr/>
          <p:nvPr/>
        </p:nvSpPr>
        <p:spPr>
          <a:xfrm>
            <a:off x="9299447" y="3547872"/>
            <a:ext cx="155448" cy="155448"/>
          </a:xfrm>
          <a:prstGeom prst="ellipse">
            <a:avLst/>
          </a:prstGeom>
          <a:solidFill>
            <a:srgbClr val="D9EDB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Oval 43"/>
          <p:cNvSpPr/>
          <p:nvPr/>
        </p:nvSpPr>
        <p:spPr>
          <a:xfrm>
            <a:off x="9546336" y="3547872"/>
            <a:ext cx="155448" cy="155448"/>
          </a:xfrm>
          <a:prstGeom prst="ellipse">
            <a:avLst/>
          </a:prstGeom>
          <a:solidFill>
            <a:srgbClr val="D9EDB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Oval 44"/>
          <p:cNvSpPr/>
          <p:nvPr/>
        </p:nvSpPr>
        <p:spPr>
          <a:xfrm>
            <a:off x="9793224" y="3547872"/>
            <a:ext cx="155448" cy="155448"/>
          </a:xfrm>
          <a:prstGeom prst="ellipse">
            <a:avLst/>
          </a:prstGeom>
          <a:solidFill>
            <a:srgbClr val="D9EDB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ounded Rectangle 45"/>
          <p:cNvSpPr/>
          <p:nvPr/>
        </p:nvSpPr>
        <p:spPr>
          <a:xfrm>
            <a:off x="10387584" y="2752344"/>
            <a:ext cx="1581912" cy="1261872"/>
          </a:xfrm>
          <a:prstGeom prst="roundRect">
            <a:avLst>
              <a:gd name="adj" fmla="val 12000"/>
            </a:avLst>
          </a:prstGeom>
          <a:solidFill>
            <a:srgbClr val="214A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10515600" y="2871215"/>
            <a:ext cx="1325880" cy="210312"/>
          </a:xfrm>
          <a:prstGeom prst="rect">
            <a:avLst/>
          </a:prstGeom>
          <a:noFill/>
        </p:spPr>
        <p:txBody>
          <a:bodyPr wrap="square" lIns="9144" rIns="9144" tIns="0" bIns="0" anchor="t">
            <a:spAutoFit/>
          </a:bodyPr>
          <a:lstStyle/>
          <a:p>
            <a:pPr>
              <a:spcAft>
                <a:spcPts val="200"/>
              </a:spcAft>
            </a:pPr>
            <a:r>
              <a:rPr sz="900" b="1">
                <a:solidFill>
                  <a:srgbClr val="C6D3CA"/>
                </a:solidFill>
                <a:latin typeface="Aptos"/>
              </a:rPr>
              <a:t>TEAM 04</a:t>
            </a:r>
          </a:p>
        </p:txBody>
      </p:sp>
      <p:sp>
        <p:nvSpPr>
          <p:cNvPr id="48" name="Oval 47"/>
          <p:cNvSpPr/>
          <p:nvPr/>
        </p:nvSpPr>
        <p:spPr>
          <a:xfrm>
            <a:off x="10570463" y="3246120"/>
            <a:ext cx="155448" cy="155448"/>
          </a:xfrm>
          <a:prstGeom prst="ellipse">
            <a:avLst/>
          </a:prstGeom>
          <a:solidFill>
            <a:srgbClr val="E9C9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Oval 48"/>
          <p:cNvSpPr/>
          <p:nvPr/>
        </p:nvSpPr>
        <p:spPr>
          <a:xfrm>
            <a:off x="10817351" y="3246120"/>
            <a:ext cx="155448" cy="155448"/>
          </a:xfrm>
          <a:prstGeom prst="ellipse">
            <a:avLst/>
          </a:prstGeom>
          <a:solidFill>
            <a:srgbClr val="D9EDB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Oval 49"/>
          <p:cNvSpPr/>
          <p:nvPr/>
        </p:nvSpPr>
        <p:spPr>
          <a:xfrm>
            <a:off x="11064239" y="3246120"/>
            <a:ext cx="155448" cy="155448"/>
          </a:xfrm>
          <a:prstGeom prst="ellipse">
            <a:avLst/>
          </a:prstGeom>
          <a:solidFill>
            <a:srgbClr val="D9EDB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Oval 50"/>
          <p:cNvSpPr/>
          <p:nvPr/>
        </p:nvSpPr>
        <p:spPr>
          <a:xfrm>
            <a:off x="11311128" y="3246120"/>
            <a:ext cx="155448" cy="155448"/>
          </a:xfrm>
          <a:prstGeom prst="ellipse">
            <a:avLst/>
          </a:prstGeom>
          <a:solidFill>
            <a:srgbClr val="D9EDB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Oval 51"/>
          <p:cNvSpPr/>
          <p:nvPr/>
        </p:nvSpPr>
        <p:spPr>
          <a:xfrm>
            <a:off x="11558015" y="3246120"/>
            <a:ext cx="155448" cy="155448"/>
          </a:xfrm>
          <a:prstGeom prst="ellipse">
            <a:avLst/>
          </a:prstGeom>
          <a:solidFill>
            <a:srgbClr val="D9EDB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Oval 52"/>
          <p:cNvSpPr/>
          <p:nvPr/>
        </p:nvSpPr>
        <p:spPr>
          <a:xfrm>
            <a:off x="10570463" y="3547872"/>
            <a:ext cx="155448" cy="155448"/>
          </a:xfrm>
          <a:prstGeom prst="ellipse">
            <a:avLst/>
          </a:prstGeom>
          <a:solidFill>
            <a:srgbClr val="D9EDB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Oval 53"/>
          <p:cNvSpPr/>
          <p:nvPr/>
        </p:nvSpPr>
        <p:spPr>
          <a:xfrm>
            <a:off x="10817351" y="3547872"/>
            <a:ext cx="155448" cy="155448"/>
          </a:xfrm>
          <a:prstGeom prst="ellipse">
            <a:avLst/>
          </a:prstGeom>
          <a:solidFill>
            <a:srgbClr val="D9EDB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Oval 54"/>
          <p:cNvSpPr/>
          <p:nvPr/>
        </p:nvSpPr>
        <p:spPr>
          <a:xfrm>
            <a:off x="11064239" y="3547872"/>
            <a:ext cx="155448" cy="155448"/>
          </a:xfrm>
          <a:prstGeom prst="ellipse">
            <a:avLst/>
          </a:prstGeom>
          <a:solidFill>
            <a:srgbClr val="D9EDB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Oval 55"/>
          <p:cNvSpPr/>
          <p:nvPr/>
        </p:nvSpPr>
        <p:spPr>
          <a:xfrm>
            <a:off x="11311128" y="3547872"/>
            <a:ext cx="155448" cy="155448"/>
          </a:xfrm>
          <a:prstGeom prst="ellipse">
            <a:avLst/>
          </a:prstGeom>
          <a:solidFill>
            <a:srgbClr val="D9EDB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Oval 56"/>
          <p:cNvSpPr/>
          <p:nvPr/>
        </p:nvSpPr>
        <p:spPr>
          <a:xfrm>
            <a:off x="11558015" y="3547872"/>
            <a:ext cx="155448" cy="155448"/>
          </a:xfrm>
          <a:prstGeom prst="ellipse">
            <a:avLst/>
          </a:prstGeom>
          <a:solidFill>
            <a:srgbClr val="D9EDB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Rounded Rectangle 57"/>
          <p:cNvSpPr/>
          <p:nvPr/>
        </p:nvSpPr>
        <p:spPr>
          <a:xfrm>
            <a:off x="12152376" y="2752344"/>
            <a:ext cx="1581912" cy="1261872"/>
          </a:xfrm>
          <a:prstGeom prst="roundRect">
            <a:avLst>
              <a:gd name="adj" fmla="val 12000"/>
            </a:avLst>
          </a:prstGeom>
          <a:solidFill>
            <a:srgbClr val="214A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12280392" y="2871215"/>
            <a:ext cx="1325880" cy="210312"/>
          </a:xfrm>
          <a:prstGeom prst="rect">
            <a:avLst/>
          </a:prstGeom>
          <a:noFill/>
        </p:spPr>
        <p:txBody>
          <a:bodyPr wrap="square" lIns="9144" rIns="9144" tIns="0" bIns="0" anchor="t">
            <a:spAutoFit/>
          </a:bodyPr>
          <a:lstStyle/>
          <a:p>
            <a:pPr>
              <a:spcAft>
                <a:spcPts val="200"/>
              </a:spcAft>
            </a:pPr>
            <a:r>
              <a:rPr sz="900" b="1">
                <a:solidFill>
                  <a:srgbClr val="C6D3CA"/>
                </a:solidFill>
                <a:latin typeface="Aptos"/>
              </a:rPr>
              <a:t>TEAM 05</a:t>
            </a:r>
          </a:p>
        </p:txBody>
      </p:sp>
      <p:sp>
        <p:nvSpPr>
          <p:cNvPr id="60" name="Oval 59"/>
          <p:cNvSpPr/>
          <p:nvPr/>
        </p:nvSpPr>
        <p:spPr>
          <a:xfrm>
            <a:off x="12335255" y="3246120"/>
            <a:ext cx="155448" cy="155448"/>
          </a:xfrm>
          <a:prstGeom prst="ellipse">
            <a:avLst/>
          </a:prstGeom>
          <a:solidFill>
            <a:srgbClr val="E9C9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Oval 60"/>
          <p:cNvSpPr/>
          <p:nvPr/>
        </p:nvSpPr>
        <p:spPr>
          <a:xfrm>
            <a:off x="12582143" y="3246120"/>
            <a:ext cx="155448" cy="155448"/>
          </a:xfrm>
          <a:prstGeom prst="ellipse">
            <a:avLst/>
          </a:prstGeom>
          <a:solidFill>
            <a:srgbClr val="D9EDB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Oval 61"/>
          <p:cNvSpPr/>
          <p:nvPr/>
        </p:nvSpPr>
        <p:spPr>
          <a:xfrm>
            <a:off x="12829031" y="3246120"/>
            <a:ext cx="155448" cy="155448"/>
          </a:xfrm>
          <a:prstGeom prst="ellipse">
            <a:avLst/>
          </a:prstGeom>
          <a:solidFill>
            <a:srgbClr val="D9EDB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Oval 62"/>
          <p:cNvSpPr/>
          <p:nvPr/>
        </p:nvSpPr>
        <p:spPr>
          <a:xfrm>
            <a:off x="13075919" y="3246120"/>
            <a:ext cx="155448" cy="155448"/>
          </a:xfrm>
          <a:prstGeom prst="ellipse">
            <a:avLst/>
          </a:prstGeom>
          <a:solidFill>
            <a:srgbClr val="D9EDB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Oval 63"/>
          <p:cNvSpPr/>
          <p:nvPr/>
        </p:nvSpPr>
        <p:spPr>
          <a:xfrm>
            <a:off x="13322807" y="3246120"/>
            <a:ext cx="155448" cy="155448"/>
          </a:xfrm>
          <a:prstGeom prst="ellipse">
            <a:avLst/>
          </a:prstGeom>
          <a:solidFill>
            <a:srgbClr val="D9EDB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Oval 64"/>
          <p:cNvSpPr/>
          <p:nvPr/>
        </p:nvSpPr>
        <p:spPr>
          <a:xfrm>
            <a:off x="12335255" y="3547872"/>
            <a:ext cx="155448" cy="155448"/>
          </a:xfrm>
          <a:prstGeom prst="ellipse">
            <a:avLst/>
          </a:prstGeom>
          <a:solidFill>
            <a:srgbClr val="D9EDB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Oval 65"/>
          <p:cNvSpPr/>
          <p:nvPr/>
        </p:nvSpPr>
        <p:spPr>
          <a:xfrm>
            <a:off x="12582143" y="3547872"/>
            <a:ext cx="155448" cy="155448"/>
          </a:xfrm>
          <a:prstGeom prst="ellipse">
            <a:avLst/>
          </a:prstGeom>
          <a:solidFill>
            <a:srgbClr val="D9EDB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Oval 66"/>
          <p:cNvSpPr/>
          <p:nvPr/>
        </p:nvSpPr>
        <p:spPr>
          <a:xfrm>
            <a:off x="12829031" y="3547872"/>
            <a:ext cx="155448" cy="155448"/>
          </a:xfrm>
          <a:prstGeom prst="ellipse">
            <a:avLst/>
          </a:prstGeom>
          <a:solidFill>
            <a:srgbClr val="D9EDB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Oval 67"/>
          <p:cNvSpPr/>
          <p:nvPr/>
        </p:nvSpPr>
        <p:spPr>
          <a:xfrm>
            <a:off x="13075919" y="3547872"/>
            <a:ext cx="155448" cy="155448"/>
          </a:xfrm>
          <a:prstGeom prst="ellipse">
            <a:avLst/>
          </a:prstGeom>
          <a:solidFill>
            <a:srgbClr val="D9EDB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Oval 68"/>
          <p:cNvSpPr/>
          <p:nvPr/>
        </p:nvSpPr>
        <p:spPr>
          <a:xfrm>
            <a:off x="13322807" y="3547872"/>
            <a:ext cx="155448" cy="155448"/>
          </a:xfrm>
          <a:prstGeom prst="ellipse">
            <a:avLst/>
          </a:prstGeom>
          <a:solidFill>
            <a:srgbClr val="D9EDB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Rounded Rectangle 69"/>
          <p:cNvSpPr/>
          <p:nvPr/>
        </p:nvSpPr>
        <p:spPr>
          <a:xfrm>
            <a:off x="5093208" y="4206240"/>
            <a:ext cx="1581912" cy="1261872"/>
          </a:xfrm>
          <a:prstGeom prst="roundRect">
            <a:avLst>
              <a:gd name="adj" fmla="val 12000"/>
            </a:avLst>
          </a:prstGeom>
          <a:solidFill>
            <a:srgbClr val="214A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TextBox 70"/>
          <p:cNvSpPr txBox="1"/>
          <p:nvPr/>
        </p:nvSpPr>
        <p:spPr>
          <a:xfrm>
            <a:off x="5221224" y="4325112"/>
            <a:ext cx="1325880" cy="210312"/>
          </a:xfrm>
          <a:prstGeom prst="rect">
            <a:avLst/>
          </a:prstGeom>
          <a:noFill/>
        </p:spPr>
        <p:txBody>
          <a:bodyPr wrap="square" lIns="9144" rIns="9144" tIns="0" bIns="0" anchor="t">
            <a:spAutoFit/>
          </a:bodyPr>
          <a:lstStyle/>
          <a:p>
            <a:pPr>
              <a:spcAft>
                <a:spcPts val="200"/>
              </a:spcAft>
            </a:pPr>
            <a:r>
              <a:rPr sz="900" b="1">
                <a:solidFill>
                  <a:srgbClr val="C6D3CA"/>
                </a:solidFill>
                <a:latin typeface="Aptos"/>
              </a:rPr>
              <a:t>TEAM 06</a:t>
            </a:r>
          </a:p>
        </p:txBody>
      </p:sp>
      <p:sp>
        <p:nvSpPr>
          <p:cNvPr id="72" name="Oval 71"/>
          <p:cNvSpPr/>
          <p:nvPr/>
        </p:nvSpPr>
        <p:spPr>
          <a:xfrm>
            <a:off x="5276088" y="4700016"/>
            <a:ext cx="155448" cy="155448"/>
          </a:xfrm>
          <a:prstGeom prst="ellipse">
            <a:avLst/>
          </a:prstGeom>
          <a:solidFill>
            <a:srgbClr val="E9C9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Oval 72"/>
          <p:cNvSpPr/>
          <p:nvPr/>
        </p:nvSpPr>
        <p:spPr>
          <a:xfrm>
            <a:off x="5522976" y="4700016"/>
            <a:ext cx="155448" cy="155448"/>
          </a:xfrm>
          <a:prstGeom prst="ellipse">
            <a:avLst/>
          </a:prstGeom>
          <a:solidFill>
            <a:srgbClr val="D9EDB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Oval 73"/>
          <p:cNvSpPr/>
          <p:nvPr/>
        </p:nvSpPr>
        <p:spPr>
          <a:xfrm>
            <a:off x="5769864" y="4700016"/>
            <a:ext cx="155448" cy="155448"/>
          </a:xfrm>
          <a:prstGeom prst="ellipse">
            <a:avLst/>
          </a:prstGeom>
          <a:solidFill>
            <a:srgbClr val="D9EDB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Oval 74"/>
          <p:cNvSpPr/>
          <p:nvPr/>
        </p:nvSpPr>
        <p:spPr>
          <a:xfrm>
            <a:off x="6016752" y="4700016"/>
            <a:ext cx="155448" cy="155448"/>
          </a:xfrm>
          <a:prstGeom prst="ellipse">
            <a:avLst/>
          </a:prstGeom>
          <a:solidFill>
            <a:srgbClr val="D9EDB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Oval 75"/>
          <p:cNvSpPr/>
          <p:nvPr/>
        </p:nvSpPr>
        <p:spPr>
          <a:xfrm>
            <a:off x="6263640" y="4700016"/>
            <a:ext cx="155448" cy="155448"/>
          </a:xfrm>
          <a:prstGeom prst="ellipse">
            <a:avLst/>
          </a:prstGeom>
          <a:solidFill>
            <a:srgbClr val="D9EDB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Oval 76"/>
          <p:cNvSpPr/>
          <p:nvPr/>
        </p:nvSpPr>
        <p:spPr>
          <a:xfrm>
            <a:off x="5276088" y="5001768"/>
            <a:ext cx="155448" cy="155448"/>
          </a:xfrm>
          <a:prstGeom prst="ellipse">
            <a:avLst/>
          </a:prstGeom>
          <a:solidFill>
            <a:srgbClr val="D9EDB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Oval 77"/>
          <p:cNvSpPr/>
          <p:nvPr/>
        </p:nvSpPr>
        <p:spPr>
          <a:xfrm>
            <a:off x="5522976" y="5001768"/>
            <a:ext cx="155448" cy="155448"/>
          </a:xfrm>
          <a:prstGeom prst="ellipse">
            <a:avLst/>
          </a:prstGeom>
          <a:solidFill>
            <a:srgbClr val="D9EDB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Oval 78"/>
          <p:cNvSpPr/>
          <p:nvPr/>
        </p:nvSpPr>
        <p:spPr>
          <a:xfrm>
            <a:off x="5769864" y="5001768"/>
            <a:ext cx="155448" cy="155448"/>
          </a:xfrm>
          <a:prstGeom prst="ellipse">
            <a:avLst/>
          </a:prstGeom>
          <a:solidFill>
            <a:srgbClr val="D9EDB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Oval 79"/>
          <p:cNvSpPr/>
          <p:nvPr/>
        </p:nvSpPr>
        <p:spPr>
          <a:xfrm>
            <a:off x="6016752" y="5001768"/>
            <a:ext cx="155448" cy="155448"/>
          </a:xfrm>
          <a:prstGeom prst="ellipse">
            <a:avLst/>
          </a:prstGeom>
          <a:solidFill>
            <a:srgbClr val="D9EDB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Oval 80"/>
          <p:cNvSpPr/>
          <p:nvPr/>
        </p:nvSpPr>
        <p:spPr>
          <a:xfrm>
            <a:off x="6263640" y="5001768"/>
            <a:ext cx="155448" cy="155448"/>
          </a:xfrm>
          <a:prstGeom prst="ellipse">
            <a:avLst/>
          </a:prstGeom>
          <a:solidFill>
            <a:srgbClr val="D9EDB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Rounded Rectangle 81"/>
          <p:cNvSpPr/>
          <p:nvPr/>
        </p:nvSpPr>
        <p:spPr>
          <a:xfrm>
            <a:off x="6858000" y="4206240"/>
            <a:ext cx="1581912" cy="1261872"/>
          </a:xfrm>
          <a:prstGeom prst="roundRect">
            <a:avLst>
              <a:gd name="adj" fmla="val 12000"/>
            </a:avLst>
          </a:prstGeom>
          <a:solidFill>
            <a:srgbClr val="214A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TextBox 82"/>
          <p:cNvSpPr txBox="1"/>
          <p:nvPr/>
        </p:nvSpPr>
        <p:spPr>
          <a:xfrm>
            <a:off x="6986016" y="4325112"/>
            <a:ext cx="1325880" cy="210312"/>
          </a:xfrm>
          <a:prstGeom prst="rect">
            <a:avLst/>
          </a:prstGeom>
          <a:noFill/>
        </p:spPr>
        <p:txBody>
          <a:bodyPr wrap="square" lIns="9144" rIns="9144" tIns="0" bIns="0" anchor="t">
            <a:spAutoFit/>
          </a:bodyPr>
          <a:lstStyle/>
          <a:p>
            <a:pPr>
              <a:spcAft>
                <a:spcPts val="200"/>
              </a:spcAft>
            </a:pPr>
            <a:r>
              <a:rPr sz="900" b="1">
                <a:solidFill>
                  <a:srgbClr val="C6D3CA"/>
                </a:solidFill>
                <a:latin typeface="Aptos"/>
              </a:rPr>
              <a:t>TEAM 07</a:t>
            </a:r>
          </a:p>
        </p:txBody>
      </p:sp>
      <p:sp>
        <p:nvSpPr>
          <p:cNvPr id="84" name="Oval 83"/>
          <p:cNvSpPr/>
          <p:nvPr/>
        </p:nvSpPr>
        <p:spPr>
          <a:xfrm>
            <a:off x="7040880" y="4700016"/>
            <a:ext cx="155448" cy="155448"/>
          </a:xfrm>
          <a:prstGeom prst="ellipse">
            <a:avLst/>
          </a:prstGeom>
          <a:solidFill>
            <a:srgbClr val="E9C9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Oval 84"/>
          <p:cNvSpPr/>
          <p:nvPr/>
        </p:nvSpPr>
        <p:spPr>
          <a:xfrm>
            <a:off x="7287768" y="4700016"/>
            <a:ext cx="155448" cy="155448"/>
          </a:xfrm>
          <a:prstGeom prst="ellipse">
            <a:avLst/>
          </a:prstGeom>
          <a:solidFill>
            <a:srgbClr val="D9EDB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Oval 85"/>
          <p:cNvSpPr/>
          <p:nvPr/>
        </p:nvSpPr>
        <p:spPr>
          <a:xfrm>
            <a:off x="7534656" y="4700016"/>
            <a:ext cx="155448" cy="155448"/>
          </a:xfrm>
          <a:prstGeom prst="ellipse">
            <a:avLst/>
          </a:prstGeom>
          <a:solidFill>
            <a:srgbClr val="D9EDB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Oval 86"/>
          <p:cNvSpPr/>
          <p:nvPr/>
        </p:nvSpPr>
        <p:spPr>
          <a:xfrm>
            <a:off x="7781544" y="4700016"/>
            <a:ext cx="155448" cy="155448"/>
          </a:xfrm>
          <a:prstGeom prst="ellipse">
            <a:avLst/>
          </a:prstGeom>
          <a:solidFill>
            <a:srgbClr val="D9EDB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Oval 87"/>
          <p:cNvSpPr/>
          <p:nvPr/>
        </p:nvSpPr>
        <p:spPr>
          <a:xfrm>
            <a:off x="8028432" y="4700016"/>
            <a:ext cx="155448" cy="155448"/>
          </a:xfrm>
          <a:prstGeom prst="ellipse">
            <a:avLst/>
          </a:prstGeom>
          <a:solidFill>
            <a:srgbClr val="D9EDB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 name="Oval 88"/>
          <p:cNvSpPr/>
          <p:nvPr/>
        </p:nvSpPr>
        <p:spPr>
          <a:xfrm>
            <a:off x="7040880" y="5001768"/>
            <a:ext cx="155448" cy="155448"/>
          </a:xfrm>
          <a:prstGeom prst="ellipse">
            <a:avLst/>
          </a:prstGeom>
          <a:solidFill>
            <a:srgbClr val="D9EDB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Oval 89"/>
          <p:cNvSpPr/>
          <p:nvPr/>
        </p:nvSpPr>
        <p:spPr>
          <a:xfrm>
            <a:off x="7287768" y="5001768"/>
            <a:ext cx="155448" cy="155448"/>
          </a:xfrm>
          <a:prstGeom prst="ellipse">
            <a:avLst/>
          </a:prstGeom>
          <a:solidFill>
            <a:srgbClr val="D9EDB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 name="Oval 90"/>
          <p:cNvSpPr/>
          <p:nvPr/>
        </p:nvSpPr>
        <p:spPr>
          <a:xfrm>
            <a:off x="7534656" y="5001768"/>
            <a:ext cx="155448" cy="155448"/>
          </a:xfrm>
          <a:prstGeom prst="ellipse">
            <a:avLst/>
          </a:prstGeom>
          <a:solidFill>
            <a:srgbClr val="D9EDB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 name="Oval 91"/>
          <p:cNvSpPr/>
          <p:nvPr/>
        </p:nvSpPr>
        <p:spPr>
          <a:xfrm>
            <a:off x="7781544" y="5001768"/>
            <a:ext cx="155448" cy="155448"/>
          </a:xfrm>
          <a:prstGeom prst="ellipse">
            <a:avLst/>
          </a:prstGeom>
          <a:solidFill>
            <a:srgbClr val="D9EDB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 name="Oval 92"/>
          <p:cNvSpPr/>
          <p:nvPr/>
        </p:nvSpPr>
        <p:spPr>
          <a:xfrm>
            <a:off x="8028432" y="5001768"/>
            <a:ext cx="155448" cy="155448"/>
          </a:xfrm>
          <a:prstGeom prst="ellipse">
            <a:avLst/>
          </a:prstGeom>
          <a:solidFill>
            <a:srgbClr val="D9EDB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 name="Rounded Rectangle 93"/>
          <p:cNvSpPr/>
          <p:nvPr/>
        </p:nvSpPr>
        <p:spPr>
          <a:xfrm>
            <a:off x="8622792" y="4206240"/>
            <a:ext cx="1581912" cy="1261872"/>
          </a:xfrm>
          <a:prstGeom prst="roundRect">
            <a:avLst>
              <a:gd name="adj" fmla="val 12000"/>
            </a:avLst>
          </a:prstGeom>
          <a:solidFill>
            <a:srgbClr val="214A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 name="TextBox 94"/>
          <p:cNvSpPr txBox="1"/>
          <p:nvPr/>
        </p:nvSpPr>
        <p:spPr>
          <a:xfrm>
            <a:off x="8750808" y="4325112"/>
            <a:ext cx="1325880" cy="210312"/>
          </a:xfrm>
          <a:prstGeom prst="rect">
            <a:avLst/>
          </a:prstGeom>
          <a:noFill/>
        </p:spPr>
        <p:txBody>
          <a:bodyPr wrap="square" lIns="9144" rIns="9144" tIns="0" bIns="0" anchor="t">
            <a:spAutoFit/>
          </a:bodyPr>
          <a:lstStyle/>
          <a:p>
            <a:pPr>
              <a:spcAft>
                <a:spcPts val="200"/>
              </a:spcAft>
            </a:pPr>
            <a:r>
              <a:rPr sz="900" b="1">
                <a:solidFill>
                  <a:srgbClr val="C6D3CA"/>
                </a:solidFill>
                <a:latin typeface="Aptos"/>
              </a:rPr>
              <a:t>TEAM 08</a:t>
            </a:r>
          </a:p>
        </p:txBody>
      </p:sp>
      <p:sp>
        <p:nvSpPr>
          <p:cNvPr id="96" name="Oval 95"/>
          <p:cNvSpPr/>
          <p:nvPr/>
        </p:nvSpPr>
        <p:spPr>
          <a:xfrm>
            <a:off x="8805672" y="4700016"/>
            <a:ext cx="155448" cy="155448"/>
          </a:xfrm>
          <a:prstGeom prst="ellipse">
            <a:avLst/>
          </a:prstGeom>
          <a:solidFill>
            <a:srgbClr val="E9C9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 name="Oval 96"/>
          <p:cNvSpPr/>
          <p:nvPr/>
        </p:nvSpPr>
        <p:spPr>
          <a:xfrm>
            <a:off x="9052559" y="4700016"/>
            <a:ext cx="155448" cy="155448"/>
          </a:xfrm>
          <a:prstGeom prst="ellipse">
            <a:avLst/>
          </a:prstGeom>
          <a:solidFill>
            <a:srgbClr val="D9EDB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 name="Oval 97"/>
          <p:cNvSpPr/>
          <p:nvPr/>
        </p:nvSpPr>
        <p:spPr>
          <a:xfrm>
            <a:off x="9299447" y="4700016"/>
            <a:ext cx="155448" cy="155448"/>
          </a:xfrm>
          <a:prstGeom prst="ellipse">
            <a:avLst/>
          </a:prstGeom>
          <a:solidFill>
            <a:srgbClr val="D9EDB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 name="Oval 98"/>
          <p:cNvSpPr/>
          <p:nvPr/>
        </p:nvSpPr>
        <p:spPr>
          <a:xfrm>
            <a:off x="9546336" y="4700016"/>
            <a:ext cx="155448" cy="155448"/>
          </a:xfrm>
          <a:prstGeom prst="ellipse">
            <a:avLst/>
          </a:prstGeom>
          <a:solidFill>
            <a:srgbClr val="D9EDB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 name="Oval 99"/>
          <p:cNvSpPr/>
          <p:nvPr/>
        </p:nvSpPr>
        <p:spPr>
          <a:xfrm>
            <a:off x="9793224" y="4700016"/>
            <a:ext cx="155448" cy="155448"/>
          </a:xfrm>
          <a:prstGeom prst="ellipse">
            <a:avLst/>
          </a:prstGeom>
          <a:solidFill>
            <a:srgbClr val="D9EDB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 name="Oval 100"/>
          <p:cNvSpPr/>
          <p:nvPr/>
        </p:nvSpPr>
        <p:spPr>
          <a:xfrm>
            <a:off x="8805672" y="5001768"/>
            <a:ext cx="155448" cy="155448"/>
          </a:xfrm>
          <a:prstGeom prst="ellipse">
            <a:avLst/>
          </a:prstGeom>
          <a:solidFill>
            <a:srgbClr val="D9EDB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Oval 101"/>
          <p:cNvSpPr/>
          <p:nvPr/>
        </p:nvSpPr>
        <p:spPr>
          <a:xfrm>
            <a:off x="9052559" y="5001768"/>
            <a:ext cx="155448" cy="155448"/>
          </a:xfrm>
          <a:prstGeom prst="ellipse">
            <a:avLst/>
          </a:prstGeom>
          <a:solidFill>
            <a:srgbClr val="D9EDB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 name="Oval 102"/>
          <p:cNvSpPr/>
          <p:nvPr/>
        </p:nvSpPr>
        <p:spPr>
          <a:xfrm>
            <a:off x="9299447" y="5001768"/>
            <a:ext cx="155448" cy="155448"/>
          </a:xfrm>
          <a:prstGeom prst="ellipse">
            <a:avLst/>
          </a:prstGeom>
          <a:solidFill>
            <a:srgbClr val="D9EDB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 name="Oval 103"/>
          <p:cNvSpPr/>
          <p:nvPr/>
        </p:nvSpPr>
        <p:spPr>
          <a:xfrm>
            <a:off x="9546336" y="5001768"/>
            <a:ext cx="155448" cy="155448"/>
          </a:xfrm>
          <a:prstGeom prst="ellipse">
            <a:avLst/>
          </a:prstGeom>
          <a:solidFill>
            <a:srgbClr val="D9EDB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 name="Oval 104"/>
          <p:cNvSpPr/>
          <p:nvPr/>
        </p:nvSpPr>
        <p:spPr>
          <a:xfrm>
            <a:off x="9793224" y="5001768"/>
            <a:ext cx="155448" cy="155448"/>
          </a:xfrm>
          <a:prstGeom prst="ellipse">
            <a:avLst/>
          </a:prstGeom>
          <a:solidFill>
            <a:srgbClr val="D9EDB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 name="Rounded Rectangle 105"/>
          <p:cNvSpPr/>
          <p:nvPr/>
        </p:nvSpPr>
        <p:spPr>
          <a:xfrm>
            <a:off x="10387584" y="4206240"/>
            <a:ext cx="1581912" cy="1261872"/>
          </a:xfrm>
          <a:prstGeom prst="roundRect">
            <a:avLst>
              <a:gd name="adj" fmla="val 12000"/>
            </a:avLst>
          </a:prstGeom>
          <a:solidFill>
            <a:srgbClr val="214A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 name="TextBox 106"/>
          <p:cNvSpPr txBox="1"/>
          <p:nvPr/>
        </p:nvSpPr>
        <p:spPr>
          <a:xfrm>
            <a:off x="10515600" y="4325112"/>
            <a:ext cx="1325880" cy="210312"/>
          </a:xfrm>
          <a:prstGeom prst="rect">
            <a:avLst/>
          </a:prstGeom>
          <a:noFill/>
        </p:spPr>
        <p:txBody>
          <a:bodyPr wrap="square" lIns="9144" rIns="9144" tIns="0" bIns="0" anchor="t">
            <a:spAutoFit/>
          </a:bodyPr>
          <a:lstStyle/>
          <a:p>
            <a:pPr>
              <a:spcAft>
                <a:spcPts val="200"/>
              </a:spcAft>
            </a:pPr>
            <a:r>
              <a:rPr sz="900" b="1">
                <a:solidFill>
                  <a:srgbClr val="C6D3CA"/>
                </a:solidFill>
                <a:latin typeface="Aptos"/>
              </a:rPr>
              <a:t>TEAM 09</a:t>
            </a:r>
          </a:p>
        </p:txBody>
      </p:sp>
      <p:sp>
        <p:nvSpPr>
          <p:cNvPr id="108" name="Oval 107"/>
          <p:cNvSpPr/>
          <p:nvPr/>
        </p:nvSpPr>
        <p:spPr>
          <a:xfrm>
            <a:off x="10570463" y="4700016"/>
            <a:ext cx="155448" cy="155448"/>
          </a:xfrm>
          <a:prstGeom prst="ellipse">
            <a:avLst/>
          </a:prstGeom>
          <a:solidFill>
            <a:srgbClr val="E9C9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 name="Oval 108"/>
          <p:cNvSpPr/>
          <p:nvPr/>
        </p:nvSpPr>
        <p:spPr>
          <a:xfrm>
            <a:off x="10817351" y="4700016"/>
            <a:ext cx="155448" cy="155448"/>
          </a:xfrm>
          <a:prstGeom prst="ellipse">
            <a:avLst/>
          </a:prstGeom>
          <a:solidFill>
            <a:srgbClr val="D9EDB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 name="Oval 109"/>
          <p:cNvSpPr/>
          <p:nvPr/>
        </p:nvSpPr>
        <p:spPr>
          <a:xfrm>
            <a:off x="11064239" y="4700016"/>
            <a:ext cx="155448" cy="155448"/>
          </a:xfrm>
          <a:prstGeom prst="ellipse">
            <a:avLst/>
          </a:prstGeom>
          <a:solidFill>
            <a:srgbClr val="D9EDB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 name="Oval 110"/>
          <p:cNvSpPr/>
          <p:nvPr/>
        </p:nvSpPr>
        <p:spPr>
          <a:xfrm>
            <a:off x="11311128" y="4700016"/>
            <a:ext cx="155448" cy="155448"/>
          </a:xfrm>
          <a:prstGeom prst="ellipse">
            <a:avLst/>
          </a:prstGeom>
          <a:solidFill>
            <a:srgbClr val="D9EDB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 name="Oval 111"/>
          <p:cNvSpPr/>
          <p:nvPr/>
        </p:nvSpPr>
        <p:spPr>
          <a:xfrm>
            <a:off x="11558015" y="4700016"/>
            <a:ext cx="155448" cy="155448"/>
          </a:xfrm>
          <a:prstGeom prst="ellipse">
            <a:avLst/>
          </a:prstGeom>
          <a:solidFill>
            <a:srgbClr val="D9EDB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 name="Oval 112"/>
          <p:cNvSpPr/>
          <p:nvPr/>
        </p:nvSpPr>
        <p:spPr>
          <a:xfrm>
            <a:off x="10570463" y="5001768"/>
            <a:ext cx="155448" cy="155448"/>
          </a:xfrm>
          <a:prstGeom prst="ellipse">
            <a:avLst/>
          </a:prstGeom>
          <a:solidFill>
            <a:srgbClr val="D9EDB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 name="Oval 113"/>
          <p:cNvSpPr/>
          <p:nvPr/>
        </p:nvSpPr>
        <p:spPr>
          <a:xfrm>
            <a:off x="10817351" y="5001768"/>
            <a:ext cx="155448" cy="155448"/>
          </a:xfrm>
          <a:prstGeom prst="ellipse">
            <a:avLst/>
          </a:prstGeom>
          <a:solidFill>
            <a:srgbClr val="D9EDB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 name="Oval 114"/>
          <p:cNvSpPr/>
          <p:nvPr/>
        </p:nvSpPr>
        <p:spPr>
          <a:xfrm>
            <a:off x="11064239" y="5001768"/>
            <a:ext cx="155448" cy="155448"/>
          </a:xfrm>
          <a:prstGeom prst="ellipse">
            <a:avLst/>
          </a:prstGeom>
          <a:solidFill>
            <a:srgbClr val="D9EDB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 name="Oval 115"/>
          <p:cNvSpPr/>
          <p:nvPr/>
        </p:nvSpPr>
        <p:spPr>
          <a:xfrm>
            <a:off x="11311128" y="5001768"/>
            <a:ext cx="155448" cy="155448"/>
          </a:xfrm>
          <a:prstGeom prst="ellipse">
            <a:avLst/>
          </a:prstGeom>
          <a:solidFill>
            <a:srgbClr val="D9EDB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 name="Oval 116"/>
          <p:cNvSpPr/>
          <p:nvPr/>
        </p:nvSpPr>
        <p:spPr>
          <a:xfrm>
            <a:off x="11558015" y="5001768"/>
            <a:ext cx="155448" cy="155448"/>
          </a:xfrm>
          <a:prstGeom prst="ellipse">
            <a:avLst/>
          </a:prstGeom>
          <a:solidFill>
            <a:srgbClr val="D9EDB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 name="Rounded Rectangle 117"/>
          <p:cNvSpPr/>
          <p:nvPr/>
        </p:nvSpPr>
        <p:spPr>
          <a:xfrm>
            <a:off x="12152376" y="4206240"/>
            <a:ext cx="1581912" cy="1261872"/>
          </a:xfrm>
          <a:prstGeom prst="roundRect">
            <a:avLst>
              <a:gd name="adj" fmla="val 12000"/>
            </a:avLst>
          </a:prstGeom>
          <a:solidFill>
            <a:srgbClr val="214A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 name="TextBox 118"/>
          <p:cNvSpPr txBox="1"/>
          <p:nvPr/>
        </p:nvSpPr>
        <p:spPr>
          <a:xfrm>
            <a:off x="12280392" y="4325112"/>
            <a:ext cx="1325880" cy="210312"/>
          </a:xfrm>
          <a:prstGeom prst="rect">
            <a:avLst/>
          </a:prstGeom>
          <a:noFill/>
        </p:spPr>
        <p:txBody>
          <a:bodyPr wrap="square" lIns="9144" rIns="9144" tIns="0" bIns="0" anchor="t">
            <a:spAutoFit/>
          </a:bodyPr>
          <a:lstStyle/>
          <a:p>
            <a:pPr>
              <a:spcAft>
                <a:spcPts val="200"/>
              </a:spcAft>
            </a:pPr>
            <a:r>
              <a:rPr sz="900" b="1">
                <a:solidFill>
                  <a:srgbClr val="C6D3CA"/>
                </a:solidFill>
                <a:latin typeface="Aptos"/>
              </a:rPr>
              <a:t>TEAM 10</a:t>
            </a:r>
          </a:p>
        </p:txBody>
      </p:sp>
      <p:sp>
        <p:nvSpPr>
          <p:cNvPr id="120" name="Oval 119"/>
          <p:cNvSpPr/>
          <p:nvPr/>
        </p:nvSpPr>
        <p:spPr>
          <a:xfrm>
            <a:off x="12335255" y="4700016"/>
            <a:ext cx="155448" cy="155448"/>
          </a:xfrm>
          <a:prstGeom prst="ellipse">
            <a:avLst/>
          </a:prstGeom>
          <a:solidFill>
            <a:srgbClr val="E9C9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 name="Oval 120"/>
          <p:cNvSpPr/>
          <p:nvPr/>
        </p:nvSpPr>
        <p:spPr>
          <a:xfrm>
            <a:off x="12582143" y="4700016"/>
            <a:ext cx="155448" cy="155448"/>
          </a:xfrm>
          <a:prstGeom prst="ellipse">
            <a:avLst/>
          </a:prstGeom>
          <a:solidFill>
            <a:srgbClr val="D9EDB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 name="Oval 121"/>
          <p:cNvSpPr/>
          <p:nvPr/>
        </p:nvSpPr>
        <p:spPr>
          <a:xfrm>
            <a:off x="12829031" y="4700016"/>
            <a:ext cx="155448" cy="155448"/>
          </a:xfrm>
          <a:prstGeom prst="ellipse">
            <a:avLst/>
          </a:prstGeom>
          <a:solidFill>
            <a:srgbClr val="D9EDB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 name="Oval 122"/>
          <p:cNvSpPr/>
          <p:nvPr/>
        </p:nvSpPr>
        <p:spPr>
          <a:xfrm>
            <a:off x="13075919" y="4700016"/>
            <a:ext cx="155448" cy="155448"/>
          </a:xfrm>
          <a:prstGeom prst="ellipse">
            <a:avLst/>
          </a:prstGeom>
          <a:solidFill>
            <a:srgbClr val="D9EDB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 name="Oval 123"/>
          <p:cNvSpPr/>
          <p:nvPr/>
        </p:nvSpPr>
        <p:spPr>
          <a:xfrm>
            <a:off x="13322807" y="4700016"/>
            <a:ext cx="155448" cy="155448"/>
          </a:xfrm>
          <a:prstGeom prst="ellipse">
            <a:avLst/>
          </a:prstGeom>
          <a:solidFill>
            <a:srgbClr val="D9EDB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 name="Oval 124"/>
          <p:cNvSpPr/>
          <p:nvPr/>
        </p:nvSpPr>
        <p:spPr>
          <a:xfrm>
            <a:off x="12335255" y="5001768"/>
            <a:ext cx="155448" cy="155448"/>
          </a:xfrm>
          <a:prstGeom prst="ellipse">
            <a:avLst/>
          </a:prstGeom>
          <a:solidFill>
            <a:srgbClr val="D9EDB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 name="Oval 125"/>
          <p:cNvSpPr/>
          <p:nvPr/>
        </p:nvSpPr>
        <p:spPr>
          <a:xfrm>
            <a:off x="12582143" y="5001768"/>
            <a:ext cx="155448" cy="155448"/>
          </a:xfrm>
          <a:prstGeom prst="ellipse">
            <a:avLst/>
          </a:prstGeom>
          <a:solidFill>
            <a:srgbClr val="D9EDB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 name="Oval 126"/>
          <p:cNvSpPr/>
          <p:nvPr/>
        </p:nvSpPr>
        <p:spPr>
          <a:xfrm>
            <a:off x="12829031" y="5001768"/>
            <a:ext cx="155448" cy="155448"/>
          </a:xfrm>
          <a:prstGeom prst="ellipse">
            <a:avLst/>
          </a:prstGeom>
          <a:solidFill>
            <a:srgbClr val="D9EDB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 name="Oval 127"/>
          <p:cNvSpPr/>
          <p:nvPr/>
        </p:nvSpPr>
        <p:spPr>
          <a:xfrm>
            <a:off x="13075919" y="5001768"/>
            <a:ext cx="155448" cy="155448"/>
          </a:xfrm>
          <a:prstGeom prst="ellipse">
            <a:avLst/>
          </a:prstGeom>
          <a:solidFill>
            <a:srgbClr val="D9EDB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 name="Oval 128"/>
          <p:cNvSpPr/>
          <p:nvPr/>
        </p:nvSpPr>
        <p:spPr>
          <a:xfrm>
            <a:off x="13322807" y="5001768"/>
            <a:ext cx="155448" cy="155448"/>
          </a:xfrm>
          <a:prstGeom prst="ellipse">
            <a:avLst/>
          </a:prstGeom>
          <a:solidFill>
            <a:srgbClr val="D9EDB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 name="TextBox 129"/>
          <p:cNvSpPr txBox="1"/>
          <p:nvPr/>
        </p:nvSpPr>
        <p:spPr>
          <a:xfrm>
            <a:off x="5111496" y="5715000"/>
            <a:ext cx="8732520" cy="265176"/>
          </a:xfrm>
          <a:prstGeom prst="rect">
            <a:avLst/>
          </a:prstGeom>
          <a:noFill/>
        </p:spPr>
        <p:txBody>
          <a:bodyPr wrap="square" lIns="9144" rIns="9144" tIns="0" bIns="0" anchor="t">
            <a:spAutoFit/>
          </a:bodyPr>
          <a:lstStyle/>
          <a:p>
            <a:pPr>
              <a:spcAft>
                <a:spcPts val="200"/>
              </a:spcAft>
            </a:pPr>
            <a:r>
              <a:rPr sz="1000" b="1">
                <a:solidFill>
                  <a:srgbClr val="D9EDB7"/>
                </a:solidFill>
                <a:latin typeface="Aptos"/>
              </a:rPr>
              <a:t>LEAD + SPECIALISTS  /  SHARED EVIDENCE  /  INDEPENDENT REVIEW</a:t>
            </a:r>
          </a:p>
        </p:txBody>
      </p:sp>
      <p:sp>
        <p:nvSpPr>
          <p:cNvPr id="131" name="Rounded Rectangle 130"/>
          <p:cNvSpPr/>
          <p:nvPr/>
        </p:nvSpPr>
        <p:spPr>
          <a:xfrm>
            <a:off x="731520" y="6419088"/>
            <a:ext cx="4206240" cy="868680"/>
          </a:xfrm>
          <a:prstGeom prst="roundRect">
            <a:avLst>
              <a:gd name="adj" fmla="val 12000"/>
            </a:avLst>
          </a:prstGeom>
          <a:solidFill>
            <a:srgbClr val="214A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 name="TextBox 131"/>
          <p:cNvSpPr txBox="1"/>
          <p:nvPr/>
        </p:nvSpPr>
        <p:spPr>
          <a:xfrm>
            <a:off x="896112" y="6528816"/>
            <a:ext cx="3840480" cy="292608"/>
          </a:xfrm>
          <a:prstGeom prst="rect">
            <a:avLst/>
          </a:prstGeom>
          <a:noFill/>
        </p:spPr>
        <p:txBody>
          <a:bodyPr wrap="square" lIns="9144" rIns="9144" tIns="0" bIns="0" anchor="t">
            <a:spAutoFit/>
          </a:bodyPr>
          <a:lstStyle/>
          <a:p>
            <a:pPr>
              <a:spcAft>
                <a:spcPts val="200"/>
              </a:spcAft>
            </a:pPr>
            <a:r>
              <a:rPr sz="1700" b="1">
                <a:solidFill>
                  <a:srgbClr val="F8F8F2"/>
                </a:solidFill>
                <a:latin typeface="Aptos"/>
              </a:rPr>
              <a:t>Communicate</a:t>
            </a:r>
          </a:p>
        </p:txBody>
      </p:sp>
      <p:sp>
        <p:nvSpPr>
          <p:cNvPr id="133" name="TextBox 132"/>
          <p:cNvSpPr txBox="1"/>
          <p:nvPr/>
        </p:nvSpPr>
        <p:spPr>
          <a:xfrm>
            <a:off x="896112" y="6931152"/>
            <a:ext cx="3840480" cy="219456"/>
          </a:xfrm>
          <a:prstGeom prst="rect">
            <a:avLst/>
          </a:prstGeom>
          <a:noFill/>
        </p:spPr>
        <p:txBody>
          <a:bodyPr wrap="square" lIns="9144" rIns="9144" tIns="0" bIns="0" anchor="t">
            <a:spAutoFit/>
          </a:bodyPr>
          <a:lstStyle/>
          <a:p>
            <a:pPr>
              <a:spcAft>
                <a:spcPts val="200"/>
              </a:spcAft>
            </a:pPr>
            <a:r>
              <a:rPr sz="1100" b="0">
                <a:solidFill>
                  <a:srgbClr val="C6D3CA"/>
                </a:solidFill>
                <a:latin typeface="Aptos"/>
              </a:rPr>
              <a:t>Native messages + fleet relay</a:t>
            </a:r>
          </a:p>
        </p:txBody>
      </p:sp>
      <p:sp>
        <p:nvSpPr>
          <p:cNvPr id="134" name="Rounded Rectangle 133"/>
          <p:cNvSpPr/>
          <p:nvPr/>
        </p:nvSpPr>
        <p:spPr>
          <a:xfrm>
            <a:off x="5157216" y="6419088"/>
            <a:ext cx="4206240" cy="868680"/>
          </a:xfrm>
          <a:prstGeom prst="roundRect">
            <a:avLst>
              <a:gd name="adj" fmla="val 12000"/>
            </a:avLst>
          </a:prstGeom>
          <a:solidFill>
            <a:srgbClr val="214A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 name="TextBox 134"/>
          <p:cNvSpPr txBox="1"/>
          <p:nvPr/>
        </p:nvSpPr>
        <p:spPr>
          <a:xfrm>
            <a:off x="5321807" y="6528816"/>
            <a:ext cx="3840480" cy="292608"/>
          </a:xfrm>
          <a:prstGeom prst="rect">
            <a:avLst/>
          </a:prstGeom>
          <a:noFill/>
        </p:spPr>
        <p:txBody>
          <a:bodyPr wrap="square" lIns="9144" rIns="9144" tIns="0" bIns="0" anchor="t">
            <a:spAutoFit/>
          </a:bodyPr>
          <a:lstStyle/>
          <a:p>
            <a:pPr>
              <a:spcAft>
                <a:spcPts val="200"/>
              </a:spcAft>
            </a:pPr>
            <a:r>
              <a:rPr sz="1700" b="1">
                <a:solidFill>
                  <a:srgbClr val="F8F8F2"/>
                </a:solidFill>
                <a:latin typeface="Aptos"/>
              </a:rPr>
              <a:t>Challenge</a:t>
            </a:r>
          </a:p>
        </p:txBody>
      </p:sp>
      <p:sp>
        <p:nvSpPr>
          <p:cNvPr id="136" name="TextBox 135"/>
          <p:cNvSpPr txBox="1"/>
          <p:nvPr/>
        </p:nvSpPr>
        <p:spPr>
          <a:xfrm>
            <a:off x="5321807" y="6931152"/>
            <a:ext cx="3840480" cy="219456"/>
          </a:xfrm>
          <a:prstGeom prst="rect">
            <a:avLst/>
          </a:prstGeom>
          <a:noFill/>
        </p:spPr>
        <p:txBody>
          <a:bodyPr wrap="square" lIns="9144" rIns="9144" tIns="0" bIns="0" anchor="t">
            <a:spAutoFit/>
          </a:bodyPr>
          <a:lstStyle/>
          <a:p>
            <a:pPr>
              <a:spcAft>
                <a:spcPts val="200"/>
              </a:spcAft>
            </a:pPr>
            <a:r>
              <a:rPr sz="1100" b="0">
                <a:solidFill>
                  <a:srgbClr val="C6D3CA"/>
                </a:solidFill>
                <a:latin typeface="Aptos"/>
              </a:rPr>
              <a:t>Shared board + peer review</a:t>
            </a:r>
          </a:p>
        </p:txBody>
      </p:sp>
      <p:sp>
        <p:nvSpPr>
          <p:cNvPr id="137" name="Rounded Rectangle 136"/>
          <p:cNvSpPr/>
          <p:nvPr/>
        </p:nvSpPr>
        <p:spPr>
          <a:xfrm>
            <a:off x="9582912" y="6419088"/>
            <a:ext cx="4206240" cy="868680"/>
          </a:xfrm>
          <a:prstGeom prst="roundRect">
            <a:avLst>
              <a:gd name="adj" fmla="val 12000"/>
            </a:avLst>
          </a:prstGeom>
          <a:solidFill>
            <a:srgbClr val="214A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 name="TextBox 137"/>
          <p:cNvSpPr txBox="1"/>
          <p:nvPr/>
        </p:nvSpPr>
        <p:spPr>
          <a:xfrm>
            <a:off x="9747504" y="6528816"/>
            <a:ext cx="3840480" cy="292608"/>
          </a:xfrm>
          <a:prstGeom prst="rect">
            <a:avLst/>
          </a:prstGeom>
          <a:noFill/>
        </p:spPr>
        <p:txBody>
          <a:bodyPr wrap="square" lIns="9144" rIns="9144" tIns="0" bIns="0" anchor="t">
            <a:spAutoFit/>
          </a:bodyPr>
          <a:lstStyle/>
          <a:p>
            <a:pPr>
              <a:spcAft>
                <a:spcPts val="200"/>
              </a:spcAft>
            </a:pPr>
            <a:r>
              <a:rPr sz="1700" b="1">
                <a:solidFill>
                  <a:srgbClr val="F8F8F2"/>
                </a:solidFill>
                <a:latin typeface="Aptos"/>
              </a:rPr>
              <a:t>Recover</a:t>
            </a:r>
          </a:p>
        </p:txBody>
      </p:sp>
      <p:sp>
        <p:nvSpPr>
          <p:cNvPr id="139" name="TextBox 138"/>
          <p:cNvSpPr txBox="1"/>
          <p:nvPr/>
        </p:nvSpPr>
        <p:spPr>
          <a:xfrm>
            <a:off x="9747504" y="6931152"/>
            <a:ext cx="3840480" cy="219456"/>
          </a:xfrm>
          <a:prstGeom prst="rect">
            <a:avLst/>
          </a:prstGeom>
          <a:noFill/>
        </p:spPr>
        <p:txBody>
          <a:bodyPr wrap="square" lIns="9144" rIns="9144" tIns="0" bIns="0" anchor="t">
            <a:spAutoFit/>
          </a:bodyPr>
          <a:lstStyle/>
          <a:p>
            <a:pPr>
              <a:spcAft>
                <a:spcPts val="200"/>
              </a:spcAft>
            </a:pPr>
            <a:r>
              <a:rPr sz="1100" b="0">
                <a:solidFill>
                  <a:srgbClr val="C6D3CA"/>
                </a:solidFill>
                <a:latin typeface="Aptos"/>
              </a:rPr>
              <a:t>Saved context; hold uncertain retries</a:t>
            </a:r>
          </a:p>
        </p:txBody>
      </p:sp>
      <p:sp>
        <p:nvSpPr>
          <p:cNvPr id="140" name="TextBox 139"/>
          <p:cNvSpPr txBox="1"/>
          <p:nvPr/>
        </p:nvSpPr>
        <p:spPr>
          <a:xfrm>
            <a:off x="749808" y="7434072"/>
            <a:ext cx="12984480" cy="228600"/>
          </a:xfrm>
          <a:prstGeom prst="rect">
            <a:avLst/>
          </a:prstGeom>
          <a:noFill/>
        </p:spPr>
        <p:txBody>
          <a:bodyPr wrap="square" lIns="9144" rIns="9144" tIns="0" bIns="0" anchor="t">
            <a:spAutoFit/>
          </a:bodyPr>
          <a:lstStyle/>
          <a:p>
            <a:pPr>
              <a:spcAft>
                <a:spcPts val="200"/>
              </a:spcAft>
            </a:pPr>
            <a:r>
              <a:rPr sz="1100" b="0">
                <a:solidFill>
                  <a:srgbClr val="E9C977"/>
                </a:solidFill>
                <a:latin typeface="Aptos"/>
              </a:rPr>
              <a:t>Swarm design and deployed connector. Exact 100-agent customer completion remains to be qualified.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12332D"/>
        </a:solidFill>
        <a:effectLst/>
      </p:bgPr>
    </p:bg>
    <p:spTree>
      <p:nvGrpSpPr>
        <p:cNvPr id="1" name=""/>
        <p:cNvGrpSpPr/>
        <p:nvPr/>
      </p:nvGrpSpPr>
      <p:grpSpPr/>
      <p:sp>
        <p:nvSpPr>
          <p:cNvPr id="2" name="Rectangle 1"/>
          <p:cNvSpPr/>
          <p:nvPr/>
        </p:nvSpPr>
        <p:spPr>
          <a:xfrm>
            <a:off x="585216" y="512064"/>
            <a:ext cx="457200" cy="64008"/>
          </a:xfrm>
          <a:prstGeom prst="rect">
            <a:avLst/>
          </a:prstGeom>
          <a:solidFill>
            <a:srgbClr val="D9EDB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207008" y="374904"/>
            <a:ext cx="11887200" cy="320040"/>
          </a:xfrm>
          <a:prstGeom prst="rect">
            <a:avLst/>
          </a:prstGeom>
          <a:noFill/>
        </p:spPr>
        <p:txBody>
          <a:bodyPr wrap="square" lIns="9144" rIns="9144" tIns="0" bIns="0" anchor="t">
            <a:spAutoFit/>
          </a:bodyPr>
          <a:lstStyle/>
          <a:p>
            <a:pPr>
              <a:spcAft>
                <a:spcPts val="200"/>
              </a:spcAft>
            </a:pPr>
            <a:r>
              <a:rPr sz="1100" b="1">
                <a:solidFill>
                  <a:srgbClr val="D9EDB7"/>
                </a:solidFill>
                <a:latin typeface="Aptos"/>
              </a:rPr>
              <a:t>04 / DEPLOYMENT, DATA &amp; PROOF</a:t>
            </a:r>
          </a:p>
        </p:txBody>
      </p:sp>
      <p:sp>
        <p:nvSpPr>
          <p:cNvPr id="4" name="TextBox 3"/>
          <p:cNvSpPr txBox="1"/>
          <p:nvPr/>
        </p:nvSpPr>
        <p:spPr>
          <a:xfrm>
            <a:off x="658368" y="7772400"/>
            <a:ext cx="10972800" cy="228600"/>
          </a:xfrm>
          <a:prstGeom prst="rect">
            <a:avLst/>
          </a:prstGeom>
          <a:noFill/>
        </p:spPr>
        <p:txBody>
          <a:bodyPr wrap="square" lIns="9144" rIns="9144" tIns="0" bIns="0" anchor="t">
            <a:spAutoFit/>
          </a:bodyPr>
          <a:lstStyle/>
          <a:p>
            <a:pPr>
              <a:spcAft>
                <a:spcPts val="200"/>
              </a:spcAft>
            </a:pPr>
            <a:r>
              <a:rPr sz="900" b="0">
                <a:solidFill>
                  <a:srgbClr val="C6D3CA"/>
                </a:solidFill>
                <a:latin typeface="Aptos"/>
              </a:rPr>
              <a:t>SAVIA  /  ONE VOICE. A NETWORK BEHIND IT.</a:t>
            </a:r>
          </a:p>
        </p:txBody>
      </p:sp>
      <p:sp>
        <p:nvSpPr>
          <p:cNvPr id="5" name="TextBox 4"/>
          <p:cNvSpPr txBox="1"/>
          <p:nvPr/>
        </p:nvSpPr>
        <p:spPr>
          <a:xfrm>
            <a:off x="13002768" y="7754112"/>
            <a:ext cx="914400" cy="256032"/>
          </a:xfrm>
          <a:prstGeom prst="rect">
            <a:avLst/>
          </a:prstGeom>
          <a:noFill/>
        </p:spPr>
        <p:txBody>
          <a:bodyPr wrap="square" lIns="9144" rIns="9144" tIns="0" bIns="0" anchor="t">
            <a:spAutoFit/>
          </a:bodyPr>
          <a:lstStyle/>
          <a:p>
            <a:pPr>
              <a:spcAft>
                <a:spcPts val="200"/>
              </a:spcAft>
            </a:pPr>
            <a:r>
              <a:rPr sz="1000" b="1">
                <a:solidFill>
                  <a:srgbClr val="D9EDB7"/>
                </a:solidFill>
                <a:latin typeface="Aptos"/>
              </a:rPr>
              <a:t>05 / 06</a:t>
            </a:r>
          </a:p>
        </p:txBody>
      </p:sp>
      <p:sp>
        <p:nvSpPr>
          <p:cNvPr id="6" name="TextBox 5"/>
          <p:cNvSpPr txBox="1"/>
          <p:nvPr/>
        </p:nvSpPr>
        <p:spPr>
          <a:xfrm>
            <a:off x="658368" y="978408"/>
            <a:ext cx="13533120" cy="1444752"/>
          </a:xfrm>
          <a:prstGeom prst="rect">
            <a:avLst/>
          </a:prstGeom>
          <a:noFill/>
        </p:spPr>
        <p:txBody>
          <a:bodyPr wrap="square" lIns="9144" rIns="9144" tIns="0" bIns="0" anchor="t">
            <a:spAutoFit/>
          </a:bodyPr>
          <a:lstStyle/>
          <a:p>
            <a:pPr>
              <a:spcAft>
                <a:spcPts val="200"/>
              </a:spcAft>
            </a:pPr>
            <a:r>
              <a:rPr sz="3800" b="1">
                <a:solidFill>
                  <a:srgbClr val="F8F8F2"/>
                </a:solidFill>
                <a:latin typeface="Aptos"/>
              </a:rPr>
              <a:t>The bank controls the stack.</a:t>
            </a:r>
          </a:p>
          <a:p>
            <a:pPr>
              <a:spcAft>
                <a:spcPts val="200"/>
              </a:spcAft>
            </a:pPr>
            <a:r>
              <a:rPr sz="3800" b="1">
                <a:solidFill>
                  <a:srgbClr val="F8F8F2"/>
                </a:solidFill>
                <a:latin typeface="Aptos"/>
              </a:rPr>
              <a:t>The work leaves a trace.</a:t>
            </a:r>
          </a:p>
        </p:txBody>
      </p:sp>
      <p:sp>
        <p:nvSpPr>
          <p:cNvPr id="7" name="Rounded Rectangle 6"/>
          <p:cNvSpPr/>
          <p:nvPr/>
        </p:nvSpPr>
        <p:spPr>
          <a:xfrm>
            <a:off x="731520" y="2688336"/>
            <a:ext cx="3090672" cy="1234440"/>
          </a:xfrm>
          <a:prstGeom prst="roundRect">
            <a:avLst>
              <a:gd name="adj" fmla="val 12000"/>
            </a:avLst>
          </a:prstGeom>
          <a:solidFill>
            <a:srgbClr val="214A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05256" y="2871216"/>
            <a:ext cx="2724912" cy="265176"/>
          </a:xfrm>
          <a:prstGeom prst="rect">
            <a:avLst/>
          </a:prstGeom>
          <a:noFill/>
        </p:spPr>
        <p:txBody>
          <a:bodyPr wrap="square" lIns="9144" rIns="9144" tIns="0" bIns="0" anchor="t">
            <a:spAutoFit/>
          </a:bodyPr>
          <a:lstStyle/>
          <a:p>
            <a:pPr>
              <a:spcAft>
                <a:spcPts val="200"/>
              </a:spcAft>
            </a:pPr>
            <a:r>
              <a:rPr sz="1000" b="1">
                <a:solidFill>
                  <a:srgbClr val="D9EDB7"/>
                </a:solidFill>
                <a:latin typeface="Aptos"/>
              </a:rPr>
              <a:t>CUSTOMER</a:t>
            </a:r>
          </a:p>
        </p:txBody>
      </p:sp>
      <p:sp>
        <p:nvSpPr>
          <p:cNvPr id="9" name="TextBox 8"/>
          <p:cNvSpPr txBox="1"/>
          <p:nvPr/>
        </p:nvSpPr>
        <p:spPr>
          <a:xfrm>
            <a:off x="905256" y="3364992"/>
            <a:ext cx="2743200" cy="393192"/>
          </a:xfrm>
          <a:prstGeom prst="rect">
            <a:avLst/>
          </a:prstGeom>
          <a:noFill/>
        </p:spPr>
        <p:txBody>
          <a:bodyPr wrap="square" lIns="9144" rIns="9144" tIns="0" bIns="0" anchor="t">
            <a:spAutoFit/>
          </a:bodyPr>
          <a:lstStyle/>
          <a:p>
            <a:pPr>
              <a:spcAft>
                <a:spcPts val="200"/>
              </a:spcAft>
            </a:pPr>
            <a:r>
              <a:rPr sz="2000" b="1">
                <a:solidFill>
                  <a:srgbClr val="F8F8F2"/>
                </a:solidFill>
                <a:latin typeface="Aptos"/>
              </a:rPr>
              <a:t>Voice + text</a:t>
            </a:r>
          </a:p>
        </p:txBody>
      </p:sp>
      <p:sp>
        <p:nvSpPr>
          <p:cNvPr id="10" name="TextBox 9"/>
          <p:cNvSpPr txBox="1"/>
          <p:nvPr/>
        </p:nvSpPr>
        <p:spPr>
          <a:xfrm>
            <a:off x="3831336" y="3145536"/>
            <a:ext cx="228600" cy="457200"/>
          </a:xfrm>
          <a:prstGeom prst="rect">
            <a:avLst/>
          </a:prstGeom>
          <a:noFill/>
        </p:spPr>
        <p:txBody>
          <a:bodyPr wrap="square" lIns="9144" rIns="9144" tIns="0" bIns="0" anchor="t">
            <a:spAutoFit/>
          </a:bodyPr>
          <a:lstStyle/>
          <a:p>
            <a:pPr>
              <a:spcAft>
                <a:spcPts val="200"/>
              </a:spcAft>
            </a:pPr>
            <a:r>
              <a:rPr sz="1600" b="1">
                <a:solidFill>
                  <a:srgbClr val="D9EDB7"/>
                </a:solidFill>
                <a:latin typeface="Aptos"/>
              </a:rPr>
              <a:t>→</a:t>
            </a:r>
          </a:p>
        </p:txBody>
      </p:sp>
      <p:sp>
        <p:nvSpPr>
          <p:cNvPr id="11" name="Rounded Rectangle 10"/>
          <p:cNvSpPr/>
          <p:nvPr/>
        </p:nvSpPr>
        <p:spPr>
          <a:xfrm>
            <a:off x="4069080" y="2688336"/>
            <a:ext cx="3090672" cy="1234440"/>
          </a:xfrm>
          <a:prstGeom prst="roundRect">
            <a:avLst>
              <a:gd name="adj" fmla="val 12000"/>
            </a:avLst>
          </a:prstGeom>
          <a:solidFill>
            <a:srgbClr val="214A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242816" y="2871216"/>
            <a:ext cx="2724912" cy="265176"/>
          </a:xfrm>
          <a:prstGeom prst="rect">
            <a:avLst/>
          </a:prstGeom>
          <a:noFill/>
        </p:spPr>
        <p:txBody>
          <a:bodyPr wrap="square" lIns="9144" rIns="9144" tIns="0" bIns="0" anchor="t">
            <a:spAutoFit/>
          </a:bodyPr>
          <a:lstStyle/>
          <a:p>
            <a:pPr>
              <a:spcAft>
                <a:spcPts val="200"/>
              </a:spcAft>
            </a:pPr>
            <a:r>
              <a:rPr sz="1000" b="1">
                <a:solidFill>
                  <a:srgbClr val="D9EDB7"/>
                </a:solidFill>
                <a:latin typeface="Aptos"/>
              </a:rPr>
              <a:t>SAVIA HOST</a:t>
            </a:r>
          </a:p>
        </p:txBody>
      </p:sp>
      <p:sp>
        <p:nvSpPr>
          <p:cNvPr id="13" name="TextBox 12"/>
          <p:cNvSpPr txBox="1"/>
          <p:nvPr/>
        </p:nvSpPr>
        <p:spPr>
          <a:xfrm>
            <a:off x="4242816" y="3364992"/>
            <a:ext cx="2743200" cy="393192"/>
          </a:xfrm>
          <a:prstGeom prst="rect">
            <a:avLst/>
          </a:prstGeom>
          <a:noFill/>
        </p:spPr>
        <p:txBody>
          <a:bodyPr wrap="square" lIns="9144" rIns="9144" tIns="0" bIns="0" anchor="t">
            <a:spAutoFit/>
          </a:bodyPr>
          <a:lstStyle/>
          <a:p>
            <a:pPr>
              <a:spcAft>
                <a:spcPts val="200"/>
              </a:spcAft>
            </a:pPr>
            <a:r>
              <a:rPr sz="2000" b="1">
                <a:solidFill>
                  <a:srgbClr val="F8F8F2"/>
                </a:solidFill>
                <a:latin typeface="Aptos"/>
              </a:rPr>
              <a:t>Case + consent</a:t>
            </a:r>
          </a:p>
        </p:txBody>
      </p:sp>
      <p:sp>
        <p:nvSpPr>
          <p:cNvPr id="14" name="TextBox 13"/>
          <p:cNvSpPr txBox="1"/>
          <p:nvPr/>
        </p:nvSpPr>
        <p:spPr>
          <a:xfrm>
            <a:off x="7168896" y="3145536"/>
            <a:ext cx="228600" cy="457200"/>
          </a:xfrm>
          <a:prstGeom prst="rect">
            <a:avLst/>
          </a:prstGeom>
          <a:noFill/>
        </p:spPr>
        <p:txBody>
          <a:bodyPr wrap="square" lIns="9144" rIns="9144" tIns="0" bIns="0" anchor="t">
            <a:spAutoFit/>
          </a:bodyPr>
          <a:lstStyle/>
          <a:p>
            <a:pPr>
              <a:spcAft>
                <a:spcPts val="200"/>
              </a:spcAft>
            </a:pPr>
            <a:r>
              <a:rPr sz="1600" b="1">
                <a:solidFill>
                  <a:srgbClr val="D9EDB7"/>
                </a:solidFill>
                <a:latin typeface="Aptos"/>
              </a:rPr>
              <a:t>→</a:t>
            </a:r>
          </a:p>
        </p:txBody>
      </p:sp>
      <p:sp>
        <p:nvSpPr>
          <p:cNvPr id="15" name="Rounded Rectangle 14"/>
          <p:cNvSpPr/>
          <p:nvPr/>
        </p:nvSpPr>
        <p:spPr>
          <a:xfrm>
            <a:off x="7406640" y="2688336"/>
            <a:ext cx="3090672" cy="1234440"/>
          </a:xfrm>
          <a:prstGeom prst="roundRect">
            <a:avLst>
              <a:gd name="adj" fmla="val 12000"/>
            </a:avLst>
          </a:prstGeom>
          <a:solidFill>
            <a:srgbClr val="214A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580375" y="2871216"/>
            <a:ext cx="2724912" cy="265176"/>
          </a:xfrm>
          <a:prstGeom prst="rect">
            <a:avLst/>
          </a:prstGeom>
          <a:noFill/>
        </p:spPr>
        <p:txBody>
          <a:bodyPr wrap="square" lIns="9144" rIns="9144" tIns="0" bIns="0" anchor="t">
            <a:spAutoFit/>
          </a:bodyPr>
          <a:lstStyle/>
          <a:p>
            <a:pPr>
              <a:spcAft>
                <a:spcPts val="200"/>
              </a:spcAft>
            </a:pPr>
            <a:r>
              <a:rPr sz="1000" b="1">
                <a:solidFill>
                  <a:srgbClr val="D9EDB7"/>
                </a:solidFill>
                <a:latin typeface="Aptos"/>
              </a:rPr>
              <a:t>FLUJO</a:t>
            </a:r>
          </a:p>
        </p:txBody>
      </p:sp>
      <p:sp>
        <p:nvSpPr>
          <p:cNvPr id="17" name="TextBox 16"/>
          <p:cNvSpPr txBox="1"/>
          <p:nvPr/>
        </p:nvSpPr>
        <p:spPr>
          <a:xfrm>
            <a:off x="7580375" y="3364992"/>
            <a:ext cx="2743200" cy="393192"/>
          </a:xfrm>
          <a:prstGeom prst="rect">
            <a:avLst/>
          </a:prstGeom>
          <a:noFill/>
        </p:spPr>
        <p:txBody>
          <a:bodyPr wrap="square" lIns="9144" rIns="9144" tIns="0" bIns="0" anchor="t">
            <a:spAutoFit/>
          </a:bodyPr>
          <a:lstStyle/>
          <a:p>
            <a:pPr>
              <a:spcAft>
                <a:spcPts val="200"/>
              </a:spcAft>
            </a:pPr>
            <a:r>
              <a:rPr sz="2000" b="1">
                <a:solidFill>
                  <a:srgbClr val="F8F8F2"/>
                </a:solidFill>
                <a:latin typeface="Aptos"/>
              </a:rPr>
              <a:t>Agents + statistics</a:t>
            </a:r>
          </a:p>
        </p:txBody>
      </p:sp>
      <p:sp>
        <p:nvSpPr>
          <p:cNvPr id="18" name="TextBox 17"/>
          <p:cNvSpPr txBox="1"/>
          <p:nvPr/>
        </p:nvSpPr>
        <p:spPr>
          <a:xfrm>
            <a:off x="10506456" y="3145536"/>
            <a:ext cx="228600" cy="457200"/>
          </a:xfrm>
          <a:prstGeom prst="rect">
            <a:avLst/>
          </a:prstGeom>
          <a:noFill/>
        </p:spPr>
        <p:txBody>
          <a:bodyPr wrap="square" lIns="9144" rIns="9144" tIns="0" bIns="0" anchor="t">
            <a:spAutoFit/>
          </a:bodyPr>
          <a:lstStyle/>
          <a:p>
            <a:pPr>
              <a:spcAft>
                <a:spcPts val="200"/>
              </a:spcAft>
            </a:pPr>
            <a:r>
              <a:rPr sz="1600" b="1">
                <a:solidFill>
                  <a:srgbClr val="D9EDB7"/>
                </a:solidFill>
                <a:latin typeface="Aptos"/>
              </a:rPr>
              <a:t>→</a:t>
            </a:r>
          </a:p>
        </p:txBody>
      </p:sp>
      <p:sp>
        <p:nvSpPr>
          <p:cNvPr id="19" name="Rounded Rectangle 18"/>
          <p:cNvSpPr/>
          <p:nvPr/>
        </p:nvSpPr>
        <p:spPr>
          <a:xfrm>
            <a:off x="10744200" y="2688336"/>
            <a:ext cx="3090672" cy="1234440"/>
          </a:xfrm>
          <a:prstGeom prst="roundRect">
            <a:avLst>
              <a:gd name="adj" fmla="val 12000"/>
            </a:avLst>
          </a:prstGeom>
          <a:solidFill>
            <a:srgbClr val="214A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917936" y="2871216"/>
            <a:ext cx="2724912" cy="265176"/>
          </a:xfrm>
          <a:prstGeom prst="rect">
            <a:avLst/>
          </a:prstGeom>
          <a:noFill/>
        </p:spPr>
        <p:txBody>
          <a:bodyPr wrap="square" lIns="9144" rIns="9144" tIns="0" bIns="0" anchor="t">
            <a:spAutoFit/>
          </a:bodyPr>
          <a:lstStyle/>
          <a:p>
            <a:pPr>
              <a:spcAft>
                <a:spcPts val="200"/>
              </a:spcAft>
            </a:pPr>
            <a:r>
              <a:rPr sz="1000" b="1">
                <a:solidFill>
                  <a:srgbClr val="D9EDB7"/>
                </a:solidFill>
                <a:latin typeface="Aptos"/>
              </a:rPr>
              <a:t>BANKING MCP</a:t>
            </a:r>
          </a:p>
        </p:txBody>
      </p:sp>
      <p:sp>
        <p:nvSpPr>
          <p:cNvPr id="21" name="TextBox 20"/>
          <p:cNvSpPr txBox="1"/>
          <p:nvPr/>
        </p:nvSpPr>
        <p:spPr>
          <a:xfrm>
            <a:off x="10917936" y="3364992"/>
            <a:ext cx="2743200" cy="393192"/>
          </a:xfrm>
          <a:prstGeom prst="rect">
            <a:avLst/>
          </a:prstGeom>
          <a:noFill/>
        </p:spPr>
        <p:txBody>
          <a:bodyPr wrap="square" lIns="9144" rIns="9144" tIns="0" bIns="0" anchor="t">
            <a:spAutoFit/>
          </a:bodyPr>
          <a:lstStyle/>
          <a:p>
            <a:pPr>
              <a:spcAft>
                <a:spcPts val="200"/>
              </a:spcAft>
            </a:pPr>
            <a:r>
              <a:rPr sz="2000" b="1">
                <a:solidFill>
                  <a:srgbClr val="F8F8F2"/>
                </a:solidFill>
                <a:latin typeface="Aptos"/>
              </a:rPr>
              <a:t>Scoped data + tools</a:t>
            </a:r>
          </a:p>
        </p:txBody>
      </p:sp>
      <p:sp>
        <p:nvSpPr>
          <p:cNvPr id="22" name="TextBox 21"/>
          <p:cNvSpPr txBox="1"/>
          <p:nvPr/>
        </p:nvSpPr>
        <p:spPr>
          <a:xfrm>
            <a:off x="777240" y="4133087"/>
            <a:ext cx="13167360" cy="283464"/>
          </a:xfrm>
          <a:prstGeom prst="rect">
            <a:avLst/>
          </a:prstGeom>
          <a:noFill/>
        </p:spPr>
        <p:txBody>
          <a:bodyPr wrap="square" lIns="9144" rIns="9144" tIns="0" bIns="0" anchor="t">
            <a:spAutoFit/>
          </a:bodyPr>
          <a:lstStyle/>
          <a:p>
            <a:pPr>
              <a:spcAft>
                <a:spcPts val="200"/>
              </a:spcAft>
            </a:pPr>
            <a:r>
              <a:rPr sz="1600" b="0">
                <a:solidFill>
                  <a:srgbClr val="C6D3CA"/>
                </a:solidFill>
                <a:latin typeface="Aptos"/>
              </a:rPr>
              <a:t>TLS ingress · separated data and state · authority stays in Savia + Banking MCP</a:t>
            </a:r>
          </a:p>
        </p:txBody>
      </p:sp>
      <p:sp>
        <p:nvSpPr>
          <p:cNvPr id="23" name="TextBox 22"/>
          <p:cNvSpPr txBox="1"/>
          <p:nvPr/>
        </p:nvSpPr>
        <p:spPr>
          <a:xfrm>
            <a:off x="777240" y="4663440"/>
            <a:ext cx="13167360" cy="329184"/>
          </a:xfrm>
          <a:prstGeom prst="rect">
            <a:avLst/>
          </a:prstGeom>
          <a:noFill/>
        </p:spPr>
        <p:txBody>
          <a:bodyPr wrap="square" lIns="9144" rIns="9144" tIns="0" bIns="0" anchor="t">
            <a:spAutoFit/>
          </a:bodyPr>
          <a:lstStyle/>
          <a:p>
            <a:pPr>
              <a:spcAft>
                <a:spcPts val="200"/>
              </a:spcAft>
            </a:pPr>
            <a:r>
              <a:rPr sz="1600" b="1">
                <a:solidFill>
                  <a:srgbClr val="D9EDB7"/>
                </a:solidFill>
                <a:latin typeface="Aptos"/>
              </a:rPr>
              <a:t>Self-hostable foundation · local open-weight model option · interchangeable MCP / model modules</a:t>
            </a:r>
          </a:p>
        </p:txBody>
      </p:sp>
      <p:sp>
        <p:nvSpPr>
          <p:cNvPr id="24" name="Rounded Rectangle 23"/>
          <p:cNvSpPr/>
          <p:nvPr/>
        </p:nvSpPr>
        <p:spPr>
          <a:xfrm>
            <a:off x="731520" y="5367528"/>
            <a:ext cx="4206240" cy="1719072"/>
          </a:xfrm>
          <a:prstGeom prst="roundRect">
            <a:avLst>
              <a:gd name="adj" fmla="val 12000"/>
            </a:avLst>
          </a:prstGeom>
          <a:solidFill>
            <a:srgbClr val="214A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05256" y="5541264"/>
            <a:ext cx="3849624" cy="566928"/>
          </a:xfrm>
          <a:prstGeom prst="rect">
            <a:avLst/>
          </a:prstGeom>
          <a:noFill/>
        </p:spPr>
        <p:txBody>
          <a:bodyPr wrap="square" lIns="9144" rIns="9144" tIns="0" bIns="0" anchor="t">
            <a:spAutoFit/>
          </a:bodyPr>
          <a:lstStyle/>
          <a:p>
            <a:pPr>
              <a:spcAft>
                <a:spcPts val="200"/>
              </a:spcAft>
            </a:pPr>
            <a:r>
              <a:rPr sz="3000" b="1">
                <a:solidFill>
                  <a:srgbClr val="D9EDB7"/>
                </a:solidFill>
                <a:latin typeface="Aptos"/>
              </a:rPr>
              <a:t>300/300</a:t>
            </a:r>
          </a:p>
        </p:txBody>
      </p:sp>
      <p:sp>
        <p:nvSpPr>
          <p:cNvPr id="26" name="TextBox 25"/>
          <p:cNvSpPr txBox="1"/>
          <p:nvPr/>
        </p:nvSpPr>
        <p:spPr>
          <a:xfrm>
            <a:off x="905256" y="6181344"/>
            <a:ext cx="3849624" cy="274320"/>
          </a:xfrm>
          <a:prstGeom prst="rect">
            <a:avLst/>
          </a:prstGeom>
          <a:noFill/>
        </p:spPr>
        <p:txBody>
          <a:bodyPr wrap="square" lIns="9144" rIns="9144" tIns="0" bIns="0" anchor="t">
            <a:spAutoFit/>
          </a:bodyPr>
          <a:lstStyle/>
          <a:p>
            <a:pPr>
              <a:spcAft>
                <a:spcPts val="200"/>
              </a:spcAft>
            </a:pPr>
            <a:r>
              <a:rPr sz="1300" b="1">
                <a:solidFill>
                  <a:srgbClr val="F8F8F2"/>
                </a:solidFill>
                <a:latin typeface="Aptos"/>
              </a:rPr>
              <a:t>correct FLUJO reference returns</a:t>
            </a:r>
          </a:p>
        </p:txBody>
      </p:sp>
      <p:sp>
        <p:nvSpPr>
          <p:cNvPr id="27" name="TextBox 26"/>
          <p:cNvSpPr txBox="1"/>
          <p:nvPr/>
        </p:nvSpPr>
        <p:spPr>
          <a:xfrm>
            <a:off x="905256" y="6583680"/>
            <a:ext cx="3849624" cy="438912"/>
          </a:xfrm>
          <a:prstGeom prst="rect">
            <a:avLst/>
          </a:prstGeom>
          <a:noFill/>
        </p:spPr>
        <p:txBody>
          <a:bodyPr wrap="square" lIns="9144" rIns="9144" tIns="0" bIns="0" anchor="t">
            <a:spAutoFit/>
          </a:bodyPr>
          <a:lstStyle/>
          <a:p>
            <a:pPr>
              <a:spcAft>
                <a:spcPts val="200"/>
              </a:spcAft>
            </a:pPr>
            <a:r>
              <a:rPr sz="1100" b="0">
                <a:solidFill>
                  <a:srgbClr val="C6D3CA"/>
                </a:solidFill>
                <a:latin typeface="Aptos"/>
              </a:rPr>
              <a:t>300 queued 1k requests; repeat run</a:t>
            </a:r>
          </a:p>
          <a:p>
            <a:pPr>
              <a:spcAft>
                <a:spcPts val="200"/>
              </a:spcAft>
            </a:pPr>
            <a:r>
              <a:rPr sz="1100" b="0">
                <a:solidFill>
                  <a:srgbClr val="C6D3CA"/>
                </a:solidFill>
                <a:latin typeface="Aptos"/>
              </a:rPr>
              <a:t>p50 273 s / p95 442 s</a:t>
            </a:r>
          </a:p>
        </p:txBody>
      </p:sp>
      <p:sp>
        <p:nvSpPr>
          <p:cNvPr id="28" name="Rounded Rectangle 27"/>
          <p:cNvSpPr/>
          <p:nvPr/>
        </p:nvSpPr>
        <p:spPr>
          <a:xfrm>
            <a:off x="5157216" y="5367528"/>
            <a:ext cx="4206240" cy="1719072"/>
          </a:xfrm>
          <a:prstGeom prst="roundRect">
            <a:avLst>
              <a:gd name="adj" fmla="val 12000"/>
            </a:avLst>
          </a:prstGeom>
          <a:solidFill>
            <a:srgbClr val="214A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5330952" y="5541264"/>
            <a:ext cx="3849624" cy="566928"/>
          </a:xfrm>
          <a:prstGeom prst="rect">
            <a:avLst/>
          </a:prstGeom>
          <a:noFill/>
        </p:spPr>
        <p:txBody>
          <a:bodyPr wrap="square" lIns="9144" rIns="9144" tIns="0" bIns="0" anchor="t">
            <a:spAutoFit/>
          </a:bodyPr>
          <a:lstStyle/>
          <a:p>
            <a:pPr>
              <a:spcAft>
                <a:spcPts val="200"/>
              </a:spcAft>
            </a:pPr>
            <a:r>
              <a:rPr sz="3000" b="1">
                <a:solidFill>
                  <a:srgbClr val="D9EDB7"/>
                </a:solidFill>
                <a:latin typeface="Aptos"/>
              </a:rPr>
              <a:t>129 / 367</a:t>
            </a:r>
          </a:p>
        </p:txBody>
      </p:sp>
      <p:sp>
        <p:nvSpPr>
          <p:cNvPr id="30" name="TextBox 29"/>
          <p:cNvSpPr txBox="1"/>
          <p:nvPr/>
        </p:nvSpPr>
        <p:spPr>
          <a:xfrm>
            <a:off x="5330952" y="6181344"/>
            <a:ext cx="3849624" cy="274320"/>
          </a:xfrm>
          <a:prstGeom prst="rect">
            <a:avLst/>
          </a:prstGeom>
          <a:noFill/>
        </p:spPr>
        <p:txBody>
          <a:bodyPr wrap="square" lIns="9144" rIns="9144" tIns="0" bIns="0" anchor="t">
            <a:spAutoFit/>
          </a:bodyPr>
          <a:lstStyle/>
          <a:p>
            <a:pPr>
              <a:spcAft>
                <a:spcPts val="200"/>
              </a:spcAft>
            </a:pPr>
            <a:r>
              <a:rPr sz="1300" b="1">
                <a:solidFill>
                  <a:srgbClr val="F8F8F2"/>
                </a:solidFill>
                <a:latin typeface="Aptos"/>
              </a:rPr>
              <a:t>frontend / backend tests</a:t>
            </a:r>
          </a:p>
        </p:txBody>
      </p:sp>
      <p:sp>
        <p:nvSpPr>
          <p:cNvPr id="31" name="TextBox 30"/>
          <p:cNvSpPr txBox="1"/>
          <p:nvPr/>
        </p:nvSpPr>
        <p:spPr>
          <a:xfrm>
            <a:off x="5330952" y="6583680"/>
            <a:ext cx="3849624" cy="438912"/>
          </a:xfrm>
          <a:prstGeom prst="rect">
            <a:avLst/>
          </a:prstGeom>
          <a:noFill/>
        </p:spPr>
        <p:txBody>
          <a:bodyPr wrap="square" lIns="9144" rIns="9144" tIns="0" bIns="0" anchor="t">
            <a:spAutoFit/>
          </a:bodyPr>
          <a:lstStyle/>
          <a:p>
            <a:pPr>
              <a:spcAft>
                <a:spcPts val="200"/>
              </a:spcAft>
            </a:pPr>
            <a:r>
              <a:rPr sz="1100" b="0">
                <a:solidFill>
                  <a:srgbClr val="C6D3CA"/>
                </a:solidFill>
                <a:latin typeface="Aptos"/>
              </a:rPr>
              <a:t>Recorded frozen rc.1 checks</a:t>
            </a:r>
          </a:p>
          <a:p>
            <a:pPr>
              <a:spcAft>
                <a:spcPts val="200"/>
              </a:spcAft>
            </a:pPr>
            <a:r>
              <a:rPr sz="1100" b="0">
                <a:solidFill>
                  <a:srgbClr val="C6D3CA"/>
                </a:solidFill>
                <a:latin typeface="Aptos"/>
              </a:rPr>
              <a:t>Build + ownership + recovery coverage</a:t>
            </a:r>
          </a:p>
        </p:txBody>
      </p:sp>
      <p:sp>
        <p:nvSpPr>
          <p:cNvPr id="32" name="Rounded Rectangle 31"/>
          <p:cNvSpPr/>
          <p:nvPr/>
        </p:nvSpPr>
        <p:spPr>
          <a:xfrm>
            <a:off x="9582912" y="5367528"/>
            <a:ext cx="4206240" cy="1719072"/>
          </a:xfrm>
          <a:prstGeom prst="roundRect">
            <a:avLst>
              <a:gd name="adj" fmla="val 12000"/>
            </a:avLst>
          </a:prstGeom>
          <a:solidFill>
            <a:srgbClr val="214A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9756648" y="5541264"/>
            <a:ext cx="3849624" cy="566928"/>
          </a:xfrm>
          <a:prstGeom prst="rect">
            <a:avLst/>
          </a:prstGeom>
          <a:noFill/>
        </p:spPr>
        <p:txBody>
          <a:bodyPr wrap="square" lIns="9144" rIns="9144" tIns="0" bIns="0" anchor="t">
            <a:spAutoFit/>
          </a:bodyPr>
          <a:lstStyle/>
          <a:p>
            <a:pPr>
              <a:spcAft>
                <a:spcPts val="200"/>
              </a:spcAft>
            </a:pPr>
            <a:r>
              <a:rPr sz="2300" b="1">
                <a:solidFill>
                  <a:srgbClr val="D9EDB7"/>
                </a:solidFill>
                <a:latin typeface="Aptos"/>
              </a:rPr>
              <a:t>Run → tool → agent</a:t>
            </a:r>
          </a:p>
        </p:txBody>
      </p:sp>
      <p:sp>
        <p:nvSpPr>
          <p:cNvPr id="34" name="TextBox 33"/>
          <p:cNvSpPr txBox="1"/>
          <p:nvPr/>
        </p:nvSpPr>
        <p:spPr>
          <a:xfrm>
            <a:off x="9756648" y="6181344"/>
            <a:ext cx="3849624" cy="274320"/>
          </a:xfrm>
          <a:prstGeom prst="rect">
            <a:avLst/>
          </a:prstGeom>
          <a:noFill/>
        </p:spPr>
        <p:txBody>
          <a:bodyPr wrap="square" lIns="9144" rIns="9144" tIns="0" bIns="0" anchor="t">
            <a:spAutoFit/>
          </a:bodyPr>
          <a:lstStyle/>
          <a:p>
            <a:pPr>
              <a:spcAft>
                <a:spcPts val="200"/>
              </a:spcAft>
            </a:pPr>
            <a:r>
              <a:rPr sz="1300" b="1">
                <a:solidFill>
                  <a:srgbClr val="F8F8F2"/>
                </a:solidFill>
                <a:latin typeface="Aptos"/>
              </a:rPr>
              <a:t>execution visibility</a:t>
            </a:r>
          </a:p>
        </p:txBody>
      </p:sp>
      <p:sp>
        <p:nvSpPr>
          <p:cNvPr id="35" name="TextBox 34"/>
          <p:cNvSpPr txBox="1"/>
          <p:nvPr/>
        </p:nvSpPr>
        <p:spPr>
          <a:xfrm>
            <a:off x="9756648" y="6583680"/>
            <a:ext cx="3849624" cy="438912"/>
          </a:xfrm>
          <a:prstGeom prst="rect">
            <a:avLst/>
          </a:prstGeom>
          <a:noFill/>
        </p:spPr>
        <p:txBody>
          <a:bodyPr wrap="square" lIns="9144" rIns="9144" tIns="0" bIns="0" anchor="t">
            <a:spAutoFit/>
          </a:bodyPr>
          <a:lstStyle/>
          <a:p>
            <a:pPr>
              <a:spcAft>
                <a:spcPts val="200"/>
              </a:spcAft>
            </a:pPr>
            <a:r>
              <a:rPr sz="1100" b="0">
                <a:solidFill>
                  <a:srgbClr val="C6D3CA"/>
                </a:solidFill>
                <a:latin typeface="Aptos"/>
              </a:rPr>
              <a:t>FLUJO metadata statistics</a:t>
            </a:r>
          </a:p>
          <a:p>
            <a:pPr>
              <a:spcAft>
                <a:spcPts val="200"/>
              </a:spcAft>
            </a:pPr>
            <a:r>
              <a:rPr sz="1100" b="0">
                <a:solidFill>
                  <a:srgbClr val="C6D3CA"/>
                </a:solidFill>
                <a:latin typeface="Aptos"/>
              </a:rPr>
              <a:t>Durations, tokens, failures, revisions</a:t>
            </a:r>
          </a:p>
        </p:txBody>
      </p:sp>
      <p:sp>
        <p:nvSpPr>
          <p:cNvPr id="36" name="TextBox 35"/>
          <p:cNvSpPr txBox="1"/>
          <p:nvPr/>
        </p:nvSpPr>
        <p:spPr>
          <a:xfrm>
            <a:off x="749808" y="7306056"/>
            <a:ext cx="13167360" cy="338328"/>
          </a:xfrm>
          <a:prstGeom prst="rect">
            <a:avLst/>
          </a:prstGeom>
          <a:noFill/>
        </p:spPr>
        <p:txBody>
          <a:bodyPr wrap="square" lIns="9144" rIns="9144" tIns="0" bIns="0" anchor="t">
            <a:spAutoFit/>
          </a:bodyPr>
          <a:lstStyle/>
          <a:p>
            <a:pPr>
              <a:spcAft>
                <a:spcPts val="200"/>
              </a:spcAft>
            </a:pPr>
            <a:r>
              <a:rPr sz="1000" b="0">
                <a:solidFill>
                  <a:srgbClr val="C6D3CA"/>
                </a:solidFill>
                <a:latin typeface="Aptos"/>
              </a:rPr>
              <a:t>Benchmark: Qwen3.8-27B FP8 + vLLM on rented H100. Current demo: direct provider; FLUJO fleet is the integration target.</a:t>
            </a:r>
          </a:p>
        </p:txBody>
      </p:sp>
      <p:sp>
        <p:nvSpPr>
          <p:cNvPr id="37" name="TextBox 36"/>
          <p:cNvSpPr txBox="1"/>
          <p:nvPr/>
        </p:nvSpPr>
        <p:spPr>
          <a:xfrm>
            <a:off x="749808" y="7534656"/>
            <a:ext cx="13167360" cy="210312"/>
          </a:xfrm>
          <a:prstGeom prst="rect">
            <a:avLst/>
          </a:prstGeom>
          <a:noFill/>
        </p:spPr>
        <p:txBody>
          <a:bodyPr wrap="square" lIns="9144" rIns="9144" tIns="0" bIns="0" anchor="t">
            <a:spAutoFit/>
          </a:bodyPr>
          <a:lstStyle/>
          <a:p>
            <a:pPr>
              <a:spcAft>
                <a:spcPts val="200"/>
              </a:spcAft>
            </a:pPr>
            <a:r>
              <a:rPr sz="900" b="0">
                <a:solidFill>
                  <a:srgbClr val="C6D3CA"/>
                </a:solidFill>
                <a:latin typeface="Aptos"/>
              </a:rPr>
              <a:t>Case state persists; active audio resets after restart. Capacity is a workload result, not 300 simultaneous GPU generations.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12332D"/>
        </a:solidFill>
        <a:effectLst/>
      </p:bgPr>
    </p:bg>
    <p:spTree>
      <p:nvGrpSpPr>
        <p:cNvPr id="1" name=""/>
        <p:cNvGrpSpPr/>
        <p:nvPr/>
      </p:nvGrpSpPr>
      <p:grpSpPr/>
      <p:sp>
        <p:nvSpPr>
          <p:cNvPr id="2" name="Rectangle 1"/>
          <p:cNvSpPr/>
          <p:nvPr/>
        </p:nvSpPr>
        <p:spPr>
          <a:xfrm>
            <a:off x="585216" y="512064"/>
            <a:ext cx="457200" cy="64008"/>
          </a:xfrm>
          <a:prstGeom prst="rect">
            <a:avLst/>
          </a:prstGeom>
          <a:solidFill>
            <a:srgbClr val="D9EDB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207008" y="374904"/>
            <a:ext cx="11887200" cy="320040"/>
          </a:xfrm>
          <a:prstGeom prst="rect">
            <a:avLst/>
          </a:prstGeom>
          <a:noFill/>
        </p:spPr>
        <p:txBody>
          <a:bodyPr wrap="square" lIns="9144" rIns="9144" tIns="0" bIns="0" anchor="t">
            <a:spAutoFit/>
          </a:bodyPr>
          <a:lstStyle/>
          <a:p>
            <a:pPr>
              <a:spcAft>
                <a:spcPts val="200"/>
              </a:spcAft>
            </a:pPr>
            <a:r>
              <a:rPr sz="1100" b="1">
                <a:solidFill>
                  <a:srgbClr val="D9EDB7"/>
                </a:solidFill>
                <a:latin typeface="Aptos"/>
              </a:rPr>
              <a:t>05 / THE BANK PILOT</a:t>
            </a:r>
          </a:p>
        </p:txBody>
      </p:sp>
      <p:sp>
        <p:nvSpPr>
          <p:cNvPr id="4" name="TextBox 3"/>
          <p:cNvSpPr txBox="1"/>
          <p:nvPr/>
        </p:nvSpPr>
        <p:spPr>
          <a:xfrm>
            <a:off x="658368" y="7772400"/>
            <a:ext cx="10972800" cy="228600"/>
          </a:xfrm>
          <a:prstGeom prst="rect">
            <a:avLst/>
          </a:prstGeom>
          <a:noFill/>
        </p:spPr>
        <p:txBody>
          <a:bodyPr wrap="square" lIns="9144" rIns="9144" tIns="0" bIns="0" anchor="t">
            <a:spAutoFit/>
          </a:bodyPr>
          <a:lstStyle/>
          <a:p>
            <a:pPr>
              <a:spcAft>
                <a:spcPts val="200"/>
              </a:spcAft>
            </a:pPr>
            <a:r>
              <a:rPr sz="900" b="0">
                <a:solidFill>
                  <a:srgbClr val="C6D3CA"/>
                </a:solidFill>
                <a:latin typeface="Aptos"/>
              </a:rPr>
              <a:t>SAVIA  /  ONE VOICE. A NETWORK BEHIND IT.</a:t>
            </a:r>
          </a:p>
        </p:txBody>
      </p:sp>
      <p:sp>
        <p:nvSpPr>
          <p:cNvPr id="5" name="TextBox 4"/>
          <p:cNvSpPr txBox="1"/>
          <p:nvPr/>
        </p:nvSpPr>
        <p:spPr>
          <a:xfrm>
            <a:off x="13002768" y="7754112"/>
            <a:ext cx="914400" cy="256032"/>
          </a:xfrm>
          <a:prstGeom prst="rect">
            <a:avLst/>
          </a:prstGeom>
          <a:noFill/>
        </p:spPr>
        <p:txBody>
          <a:bodyPr wrap="square" lIns="9144" rIns="9144" tIns="0" bIns="0" anchor="t">
            <a:spAutoFit/>
          </a:bodyPr>
          <a:lstStyle/>
          <a:p>
            <a:pPr>
              <a:spcAft>
                <a:spcPts val="200"/>
              </a:spcAft>
            </a:pPr>
            <a:r>
              <a:rPr sz="1000" b="1">
                <a:solidFill>
                  <a:srgbClr val="D9EDB7"/>
                </a:solidFill>
                <a:latin typeface="Aptos"/>
              </a:rPr>
              <a:t>06 / 06</a:t>
            </a:r>
          </a:p>
        </p:txBody>
      </p:sp>
      <p:sp>
        <p:nvSpPr>
          <p:cNvPr id="6" name="TextBox 5"/>
          <p:cNvSpPr txBox="1"/>
          <p:nvPr/>
        </p:nvSpPr>
        <p:spPr>
          <a:xfrm>
            <a:off x="658368" y="978408"/>
            <a:ext cx="13533120" cy="1444752"/>
          </a:xfrm>
          <a:prstGeom prst="rect">
            <a:avLst/>
          </a:prstGeom>
          <a:noFill/>
        </p:spPr>
        <p:txBody>
          <a:bodyPr wrap="square" lIns="9144" rIns="9144" tIns="0" bIns="0" anchor="t">
            <a:spAutoFit/>
          </a:bodyPr>
          <a:lstStyle/>
          <a:p>
            <a:pPr>
              <a:spcAft>
                <a:spcPts val="200"/>
              </a:spcAft>
            </a:pPr>
            <a:r>
              <a:rPr sz="3800" b="1">
                <a:solidFill>
                  <a:srgbClr val="F8F8F2"/>
                </a:solidFill>
                <a:latin typeface="Aptos"/>
              </a:rPr>
              <a:t>Make “I’ll look into it”</a:t>
            </a:r>
          </a:p>
          <a:p>
            <a:pPr>
              <a:spcAft>
                <a:spcPts val="200"/>
              </a:spcAft>
            </a:pPr>
            <a:r>
              <a:rPr sz="3800" b="1">
                <a:solidFill>
                  <a:srgbClr val="F8F8F2"/>
                </a:solidFill>
                <a:latin typeface="Aptos"/>
              </a:rPr>
              <a:t>a service customers can feel.</a:t>
            </a:r>
          </a:p>
        </p:txBody>
      </p:sp>
      <p:sp>
        <p:nvSpPr>
          <p:cNvPr id="7" name="Rounded Rectangle 6"/>
          <p:cNvSpPr/>
          <p:nvPr/>
        </p:nvSpPr>
        <p:spPr>
          <a:xfrm>
            <a:off x="731520" y="2770632"/>
            <a:ext cx="4206240" cy="2688336"/>
          </a:xfrm>
          <a:prstGeom prst="roundRect">
            <a:avLst>
              <a:gd name="adj" fmla="val 12000"/>
            </a:avLst>
          </a:prstGeom>
          <a:solidFill>
            <a:srgbClr val="214A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32688" y="2935224"/>
            <a:ext cx="3803903" cy="292608"/>
          </a:xfrm>
          <a:prstGeom prst="rect">
            <a:avLst/>
          </a:prstGeom>
          <a:noFill/>
        </p:spPr>
        <p:txBody>
          <a:bodyPr wrap="square" lIns="9144" rIns="9144" tIns="0" bIns="0" anchor="t">
            <a:spAutoFit/>
          </a:bodyPr>
          <a:lstStyle/>
          <a:p>
            <a:pPr>
              <a:spcAft>
                <a:spcPts val="200"/>
              </a:spcAft>
            </a:pPr>
            <a:r>
              <a:rPr sz="1000" b="1">
                <a:solidFill>
                  <a:srgbClr val="D9EDB7"/>
                </a:solidFill>
                <a:latin typeface="Aptos"/>
              </a:rPr>
              <a:t>FOR THE CUSTOMER</a:t>
            </a:r>
          </a:p>
        </p:txBody>
      </p:sp>
      <p:sp>
        <p:nvSpPr>
          <p:cNvPr id="9" name="TextBox 8"/>
          <p:cNvSpPr txBox="1"/>
          <p:nvPr/>
        </p:nvSpPr>
        <p:spPr>
          <a:xfrm>
            <a:off x="932688" y="3355848"/>
            <a:ext cx="3803903" cy="630936"/>
          </a:xfrm>
          <a:prstGeom prst="rect">
            <a:avLst/>
          </a:prstGeom>
          <a:noFill/>
        </p:spPr>
        <p:txBody>
          <a:bodyPr wrap="square" lIns="9144" rIns="9144" tIns="0" bIns="0" anchor="t">
            <a:spAutoFit/>
          </a:bodyPr>
          <a:lstStyle/>
          <a:p>
            <a:pPr>
              <a:spcAft>
                <a:spcPts val="200"/>
              </a:spcAft>
            </a:pPr>
            <a:r>
              <a:rPr sz="2300" b="1">
                <a:solidFill>
                  <a:srgbClr val="F8F8F2"/>
                </a:solidFill>
                <a:latin typeface="Aptos"/>
              </a:rPr>
              <a:t>Less chasing.</a:t>
            </a:r>
          </a:p>
        </p:txBody>
      </p:sp>
      <p:sp>
        <p:nvSpPr>
          <p:cNvPr id="10" name="TextBox 9"/>
          <p:cNvSpPr txBox="1"/>
          <p:nvPr/>
        </p:nvSpPr>
        <p:spPr>
          <a:xfrm>
            <a:off x="932688" y="4069079"/>
            <a:ext cx="3803903" cy="1261872"/>
          </a:xfrm>
          <a:prstGeom prst="rect">
            <a:avLst/>
          </a:prstGeom>
          <a:noFill/>
        </p:spPr>
        <p:txBody>
          <a:bodyPr wrap="square" lIns="9144" rIns="9144" tIns="0" bIns="0" anchor="t">
            <a:spAutoFit/>
          </a:bodyPr>
          <a:lstStyle/>
          <a:p>
            <a:pPr>
              <a:spcAft>
                <a:spcPts val="200"/>
              </a:spcAft>
            </a:pPr>
            <a:r>
              <a:rPr sz="1600" b="0">
                <a:solidFill>
                  <a:srgbClr val="C6D3CA"/>
                </a:solidFill>
                <a:latin typeface="Aptos"/>
              </a:rPr>
              <a:t>One guide keeps the context</a:t>
            </a:r>
          </a:p>
          <a:p>
            <a:pPr>
              <a:spcAft>
                <a:spcPts val="200"/>
              </a:spcAft>
            </a:pPr>
            <a:r>
              <a:rPr sz="1600" b="0">
                <a:solidFill>
                  <a:srgbClr val="C6D3CA"/>
                </a:solidFill>
                <a:latin typeface="Aptos"/>
              </a:rPr>
              <a:t>and brings the next step back.</a:t>
            </a:r>
          </a:p>
        </p:txBody>
      </p:sp>
      <p:sp>
        <p:nvSpPr>
          <p:cNvPr id="11" name="Rounded Rectangle 10"/>
          <p:cNvSpPr/>
          <p:nvPr/>
        </p:nvSpPr>
        <p:spPr>
          <a:xfrm>
            <a:off x="5157216" y="2770632"/>
            <a:ext cx="4206240" cy="2688336"/>
          </a:xfrm>
          <a:prstGeom prst="roundRect">
            <a:avLst>
              <a:gd name="adj" fmla="val 12000"/>
            </a:avLst>
          </a:prstGeom>
          <a:solidFill>
            <a:srgbClr val="214A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358383" y="2935224"/>
            <a:ext cx="3803903" cy="292608"/>
          </a:xfrm>
          <a:prstGeom prst="rect">
            <a:avLst/>
          </a:prstGeom>
          <a:noFill/>
        </p:spPr>
        <p:txBody>
          <a:bodyPr wrap="square" lIns="9144" rIns="9144" tIns="0" bIns="0" anchor="t">
            <a:spAutoFit/>
          </a:bodyPr>
          <a:lstStyle/>
          <a:p>
            <a:pPr>
              <a:spcAft>
                <a:spcPts val="200"/>
              </a:spcAft>
            </a:pPr>
            <a:r>
              <a:rPr sz="1000" b="1">
                <a:solidFill>
                  <a:srgbClr val="D9EDB7"/>
                </a:solidFill>
                <a:latin typeface="Aptos"/>
              </a:rPr>
              <a:t>FOR THE BANK</a:t>
            </a:r>
          </a:p>
        </p:txBody>
      </p:sp>
      <p:sp>
        <p:nvSpPr>
          <p:cNvPr id="13" name="TextBox 12"/>
          <p:cNvSpPr txBox="1"/>
          <p:nvPr/>
        </p:nvSpPr>
        <p:spPr>
          <a:xfrm>
            <a:off x="5358383" y="3355848"/>
            <a:ext cx="3803903" cy="630936"/>
          </a:xfrm>
          <a:prstGeom prst="rect">
            <a:avLst/>
          </a:prstGeom>
          <a:noFill/>
        </p:spPr>
        <p:txBody>
          <a:bodyPr wrap="square" lIns="9144" rIns="9144" tIns="0" bIns="0" anchor="t">
            <a:spAutoFit/>
          </a:bodyPr>
          <a:lstStyle/>
          <a:p>
            <a:pPr>
              <a:spcAft>
                <a:spcPts val="200"/>
              </a:spcAft>
            </a:pPr>
            <a:r>
              <a:rPr sz="2300" b="1">
                <a:solidFill>
                  <a:srgbClr val="F8F8F2"/>
                </a:solidFill>
                <a:latin typeface="Aptos"/>
              </a:rPr>
              <a:t>Better prepared support.</a:t>
            </a:r>
          </a:p>
        </p:txBody>
      </p:sp>
      <p:sp>
        <p:nvSpPr>
          <p:cNvPr id="14" name="TextBox 13"/>
          <p:cNvSpPr txBox="1"/>
          <p:nvPr/>
        </p:nvSpPr>
        <p:spPr>
          <a:xfrm>
            <a:off x="5358383" y="4069079"/>
            <a:ext cx="3803903" cy="1261872"/>
          </a:xfrm>
          <a:prstGeom prst="rect">
            <a:avLst/>
          </a:prstGeom>
          <a:noFill/>
        </p:spPr>
        <p:txBody>
          <a:bodyPr wrap="square" lIns="9144" rIns="9144" tIns="0" bIns="0" anchor="t">
            <a:spAutoFit/>
          </a:bodyPr>
          <a:lstStyle/>
          <a:p>
            <a:pPr>
              <a:spcAft>
                <a:spcPts val="200"/>
              </a:spcAft>
            </a:pPr>
            <a:r>
              <a:rPr sz="1600" b="0">
                <a:solidFill>
                  <a:srgbClr val="C6D3CA"/>
                </a:solidFill>
                <a:latin typeface="Aptos"/>
              </a:rPr>
              <a:t>Reviewed evidence and a clear</a:t>
            </a:r>
          </a:p>
          <a:p>
            <a:pPr>
              <a:spcAft>
                <a:spcPts val="200"/>
              </a:spcAft>
            </a:pPr>
            <a:r>
              <a:rPr sz="1600" b="0">
                <a:solidFill>
                  <a:srgbClr val="C6D3CA"/>
                </a:solidFill>
                <a:latin typeface="Aptos"/>
              </a:rPr>
              <a:t>packet for the next handoff.</a:t>
            </a:r>
          </a:p>
        </p:txBody>
      </p:sp>
      <p:sp>
        <p:nvSpPr>
          <p:cNvPr id="15" name="Rounded Rectangle 14"/>
          <p:cNvSpPr/>
          <p:nvPr/>
        </p:nvSpPr>
        <p:spPr>
          <a:xfrm>
            <a:off x="9582912" y="2770632"/>
            <a:ext cx="4206240" cy="2688336"/>
          </a:xfrm>
          <a:prstGeom prst="roundRect">
            <a:avLst>
              <a:gd name="adj" fmla="val 12000"/>
            </a:avLst>
          </a:prstGeom>
          <a:solidFill>
            <a:srgbClr val="214A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784080" y="2935224"/>
            <a:ext cx="3803903" cy="292608"/>
          </a:xfrm>
          <a:prstGeom prst="rect">
            <a:avLst/>
          </a:prstGeom>
          <a:noFill/>
        </p:spPr>
        <p:txBody>
          <a:bodyPr wrap="square" lIns="9144" rIns="9144" tIns="0" bIns="0" anchor="t">
            <a:spAutoFit/>
          </a:bodyPr>
          <a:lstStyle/>
          <a:p>
            <a:pPr>
              <a:spcAft>
                <a:spcPts val="200"/>
              </a:spcAft>
            </a:pPr>
            <a:r>
              <a:rPr sz="1000" b="1">
                <a:solidFill>
                  <a:srgbClr val="D9EDB7"/>
                </a:solidFill>
                <a:latin typeface="Aptos"/>
              </a:rPr>
              <a:t>THE NEXT STEP</a:t>
            </a:r>
          </a:p>
        </p:txBody>
      </p:sp>
      <p:sp>
        <p:nvSpPr>
          <p:cNvPr id="17" name="TextBox 16"/>
          <p:cNvSpPr txBox="1"/>
          <p:nvPr/>
        </p:nvSpPr>
        <p:spPr>
          <a:xfrm>
            <a:off x="9784080" y="3355848"/>
            <a:ext cx="3803903" cy="630936"/>
          </a:xfrm>
          <a:prstGeom prst="rect">
            <a:avLst/>
          </a:prstGeom>
          <a:noFill/>
        </p:spPr>
        <p:txBody>
          <a:bodyPr wrap="square" lIns="9144" rIns="9144" tIns="0" bIns="0" anchor="t">
            <a:spAutoFit/>
          </a:bodyPr>
          <a:lstStyle/>
          <a:p>
            <a:pPr>
              <a:spcAft>
                <a:spcPts val="200"/>
              </a:spcAft>
            </a:pPr>
            <a:r>
              <a:rPr sz="2300" b="1">
                <a:solidFill>
                  <a:srgbClr val="F8F8F2"/>
                </a:solidFill>
                <a:latin typeface="Aptos"/>
              </a:rPr>
              <a:t>A bounded bank pilot.</a:t>
            </a:r>
          </a:p>
        </p:txBody>
      </p:sp>
      <p:sp>
        <p:nvSpPr>
          <p:cNvPr id="18" name="TextBox 17"/>
          <p:cNvSpPr txBox="1"/>
          <p:nvPr/>
        </p:nvSpPr>
        <p:spPr>
          <a:xfrm>
            <a:off x="9784080" y="4069079"/>
            <a:ext cx="3803903" cy="1261872"/>
          </a:xfrm>
          <a:prstGeom prst="rect">
            <a:avLst/>
          </a:prstGeom>
          <a:noFill/>
        </p:spPr>
        <p:txBody>
          <a:bodyPr wrap="square" lIns="9144" rIns="9144" tIns="0" bIns="0" anchor="t">
            <a:spAutoFit/>
          </a:bodyPr>
          <a:lstStyle/>
          <a:p>
            <a:pPr>
              <a:spcAft>
                <a:spcPts val="200"/>
              </a:spcAft>
            </a:pPr>
            <a:r>
              <a:rPr sz="1600" b="0">
                <a:solidFill>
                  <a:srgbClr val="C6D3CA"/>
                </a:solidFill>
                <a:latin typeface="Aptos"/>
              </a:rPr>
              <a:t>Start with transaction disputes.</a:t>
            </a:r>
          </a:p>
          <a:p>
            <a:pPr>
              <a:spcAft>
                <a:spcPts val="200"/>
              </a:spcAft>
            </a:pPr>
            <a:r>
              <a:rPr sz="1600" b="0">
                <a:solidFill>
                  <a:srgbClr val="C6D3CA"/>
                </a:solidFill>
                <a:latin typeface="Aptos"/>
              </a:rPr>
              <a:t>Measure value before scaling.</a:t>
            </a:r>
          </a:p>
        </p:txBody>
      </p:sp>
      <p:sp>
        <p:nvSpPr>
          <p:cNvPr id="19" name="Rounded Rectangle 18"/>
          <p:cNvSpPr/>
          <p:nvPr/>
        </p:nvSpPr>
        <p:spPr>
          <a:xfrm>
            <a:off x="731520" y="5705856"/>
            <a:ext cx="13057632" cy="1435608"/>
          </a:xfrm>
          <a:prstGeom prst="roundRect">
            <a:avLst>
              <a:gd name="adj" fmla="val 12000"/>
            </a:avLst>
          </a:prstGeom>
          <a:solidFill>
            <a:srgbClr val="D9EDB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60120" y="5888736"/>
            <a:ext cx="12563856" cy="429768"/>
          </a:xfrm>
          <a:prstGeom prst="rect">
            <a:avLst/>
          </a:prstGeom>
          <a:noFill/>
        </p:spPr>
        <p:txBody>
          <a:bodyPr wrap="square" lIns="9144" rIns="9144" tIns="0" bIns="0" anchor="t">
            <a:spAutoFit/>
          </a:bodyPr>
          <a:lstStyle/>
          <a:p>
            <a:pPr>
              <a:spcAft>
                <a:spcPts val="200"/>
              </a:spcAft>
            </a:pPr>
            <a:r>
              <a:rPr sz="2900" b="1">
                <a:solidFill>
                  <a:srgbClr val="12332D"/>
                </a:solidFill>
                <a:latin typeface="Aptos"/>
              </a:rPr>
              <a:t>Ask once. Savia follows through.</a:t>
            </a:r>
          </a:p>
        </p:txBody>
      </p:sp>
      <p:sp>
        <p:nvSpPr>
          <p:cNvPr id="21" name="TextBox 20"/>
          <p:cNvSpPr txBox="1"/>
          <p:nvPr/>
        </p:nvSpPr>
        <p:spPr>
          <a:xfrm>
            <a:off x="978408" y="6483096"/>
            <a:ext cx="12490704" cy="301752"/>
          </a:xfrm>
          <a:prstGeom prst="rect">
            <a:avLst/>
          </a:prstGeom>
          <a:noFill/>
        </p:spPr>
        <p:txBody>
          <a:bodyPr wrap="square" lIns="9144" rIns="9144" tIns="0" bIns="0" anchor="t">
            <a:spAutoFit/>
          </a:bodyPr>
          <a:lstStyle/>
          <a:p>
            <a:pPr>
              <a:spcAft>
                <a:spcPts val="200"/>
              </a:spcAft>
            </a:pPr>
            <a:r>
              <a:rPr sz="1400" b="0">
                <a:solidFill>
                  <a:srgbClr val="12332D"/>
                </a:solidFill>
                <a:latin typeface="Aptos"/>
              </a:rPr>
              <a:t>Pilot measures: repeat contacts · helpful answers · handoff quality · cost per case</a:t>
            </a:r>
          </a:p>
        </p:txBody>
      </p:sp>
      <p:sp>
        <p:nvSpPr>
          <p:cNvPr id="22" name="TextBox 21">
            <a:hlinkClick r:id="rId3"/>
          </p:cNvPr>
          <p:cNvSpPr txBox="1"/>
          <p:nvPr/>
        </p:nvSpPr>
        <p:spPr>
          <a:xfrm>
            <a:off x="768096" y="7315200"/>
            <a:ext cx="6492240" cy="219456"/>
          </a:xfrm>
          <a:prstGeom prst="rect">
            <a:avLst/>
          </a:prstGeom>
          <a:noFill/>
        </p:spPr>
        <p:txBody>
          <a:bodyPr wrap="square" lIns="9144" rIns="9144" tIns="0" bIns="0" anchor="t">
            <a:spAutoFit/>
          </a:bodyPr>
          <a:lstStyle/>
          <a:p>
            <a:pPr>
              <a:spcAft>
                <a:spcPts val="200"/>
              </a:spcAft>
            </a:pPr>
            <a:r>
              <a:rPr sz="1000" b="0">
                <a:solidFill>
                  <a:srgbClr val="D9EDB7"/>
                </a:solidFill>
                <a:latin typeface="Aptos"/>
              </a:rPr>
              <a:t>Try the fictional demo: savia-rc-2026.fly.dev  /  SAVIA-2026</a:t>
            </a:r>
          </a:p>
        </p:txBody>
      </p:sp>
      <p:sp>
        <p:nvSpPr>
          <p:cNvPr id="23" name="TextBox 22"/>
          <p:cNvSpPr txBox="1"/>
          <p:nvPr/>
        </p:nvSpPr>
        <p:spPr>
          <a:xfrm>
            <a:off x="7452360" y="7315200"/>
            <a:ext cx="6400800" cy="210312"/>
          </a:xfrm>
          <a:prstGeom prst="rect">
            <a:avLst/>
          </a:prstGeom>
          <a:noFill/>
        </p:spPr>
        <p:txBody>
          <a:bodyPr wrap="square" lIns="9144" rIns="9144" tIns="0" bIns="0" anchor="t">
            <a:spAutoFit/>
          </a:bodyPr>
          <a:lstStyle/>
          <a:p>
            <a:pPr>
              <a:spcAft>
                <a:spcPts val="200"/>
              </a:spcAft>
            </a:pPr>
            <a:r>
              <a:rPr sz="900" b="0">
                <a:solidFill>
                  <a:srgbClr val="C6D3CA"/>
                </a:solidFill>
                <a:latin typeface="Aptos"/>
              </a:rPr>
              <a:t>Gloria Yanta Salc · Carlos Diaz · Mario Andreschak</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Savia — one voice, up to 100 agents</dc:title>
  <dc:subject>Final six-slide bank-investor pitch / October 5, 2026</dc:subject>
  <dc:creator>Savia team</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