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(participant voice)</a:t>
            </a:r>
          </a:p>
          <a:p>
            <a:r>
              <a:t>I don't recognize this transaction. That can start a problem that takes more than one conversation to solve. Meet Savia: one assistant that keeps your case and brings back a useful next step. The charge stays visible, so the answer stays connected to the problem. Ask once. Savia follows through while you get on with your day.</a:t>
            </a:r>
          </a:p>
          <a:p/>
          <a:p>
            <a:r>
              <a:t>IF ASKED</a:t>
            </a:r>
          </a:p>
          <a:p>
            <a:r>
              <a:t>Implemented core: deterministic R0–R18 dispute flow, owned facts, ordered policy, explicit consent, verified receipts, recovery and handoff. Recorded prototype: integrated voice, grounded explanation, durable inquiries and two completed model reviewers. Immediate fictional card protection has separate local and public API acceptance. Voice and larger collaborative fleets extend the trusted core; neither transfers its acceptance to a whole customer journey.</a:t>
            </a:r>
          </a:p>
          <a:p/>
          <a:p>
            <a:r>
              <a:t>SOURCES</a:t>
            </a:r>
          </a:p>
          <a:p>
            <a:r>
              <a:t>https://github.com/mario-andreschak/factored-hackathon-2026-mcg/blob/7de0bbd670c25e4ad83476c6d7b70c45cc58a137/docs/DISPUTE_IMPLEMENTATION.md</a:t>
            </a:r>
          </a:p>
          <a:p>
            <a:r>
              <a:t>https://github.com/mario-andreschak/factored-hackathon-2026-mcg/blob/7de0bbd670c25e4ad83476c6d7b70c45cc58a137/docs/submission/measurements/core-engine-final/README.md</a:t>
            </a:r>
          </a:p>
          <a:p>
            <a:r>
              <a:t>https://github.com/mario-andreschak/factored-hackathon-2026-mcg/blob/7de0bbd670c25e4ad83476c6d7b70c45cc58a137/docs/submission/CUSTOMER_JOURNEY.md</a:t>
            </a:r>
          </a:p>
          <a:p>
            <a:r>
              <a:t>https://github.com/mario-andreschak/factored-hackathon-2026-mcg/blob/7de0bbd670c25e4ad83476c6d7b70c45cc58a137/docs/submission/measurements/card-block-live/README.md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(participant voice)</a:t>
            </a:r>
          </a:p>
          <a:p>
            <a:r>
              <a:t>Select the unfamiliar charge. Savia explains the checked merchant, amount and status. Ask its specialists to compare evidence; their saved suggestions wait when you return. The recorded customer path includes a grounded answer, two completed reviewers, and saved recommendations after a new chat. Confirm once. Savia blocks the owned card, writes a durable status, and rereads an independent receipt. Asking never writes. Foreign cards, missing consent, and tampered receipts are refused.</a:t>
            </a:r>
          </a:p>
          <a:p/>
          <a:p>
            <a:r>
              <a:t>IF ASKED</a:t>
            </a:r>
          </a:p>
          <a:p>
            <a:r>
              <a:t>Actual fictional Spanish UI is shown with an English summary. Recorded: grounded answer, two completed model reviewers, saved suggestions surviving new chat/reload and helpful informational closure. Complete native voice playback has receipts; a separate simulated receipt check repeats after 30 real minutes. New protection evidence consists of two public authenticated API journeys over fictional cards, not a new GUI or voice recording. Preparation leaves status unchanged; explicit consent precedes verified block readback, and a fresh login recovers it. Real human assignment, real-bank block/refund, push/email delivery and multi-day completion remain unverified. The story rail joins separately qualified capabilities; it is not a recorded production lifecycle.</a:t>
            </a:r>
          </a:p>
          <a:p/>
          <a:p>
            <a:r>
              <a:t>SOURCES</a:t>
            </a:r>
          </a:p>
          <a:p>
            <a:r>
              <a:t>https://github.com/mario-andreschak/factored-hackathon-2026-mcg/blob/7de0bbd670c25e4ad83476c6d7b70c45cc58a137/docs/submission/CUSTOMER_JOURNEY.md</a:t>
            </a:r>
          </a:p>
          <a:p>
            <a:r>
              <a:t>https://github.com/mario-andreschak/factored-hackathon-2026-mcg/blob/843da50698b559dc748bea4505d1d93483ff29b3/docs/submission/RELEASE_CANDIDATE.md</a:t>
            </a:r>
          </a:p>
          <a:p>
            <a:r>
              <a:t>https://github.com/mario-andreschak/factored-hackathon-2026-mcg/blob/7de0bbd670c25e4ad83476c6d7b70c45cc58a137/docs/submission/measurements/CARD_BLOCK_VERIFICATION.md</a:t>
            </a:r>
          </a:p>
          <a:p>
            <a:r>
              <a:t>https://github.com/mario-andreschak/factored-hackathon-2026-mcg/blob/7de0bbd670c25e4ad83476c6d7b70c45cc58a137/docs/submission/measurements/card-block-live/README.md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(participant voice)</a:t>
            </a:r>
          </a:p>
          <a:p>
            <a:r>
              <a:t>A polished voice is not a case. ElevenLabs is a commercial voice platform. Savia is the bank-controlled service: owned facts, deterministic policy, consent, receipt, follow-up, swarm investigation. We built that in ten days with two people.</a:t>
            </a:r>
          </a:p>
          <a:p/>
          <a:p>
            <a:r>
              <a:t>IF ASKED</a:t>
            </a:r>
          </a:p>
          <a:p>
            <a:r>
              <a:t>ElevenLabs official September 28 article, updated October 5 and checked October 5, reports expressive voice, about 100 ms median model inference, 90+ languages, a financial-services dispute showcase and a combined transcription/turn-taking/TTS stack. These are vendor-reported capabilities; no matched performance benchmark is available. The comparison describes Savia’s product emphasis and bank-controlled policy/action boundary. The two-person, ten-day delivery statement is owner-supplied; historical implementation credits for Gloria Yanta Salc, Carlos Diaz and Mario Andreschak remain preserved.</a:t>
            </a:r>
          </a:p>
          <a:p/>
          <a:p>
            <a:r>
              <a:t>SOURCES</a:t>
            </a:r>
          </a:p>
          <a:p>
            <a:r>
              <a:t>https://elevenlabs.io/blog/eleven-v4-turbo-in-elevenagents</a:t>
            </a:r>
          </a:p>
          <a:p>
            <a:r>
              <a:t>https://github.com/mario-andreschak/factored-hackathon-2026-mcg/blob/7de0bbd670c25e4ad83476c6d7b70c45cc58a137/docs/submission/ELEVENLABS_COMPARISON.md</a:t>
            </a:r>
          </a:p>
          <a:p>
            <a:r>
              <a:t>https://github.com/mario-andreschak/factored-hackathon-2026-mcg/blob/7de0bbd670c25e4ad83476c6d7b70c45cc58a137/docs/FLUJO_PRODUCT_BOUNDARY.md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(participant voice)</a:t>
            </a:r>
          </a:p>
          <a:p>
            <a:r>
              <a:t>One customer voice. Ten teams behind it. 300/300 concurrent FLUJO. 18 sandboxes live together. The customer path we recorded is two reviewers; the architecture is ready to scale.</a:t>
            </a:r>
          </a:p>
          <a:p/>
          <a:p>
            <a:r>
              <a:t>IF ASKED</a:t>
            </a:r>
          </a:p>
          <a:p>
            <a:r>
              <a:t>Exact 100-agent customer completion has not yet been demonstrated; one later attempt ended on a disabled provider workspace before delegation. Diagram counting: ten team Machines × (one lead + nine child specialists) = 100 team conversations; the root coordinator is separate. The 300/300 foundation result is the repeat neutral reference-code workload with 300 concurrent client submissions queued through FLUJO, 1k context, Qwen3.8-27B FP8 and vLLM on a rented H100; it does not mean 300 simultaneous GPU generations or 300 customer investigations. Queue-inclusive p50/p95 were 273.40/441.60 seconds. First wording yielded 217/300 correct; direct inference yielded 399/400. Historical collaboration had 18 leaf sandboxes live together, 17 completed leaf team runs and six matching output hashes. Six of 24 leaf slots failed provisioning, and operator steering was required. The larger recovered run enrolled 96 child workers over time. These preserve the tested foundation and qualify the scale design; they are separate from the successful recorded two-reviewer customer path and the local Luna workload.</a:t>
            </a:r>
          </a:p>
          <a:p/>
          <a:p>
            <a:r>
              <a:t>SOURCES</a:t>
            </a:r>
          </a:p>
          <a:p>
            <a:r>
              <a:t>https://github.com/mario-andreschak/factored-hackathon-2026-mcg/blob/7de0bbd670c25e4ad83476c6d7b70c45cc58a137/docs/submission/assistant/FLEET_CONNECTOR.md</a:t>
            </a:r>
          </a:p>
          <a:p>
            <a:r>
              <a:t>https://github.com/mario-andreschak/factored-hackathon-2026-mcg/blob/95e2b9d62685f2669473258b88935a43dbe1bf75/docs/submission/measurements/INFRASTRUCTURE_CAPACITY.md</a:t>
            </a:r>
          </a:p>
          <a:p>
            <a:r>
              <a:t>https://github.com/mario-andreschak/factored-hackathon-2026-mcg/blob/95e2b9d62685f2669473258b88935a43dbe1bf75/docs/submission/measurements/infrastructure-capacity.json</a:t>
            </a:r>
          </a:p>
          <a:p>
            <a:r>
              <a:t>https://github.com/mario-andreschak/factored-hackathon-2026-mcg/blob/7de0bbd670c25e4ad83476c6d7b70c45cc58a137/docs/submission/CUSTOMER_JOURNEY.md</a:t>
            </a:r>
          </a:p>
          <a:p>
            <a:r>
              <a:t>https://github.com/mario-andreschak/factored-hackathon-2026-mcg/blob/7de0bbd670c25e4ad83476c6d7b70c45cc58a137/docs/architecture/rc-runtime-reference.md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(participant voice)</a:t>
            </a:r>
          </a:p>
          <a:p>
            <a:r>
              <a:t>Policy, not the model, authorizes the card action. Savia and Banking MCP own facts, nineteen ordered rules, consent and receipts. FLUJO remains the generic orchestration foundation. One thousand seventy-eight offline core checks exercise that boundary. One hundred local Luna fixture decisions matched their expected results. Two live Spanish and Portuguese API journeys verified card protection. The data audit taught us to ground new inquiries in owned transactions. The bank controls the stack and the next step.</a:t>
            </a:r>
          </a:p>
          <a:p/>
          <a:p>
            <a:r>
              <a:t>IF ASKED</a:t>
            </a:r>
          </a:p>
          <a:p>
            <a:r>
              <a:t>Fresh core qualification: 1,078 passing checks, zero errors/failures/skips and no provider calls. It executed 14 suites; 39 core/domain source files independently match the deployed source. This does not establish all-repository CI or current end-to-end customer acceptance. Luna: 100 completed actual local subscription requests, 50 ES/50 PT, 10 distinct request phrases with varied fictional facts, exact frozen oracle and bounded no-action checks. Independent deterministic baseline also 100/100; no quality improvement, 100 collaborative agents, deployed GUI, bank writes or simultaneous GPU-generation claim. Public API protection: two actual ES/PT authenticated journeys on application f3c57b26, consent before a fictional block, verified receipt readback/retry and status recovered on fresh login; no new GUI or voice acceptance. Data-to-product decision: published complaint-product links violate customer ownership, so new inquiries use owned reads. Keep ownership and no-write rules deterministic. Savia/Banking MCP own domain data/policy/state; FLUJO main keeps generic chat/flow/tool/MCP interfaces. Source-documented local-model/deployment options are not a measured all-local Savia rollout. Historical queued reference-code capacity, including 300/300 repeat workload, remains separate extension evidence with failure and timing disclosures.</a:t>
            </a:r>
          </a:p>
          <a:p/>
          <a:p>
            <a:r>
              <a:t>SOURCES</a:t>
            </a:r>
          </a:p>
          <a:p>
            <a:r>
              <a:t>https://github.com/mario-andreschak/factored-hackathon-2026-mcg/blob/7de0bbd670c25e4ad83476c6d7b70c45cc58a137/docs/submission/measurements/core-engine-final/README.md</a:t>
            </a:r>
          </a:p>
          <a:p>
            <a:r>
              <a:t>https://github.com/mario-andreschak/factored-hackathon-2026-mcg/blob/7de0bbd670c25e4ad83476c6d7b70c45cc58a137/docs/submission/measurements/luna-100/README.md</a:t>
            </a:r>
          </a:p>
          <a:p>
            <a:r>
              <a:t>https://github.com/mario-andreschak/factored-hackathon-2026-mcg/blob/7de0bbd670c25e4ad83476c6d7b70c45cc58a137/docs/submission/measurements/card-block-live/README.md</a:t>
            </a:r>
          </a:p>
          <a:p>
            <a:r>
              <a:t>https://github.com/mario-andreschak/factored-hackathon-2026-mcg/blob/f3c57b26d07c1e96b6e61a25befcbbc5fd51a17f/frontend/server/app.py</a:t>
            </a:r>
          </a:p>
          <a:p>
            <a:r>
              <a:t>https://github.com/mario-andreschak/factored-hackathon-2026-mcg/blob/7de0bbd670c25e4ad83476c6d7b70c45cc58a137/docs/review/OPERATING_DECISIONS.md</a:t>
            </a:r>
          </a:p>
          <a:p>
            <a:r>
              <a:t>https://github.com/mario-andreschak/factored-hackathon-2026-mcg/blob/7de0bbd670c25e4ad83476c6d7b70c45cc58a137/docs/FLUJO_PRODUCT_BOUNDARY.md</a:t>
            </a:r>
          </a:p>
          <a:p>
            <a:r>
              <a:t>https://github.com/mario-andreschak/factored-hackathon-2026-mcg/blob/7de0bbd670c25e4ad83476c6d7b70c45cc58a137/docs/architecture/system-landscape.md</a:t>
            </a:r>
          </a:p>
          <a:p>
            <a:r>
              <a:t>https://github.com/mario-andreschak/FLUJO/blob/main/docs/features/models/connecting.md</a:t>
            </a:r>
          </a:p>
          <a:p>
            <a:r>
              <a:t>https://github.com/mario-andreschak/factored-hackathon-2026-mcg/blob/95e2b9d62685f2669473258b88935a43dbe1bf75/docs/submission/measurements/INFRASTRUCTURE_CAPACITY.md</a:t>
            </a:r>
          </a:p>
          <a:p>
            <a:r>
              <a:t>https://github.com/mario-andreschak/factored-hackathon-2026-mcg/blob/95e2b9d62685f2669473258b88935a43dbe1bf75/docs/submission/measurements/infrastructure-capacity.json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(participant voice)</a:t>
            </a:r>
          </a:p>
          <a:p>
            <a:r>
              <a:t>For customers, the ambition is less chasing and less repeating. For the bank, it is clearer evidence and a better prepared handoff. Start with transaction disputes, then reuse the same modular service for other customer problems. We are seeking a bank partner for a bounded pilot: measure repeat contacts, helpful answers, handoff quality and cost per case. Measure the service on real customer needs, with a small rollout and a clear review gate. Ask once. Savia follows through.</a:t>
            </a:r>
          </a:p>
          <a:p/>
          <a:p>
            <a:r>
              <a:t>IF ASKED</a:t>
            </a:r>
          </a:p>
          <a:p>
            <a:r>
              <a:t>Pilot invitation, not measured ROI. Live fictional demo link is a review entry point, not a freshly verified end-to-end customer acceptance. Entry code SAVIA-2026. Production bank actions and live human assignment are not claimed. Founder/team credits preserve Gloria Yanta Salc (prompt flow / decision design), Carlos Diaz (data pipeline / lookup), Mario Andreschak (integration / orchestration).</a:t>
            </a:r>
          </a:p>
          <a:p/>
          <a:p>
            <a:r>
              <a:t>SOURCES</a:t>
            </a:r>
          </a:p>
          <a:p>
            <a:r>
              <a:t>https://github.com/mario-andreschak/factored-hackathon-2026-mcg/blob/7de0bbd670c25e4ad83476c6d7b70c45cc58a137/docs/submission/CUSTOMER_JOURNEY.md</a:t>
            </a:r>
          </a:p>
          <a:p>
            <a:r>
              <a:t>https://github.com/mario-andreschak/factored-hackathon-2026-mcg/blob/843da50698b559dc748bea4505d1d93483ff29b3/docs/submission/RELEASE_CANDIDATE.md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elevenlabs.io/blog/eleven-v4-turbo-in-elevenagent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savia-rc-2026.fly.dev"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332D"/>
        </a:solidFill>
        <a:effectLst/>
      </p:bgPr>
    </p:bg>
    <p:spTree>
      <p:nvGrpSpPr>
        <p:cNvPr id="1" name=""/>
        <p:cNvGrpSpPr/>
        <p:nvPr/>
      </p:nvGrpSpPr>
      <p:grpSpPr/>
      <p:sp>
        <p:nvSpPr>
          <p:cNvPr id="2" name="Rectangle 1"/>
          <p:cNvSpPr/>
          <p:nvPr/>
        </p:nvSpPr>
        <p:spPr>
          <a:xfrm>
            <a:off x="585216" y="512064"/>
            <a:ext cx="457200" cy="6400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07008" y="374904"/>
            <a:ext cx="11887200" cy="320040"/>
          </a:xfrm>
          <a:prstGeom prst="rect">
            <a:avLst/>
          </a:prstGeom>
          <a:noFill/>
        </p:spPr>
        <p:txBody>
          <a:bodyPr wrap="square" lIns="9144" rIns="9144" tIns="0" bIns="0" anchor="t">
            <a:spAutoFit/>
          </a:bodyPr>
          <a:lstStyle/>
          <a:p>
            <a:pPr>
              <a:spcAft>
                <a:spcPts val="200"/>
              </a:spcAft>
            </a:pPr>
            <a:r>
              <a:rPr sz="1100" b="1">
                <a:solidFill>
                  <a:srgbClr val="D9EDB7"/>
                </a:solidFill>
                <a:latin typeface="Aptos"/>
              </a:rPr>
              <a:t>SAVIA / FACTORED AI &amp; DATA HACKATHON 2026</a:t>
            </a:r>
          </a:p>
        </p:txBody>
      </p:sp>
      <p:sp>
        <p:nvSpPr>
          <p:cNvPr id="4" name="TextBox 3"/>
          <p:cNvSpPr txBox="1"/>
          <p:nvPr/>
        </p:nvSpPr>
        <p:spPr>
          <a:xfrm>
            <a:off x="658368" y="7772400"/>
            <a:ext cx="10972800" cy="228600"/>
          </a:xfrm>
          <a:prstGeom prst="rect">
            <a:avLst/>
          </a:prstGeom>
          <a:noFill/>
        </p:spPr>
        <p:txBody>
          <a:bodyPr wrap="square" lIns="9144" rIns="9144" tIns="0" bIns="0" anchor="t">
            <a:spAutoFit/>
          </a:bodyPr>
          <a:lstStyle/>
          <a:p>
            <a:pPr>
              <a:spcAft>
                <a:spcPts val="200"/>
              </a:spcAft>
            </a:pPr>
            <a:r>
              <a:rPr sz="900" b="0">
                <a:solidFill>
                  <a:srgbClr val="C6D3CA"/>
                </a:solidFill>
                <a:latin typeface="Aptos"/>
              </a:rPr>
              <a:t>SAVIA  /  ASK ONCE. SAVIA FOLLOWS THROUGH.</a:t>
            </a:r>
          </a:p>
        </p:txBody>
      </p:sp>
      <p:sp>
        <p:nvSpPr>
          <p:cNvPr id="5" name="TextBox 4"/>
          <p:cNvSpPr txBox="1"/>
          <p:nvPr/>
        </p:nvSpPr>
        <p:spPr>
          <a:xfrm>
            <a:off x="13002768" y="7754112"/>
            <a:ext cx="914400" cy="256032"/>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01 / 06</a:t>
            </a:r>
          </a:p>
        </p:txBody>
      </p:sp>
      <p:sp>
        <p:nvSpPr>
          <p:cNvPr id="6" name="TextBox 5"/>
          <p:cNvSpPr txBox="1"/>
          <p:nvPr/>
        </p:nvSpPr>
        <p:spPr>
          <a:xfrm>
            <a:off x="685800" y="1353312"/>
            <a:ext cx="8503920" cy="1965960"/>
          </a:xfrm>
          <a:prstGeom prst="rect">
            <a:avLst/>
          </a:prstGeom>
          <a:noFill/>
        </p:spPr>
        <p:txBody>
          <a:bodyPr wrap="square" lIns="9144" rIns="9144" tIns="0" bIns="0" anchor="t">
            <a:spAutoFit/>
          </a:bodyPr>
          <a:lstStyle/>
          <a:p>
            <a:pPr>
              <a:spcAft>
                <a:spcPts val="200"/>
              </a:spcAft>
            </a:pPr>
            <a:r>
              <a:rPr sz="5500" b="1">
                <a:solidFill>
                  <a:srgbClr val="F8F8F2"/>
                </a:solidFill>
                <a:latin typeface="Aptos"/>
              </a:rPr>
              <a:t>Ask once.</a:t>
            </a:r>
          </a:p>
          <a:p>
            <a:pPr>
              <a:spcAft>
                <a:spcPts val="200"/>
              </a:spcAft>
            </a:pPr>
            <a:r>
              <a:rPr sz="5500" b="1">
                <a:solidFill>
                  <a:srgbClr val="F8F8F2"/>
                </a:solidFill>
                <a:latin typeface="Aptos"/>
              </a:rPr>
              <a:t>Savia follows through.</a:t>
            </a:r>
          </a:p>
        </p:txBody>
      </p:sp>
      <p:sp>
        <p:nvSpPr>
          <p:cNvPr id="7" name="TextBox 6"/>
          <p:cNvSpPr txBox="1"/>
          <p:nvPr/>
        </p:nvSpPr>
        <p:spPr>
          <a:xfrm>
            <a:off x="722376" y="3694176"/>
            <a:ext cx="7772400" cy="1234440"/>
          </a:xfrm>
          <a:prstGeom prst="rect">
            <a:avLst/>
          </a:prstGeom>
          <a:noFill/>
        </p:spPr>
        <p:txBody>
          <a:bodyPr wrap="square" lIns="9144" rIns="9144" tIns="0" bIns="0" anchor="t">
            <a:spAutoFit/>
          </a:bodyPr>
          <a:lstStyle/>
          <a:p>
            <a:pPr>
              <a:spcAft>
                <a:spcPts val="200"/>
              </a:spcAft>
            </a:pPr>
            <a:r>
              <a:rPr sz="2700" b="0">
                <a:solidFill>
                  <a:srgbClr val="D9EDB7"/>
                </a:solidFill>
                <a:latin typeface="Aptos"/>
              </a:rPr>
              <a:t>One voice for you.</a:t>
            </a:r>
          </a:p>
          <a:p>
            <a:pPr>
              <a:spcAft>
                <a:spcPts val="200"/>
              </a:spcAft>
            </a:pPr>
            <a:r>
              <a:rPr sz="2700" b="0">
                <a:solidFill>
                  <a:srgbClr val="D9EDB7"/>
                </a:solidFill>
                <a:latin typeface="Aptos"/>
              </a:rPr>
              <a:t>A case that keeps its context.</a:t>
            </a:r>
          </a:p>
        </p:txBody>
      </p:sp>
      <p:sp>
        <p:nvSpPr>
          <p:cNvPr id="8" name="Oval 7"/>
          <p:cNvSpPr/>
          <p:nvPr/>
        </p:nvSpPr>
        <p:spPr>
          <a:xfrm>
            <a:off x="10122408" y="1655064"/>
            <a:ext cx="1453896" cy="1453896"/>
          </a:xfrm>
          <a:prstGeom prst="ellipse">
            <a:avLst/>
          </a:prstGeom>
          <a:solidFill>
            <a:srgbClr val="F8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47583" y="2222083"/>
            <a:ext cx="625175" cy="625175"/>
          </a:xfrm>
          <a:prstGeom prst="ellipse">
            <a:avLst/>
          </a:prstGeom>
          <a:solidFill>
            <a:srgbClr val="1233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547226" y="1591056"/>
            <a:ext cx="1453896" cy="1453896"/>
          </a:xfrm>
          <a:prstGeom prst="ellipse">
            <a:avLst/>
          </a:prstGeom>
          <a:solidFill>
            <a:srgbClr val="F8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172401" y="2158075"/>
            <a:ext cx="625175" cy="625175"/>
          </a:xfrm>
          <a:prstGeom prst="ellipse">
            <a:avLst/>
          </a:prstGeom>
          <a:solidFill>
            <a:srgbClr val="1233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72600" y="4023360"/>
            <a:ext cx="73152" cy="38404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19488" y="3895344"/>
            <a:ext cx="73152" cy="640080"/>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866376" y="3767328"/>
            <a:ext cx="73152" cy="896112"/>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113264" y="3639312"/>
            <a:ext cx="73152" cy="1152144"/>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360152" y="3511296"/>
            <a:ext cx="73152" cy="1408176"/>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607040" y="4023360"/>
            <a:ext cx="73152" cy="38404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853928" y="3895344"/>
            <a:ext cx="73152" cy="640080"/>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100816" y="3767328"/>
            <a:ext cx="73152" cy="896112"/>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1347704" y="3639312"/>
            <a:ext cx="73152" cy="1152144"/>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594592" y="3511296"/>
            <a:ext cx="73152" cy="1408176"/>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841480" y="4023360"/>
            <a:ext cx="73152" cy="38404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088368" y="3895344"/>
            <a:ext cx="73152" cy="640080"/>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335256" y="3767328"/>
            <a:ext cx="73152" cy="896112"/>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582144" y="3639312"/>
            <a:ext cx="73152" cy="1152144"/>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2829032" y="3511296"/>
            <a:ext cx="73152" cy="1408176"/>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3075920" y="4023360"/>
            <a:ext cx="73152" cy="38404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22376" y="5550408"/>
            <a:ext cx="13167360" cy="139903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5769864"/>
            <a:ext cx="8686800" cy="548640"/>
          </a:xfrm>
          <a:prstGeom prst="rect">
            <a:avLst/>
          </a:prstGeom>
          <a:noFill/>
        </p:spPr>
        <p:txBody>
          <a:bodyPr wrap="square" lIns="9144" rIns="9144" tIns="0" bIns="0" anchor="t">
            <a:spAutoFit/>
          </a:bodyPr>
          <a:lstStyle/>
          <a:p>
            <a:pPr>
              <a:spcAft>
                <a:spcPts val="200"/>
              </a:spcAft>
            </a:pPr>
            <a:r>
              <a:rPr sz="2800" b="1">
                <a:solidFill>
                  <a:srgbClr val="F8F8F2"/>
                </a:solidFill>
                <a:latin typeface="Aptos"/>
              </a:rPr>
              <a:t>“I don’t recognize this transaction.”</a:t>
            </a:r>
          </a:p>
        </p:txBody>
      </p:sp>
      <p:sp>
        <p:nvSpPr>
          <p:cNvPr id="30" name="TextBox 29"/>
          <p:cNvSpPr txBox="1"/>
          <p:nvPr/>
        </p:nvSpPr>
        <p:spPr>
          <a:xfrm>
            <a:off x="987552" y="6419088"/>
            <a:ext cx="8961120" cy="256032"/>
          </a:xfrm>
          <a:prstGeom prst="rect">
            <a:avLst/>
          </a:prstGeom>
          <a:noFill/>
        </p:spPr>
        <p:txBody>
          <a:bodyPr wrap="square" lIns="9144" rIns="9144" tIns="0" bIns="0" anchor="t">
            <a:spAutoFit/>
          </a:bodyPr>
          <a:lstStyle/>
          <a:p>
            <a:pPr>
              <a:spcAft>
                <a:spcPts val="200"/>
              </a:spcAft>
            </a:pPr>
            <a:r>
              <a:rPr sz="1100" b="1">
                <a:solidFill>
                  <a:srgbClr val="D9EDB7"/>
                </a:solidFill>
                <a:latin typeface="Aptos"/>
              </a:rPr>
              <a:t>OUR FIRST USE CASE: TRANSACTION DISPUTES</a:t>
            </a:r>
          </a:p>
        </p:txBody>
      </p:sp>
      <p:sp>
        <p:nvSpPr>
          <p:cNvPr id="31" name="TextBox 30"/>
          <p:cNvSpPr txBox="1"/>
          <p:nvPr/>
        </p:nvSpPr>
        <p:spPr>
          <a:xfrm>
            <a:off x="10104120" y="5861304"/>
            <a:ext cx="3520440" cy="621792"/>
          </a:xfrm>
          <a:prstGeom prst="rect">
            <a:avLst/>
          </a:prstGeom>
          <a:noFill/>
        </p:spPr>
        <p:txBody>
          <a:bodyPr wrap="square" lIns="9144" rIns="9144" tIns="0" bIns="0" anchor="t">
            <a:spAutoFit/>
          </a:bodyPr>
          <a:lstStyle/>
          <a:p>
            <a:pPr>
              <a:spcAft>
                <a:spcPts val="200"/>
              </a:spcAft>
            </a:pPr>
            <a:r>
              <a:rPr sz="1600" b="0">
                <a:solidFill>
                  <a:srgbClr val="C6D3CA"/>
                </a:solidFill>
                <a:latin typeface="Aptos"/>
              </a:rPr>
              <a:t>Checked facts.</a:t>
            </a:r>
          </a:p>
          <a:p>
            <a:pPr>
              <a:spcAft>
                <a:spcPts val="200"/>
              </a:spcAft>
            </a:pPr>
            <a:r>
              <a:rPr sz="1600" b="0">
                <a:solidFill>
                  <a:srgbClr val="C6D3CA"/>
                </a:solidFill>
                <a:latin typeface="Aptos"/>
              </a:rPr>
              <a:t>A saved next step.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332D"/>
        </a:solidFill>
        <a:effectLst/>
      </p:bgPr>
    </p:bg>
    <p:spTree>
      <p:nvGrpSpPr>
        <p:cNvPr id="1" name=""/>
        <p:cNvGrpSpPr/>
        <p:nvPr/>
      </p:nvGrpSpPr>
      <p:grpSpPr/>
      <p:sp>
        <p:nvSpPr>
          <p:cNvPr id="2" name="Rectangle 1"/>
          <p:cNvSpPr/>
          <p:nvPr/>
        </p:nvSpPr>
        <p:spPr>
          <a:xfrm>
            <a:off x="585216" y="512064"/>
            <a:ext cx="457200" cy="6400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07008" y="374904"/>
            <a:ext cx="11887200" cy="320040"/>
          </a:xfrm>
          <a:prstGeom prst="rect">
            <a:avLst/>
          </a:prstGeom>
          <a:noFill/>
        </p:spPr>
        <p:txBody>
          <a:bodyPr wrap="square" lIns="9144" rIns="9144" tIns="0" bIns="0" anchor="t">
            <a:spAutoFit/>
          </a:bodyPr>
          <a:lstStyle/>
          <a:p>
            <a:pPr>
              <a:spcAft>
                <a:spcPts val="200"/>
              </a:spcAft>
            </a:pPr>
            <a:r>
              <a:rPr sz="1100" b="1">
                <a:solidFill>
                  <a:srgbClr val="D9EDB7"/>
                </a:solidFill>
                <a:latin typeface="Aptos"/>
              </a:rPr>
              <a:t>01 / THE CUSTOMER EXPERIENCE</a:t>
            </a:r>
          </a:p>
        </p:txBody>
      </p:sp>
      <p:sp>
        <p:nvSpPr>
          <p:cNvPr id="4" name="TextBox 3"/>
          <p:cNvSpPr txBox="1"/>
          <p:nvPr/>
        </p:nvSpPr>
        <p:spPr>
          <a:xfrm>
            <a:off x="658368" y="7772400"/>
            <a:ext cx="10972800" cy="228600"/>
          </a:xfrm>
          <a:prstGeom prst="rect">
            <a:avLst/>
          </a:prstGeom>
          <a:noFill/>
        </p:spPr>
        <p:txBody>
          <a:bodyPr wrap="square" lIns="9144" rIns="9144" tIns="0" bIns="0" anchor="t">
            <a:spAutoFit/>
          </a:bodyPr>
          <a:lstStyle/>
          <a:p>
            <a:pPr>
              <a:spcAft>
                <a:spcPts val="200"/>
              </a:spcAft>
            </a:pPr>
            <a:r>
              <a:rPr sz="900" b="0">
                <a:solidFill>
                  <a:srgbClr val="C6D3CA"/>
                </a:solidFill>
                <a:latin typeface="Aptos"/>
              </a:rPr>
              <a:t>SAVIA  /  ASK ONCE. SAVIA FOLLOWS THROUGH.</a:t>
            </a:r>
          </a:p>
        </p:txBody>
      </p:sp>
      <p:sp>
        <p:nvSpPr>
          <p:cNvPr id="5" name="TextBox 4"/>
          <p:cNvSpPr txBox="1"/>
          <p:nvPr/>
        </p:nvSpPr>
        <p:spPr>
          <a:xfrm>
            <a:off x="13002768" y="7754112"/>
            <a:ext cx="914400" cy="256032"/>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02 / 06</a:t>
            </a:r>
          </a:p>
        </p:txBody>
      </p:sp>
      <p:sp>
        <p:nvSpPr>
          <p:cNvPr id="6" name="TextBox 5"/>
          <p:cNvSpPr txBox="1"/>
          <p:nvPr/>
        </p:nvSpPr>
        <p:spPr>
          <a:xfrm>
            <a:off x="658368" y="978408"/>
            <a:ext cx="13533120" cy="1444752"/>
          </a:xfrm>
          <a:prstGeom prst="rect">
            <a:avLst/>
          </a:prstGeom>
          <a:noFill/>
        </p:spPr>
        <p:txBody>
          <a:bodyPr wrap="square" lIns="9144" rIns="9144" tIns="0" bIns="0" anchor="t">
            <a:spAutoFit/>
          </a:bodyPr>
          <a:lstStyle/>
          <a:p>
            <a:pPr>
              <a:spcAft>
                <a:spcPts val="200"/>
              </a:spcAft>
            </a:pPr>
            <a:r>
              <a:rPr sz="3800" b="1">
                <a:solidFill>
                  <a:srgbClr val="F8F8F2"/>
                </a:solidFill>
                <a:latin typeface="Aptos"/>
              </a:rPr>
              <a:t>Your problem keeps moving.</a:t>
            </a:r>
          </a:p>
          <a:p>
            <a:pPr>
              <a:spcAft>
                <a:spcPts val="200"/>
              </a:spcAft>
            </a:pPr>
            <a:r>
              <a:rPr sz="3800" b="1">
                <a:solidFill>
                  <a:srgbClr val="F8F8F2"/>
                </a:solidFill>
                <a:latin typeface="Aptos"/>
              </a:rPr>
              <a:t>You get on with your day.</a:t>
            </a:r>
          </a:p>
        </p:txBody>
      </p:sp>
      <p:sp>
        <p:nvSpPr>
          <p:cNvPr id="7" name="Oval 6"/>
          <p:cNvSpPr/>
          <p:nvPr/>
        </p:nvSpPr>
        <p:spPr>
          <a:xfrm>
            <a:off x="713232" y="2779776"/>
            <a:ext cx="329184" cy="329184"/>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1288" y="2761488"/>
            <a:ext cx="1737360" cy="329184"/>
          </a:xfrm>
          <a:prstGeom prst="rect">
            <a:avLst/>
          </a:prstGeom>
          <a:noFill/>
        </p:spPr>
        <p:txBody>
          <a:bodyPr wrap="square" lIns="9144" rIns="9144" tIns="0" bIns="0" anchor="t">
            <a:spAutoFit/>
          </a:bodyPr>
          <a:lstStyle/>
          <a:p>
            <a:pPr>
              <a:spcAft>
                <a:spcPts val="200"/>
              </a:spcAft>
            </a:pPr>
            <a:r>
              <a:rPr sz="1300" b="1">
                <a:solidFill>
                  <a:srgbClr val="D9EDB7"/>
                </a:solidFill>
                <a:latin typeface="Aptos"/>
              </a:rPr>
              <a:t>01</a:t>
            </a:r>
          </a:p>
        </p:txBody>
      </p:sp>
      <p:cxnSp>
        <p:nvCxnSpPr>
          <p:cNvPr id="9" name="Connector 8"/>
          <p:cNvCxnSpPr/>
          <p:nvPr/>
        </p:nvCxnSpPr>
        <p:spPr>
          <a:xfrm>
            <a:off x="1069848" y="2944368"/>
            <a:ext cx="1965960" cy="0"/>
          </a:xfrm>
          <a:prstGeom prst="line">
            <a:avLst/>
          </a:prstGeom>
          <a:ln w="19050">
            <a:solidFill>
              <a:srgbClr val="D9EDB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13232" y="3429000"/>
            <a:ext cx="2267712" cy="420624"/>
          </a:xfrm>
          <a:prstGeom prst="rect">
            <a:avLst/>
          </a:prstGeom>
          <a:noFill/>
        </p:spPr>
        <p:txBody>
          <a:bodyPr wrap="square" lIns="9144" rIns="9144" tIns="0" bIns="0" anchor="t">
            <a:spAutoFit/>
          </a:bodyPr>
          <a:lstStyle/>
          <a:p>
            <a:pPr>
              <a:spcAft>
                <a:spcPts val="200"/>
              </a:spcAft>
            </a:pPr>
            <a:r>
              <a:rPr sz="2700" b="1">
                <a:solidFill>
                  <a:srgbClr val="F8F8F2"/>
                </a:solidFill>
                <a:latin typeface="Aptos"/>
              </a:rPr>
              <a:t>Check</a:t>
            </a:r>
          </a:p>
        </p:txBody>
      </p:sp>
      <p:sp>
        <p:nvSpPr>
          <p:cNvPr id="11" name="TextBox 10"/>
          <p:cNvSpPr txBox="1"/>
          <p:nvPr/>
        </p:nvSpPr>
        <p:spPr>
          <a:xfrm>
            <a:off x="713232" y="3977639"/>
            <a:ext cx="2212848" cy="1051560"/>
          </a:xfrm>
          <a:prstGeom prst="rect">
            <a:avLst/>
          </a:prstGeom>
          <a:noFill/>
        </p:spPr>
        <p:txBody>
          <a:bodyPr wrap="square" lIns="9144" rIns="9144" tIns="0" bIns="0" anchor="t">
            <a:spAutoFit/>
          </a:bodyPr>
          <a:lstStyle/>
          <a:p>
            <a:pPr>
              <a:spcAft>
                <a:spcPts val="200"/>
              </a:spcAft>
            </a:pPr>
            <a:r>
              <a:rPr sz="1800" b="0">
                <a:solidFill>
                  <a:srgbClr val="C6D3CA"/>
                </a:solidFill>
                <a:latin typeface="Aptos"/>
              </a:rPr>
              <a:t>Understand your selected charge.</a:t>
            </a:r>
          </a:p>
        </p:txBody>
      </p:sp>
      <p:sp>
        <p:nvSpPr>
          <p:cNvPr id="12" name="Oval 11"/>
          <p:cNvSpPr/>
          <p:nvPr/>
        </p:nvSpPr>
        <p:spPr>
          <a:xfrm>
            <a:off x="3127248" y="2779776"/>
            <a:ext cx="329184" cy="329184"/>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761488"/>
            <a:ext cx="1737360" cy="329184"/>
          </a:xfrm>
          <a:prstGeom prst="rect">
            <a:avLst/>
          </a:prstGeom>
          <a:noFill/>
        </p:spPr>
        <p:txBody>
          <a:bodyPr wrap="square" lIns="9144" rIns="9144" tIns="0" bIns="0" anchor="t">
            <a:spAutoFit/>
          </a:bodyPr>
          <a:lstStyle/>
          <a:p>
            <a:pPr>
              <a:spcAft>
                <a:spcPts val="200"/>
              </a:spcAft>
            </a:pPr>
            <a:r>
              <a:rPr sz="1300" b="1">
                <a:solidFill>
                  <a:srgbClr val="D9EDB7"/>
                </a:solidFill>
                <a:latin typeface="Aptos"/>
              </a:rPr>
              <a:t>02</a:t>
            </a:r>
          </a:p>
        </p:txBody>
      </p:sp>
      <p:cxnSp>
        <p:nvCxnSpPr>
          <p:cNvPr id="14" name="Connector 13"/>
          <p:cNvCxnSpPr/>
          <p:nvPr/>
        </p:nvCxnSpPr>
        <p:spPr>
          <a:xfrm>
            <a:off x="3483864" y="2944368"/>
            <a:ext cx="1965960" cy="0"/>
          </a:xfrm>
          <a:prstGeom prst="line">
            <a:avLst/>
          </a:prstGeom>
          <a:ln w="19050">
            <a:solidFill>
              <a:srgbClr val="D9EDB7"/>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127248" y="3429000"/>
            <a:ext cx="2267712" cy="420624"/>
          </a:xfrm>
          <a:prstGeom prst="rect">
            <a:avLst/>
          </a:prstGeom>
          <a:noFill/>
        </p:spPr>
        <p:txBody>
          <a:bodyPr wrap="square" lIns="9144" rIns="9144" tIns="0" bIns="0" anchor="t">
            <a:spAutoFit/>
          </a:bodyPr>
          <a:lstStyle/>
          <a:p>
            <a:pPr>
              <a:spcAft>
                <a:spcPts val="200"/>
              </a:spcAft>
            </a:pPr>
            <a:r>
              <a:rPr sz="2700" b="1">
                <a:solidFill>
                  <a:srgbClr val="F8F8F2"/>
                </a:solidFill>
                <a:latin typeface="Aptos"/>
              </a:rPr>
              <a:t>Protect</a:t>
            </a:r>
          </a:p>
        </p:txBody>
      </p:sp>
      <p:sp>
        <p:nvSpPr>
          <p:cNvPr id="16" name="TextBox 15"/>
          <p:cNvSpPr txBox="1"/>
          <p:nvPr/>
        </p:nvSpPr>
        <p:spPr>
          <a:xfrm>
            <a:off x="3127248" y="3977639"/>
            <a:ext cx="2212848" cy="1051560"/>
          </a:xfrm>
          <a:prstGeom prst="rect">
            <a:avLst/>
          </a:prstGeom>
          <a:noFill/>
        </p:spPr>
        <p:txBody>
          <a:bodyPr wrap="square" lIns="9144" rIns="9144" tIns="0" bIns="0" anchor="t">
            <a:spAutoFit/>
          </a:bodyPr>
          <a:lstStyle/>
          <a:p>
            <a:pPr>
              <a:spcAft>
                <a:spcPts val="200"/>
              </a:spcAft>
            </a:pPr>
            <a:r>
              <a:rPr sz="1800" b="0">
                <a:solidFill>
                  <a:srgbClr val="C6D3CA"/>
                </a:solidFill>
                <a:latin typeface="Aptos"/>
              </a:rPr>
              <a:t>Confirm once. Block your owned card.</a:t>
            </a:r>
          </a:p>
        </p:txBody>
      </p:sp>
      <p:sp>
        <p:nvSpPr>
          <p:cNvPr id="17" name="Oval 16"/>
          <p:cNvSpPr/>
          <p:nvPr/>
        </p:nvSpPr>
        <p:spPr>
          <a:xfrm>
            <a:off x="5541264" y="2779776"/>
            <a:ext cx="329184" cy="329184"/>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2761488"/>
            <a:ext cx="1737360" cy="329184"/>
          </a:xfrm>
          <a:prstGeom prst="rect">
            <a:avLst/>
          </a:prstGeom>
          <a:noFill/>
        </p:spPr>
        <p:txBody>
          <a:bodyPr wrap="square" lIns="9144" rIns="9144" tIns="0" bIns="0" anchor="t">
            <a:spAutoFit/>
          </a:bodyPr>
          <a:lstStyle/>
          <a:p>
            <a:pPr>
              <a:spcAft>
                <a:spcPts val="200"/>
              </a:spcAft>
            </a:pPr>
            <a:r>
              <a:rPr sz="1300" b="1">
                <a:solidFill>
                  <a:srgbClr val="D9EDB7"/>
                </a:solidFill>
                <a:latin typeface="Aptos"/>
              </a:rPr>
              <a:t>03</a:t>
            </a:r>
          </a:p>
        </p:txBody>
      </p:sp>
      <p:cxnSp>
        <p:nvCxnSpPr>
          <p:cNvPr id="19" name="Connector 18"/>
          <p:cNvCxnSpPr/>
          <p:nvPr/>
        </p:nvCxnSpPr>
        <p:spPr>
          <a:xfrm>
            <a:off x="5897880" y="2944368"/>
            <a:ext cx="1965960" cy="0"/>
          </a:xfrm>
          <a:prstGeom prst="line">
            <a:avLst/>
          </a:prstGeom>
          <a:ln w="19050">
            <a:solidFill>
              <a:srgbClr val="D9EDB7"/>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541264" y="3429000"/>
            <a:ext cx="2267712" cy="420624"/>
          </a:xfrm>
          <a:prstGeom prst="rect">
            <a:avLst/>
          </a:prstGeom>
          <a:noFill/>
        </p:spPr>
        <p:txBody>
          <a:bodyPr wrap="square" lIns="9144" rIns="9144" tIns="0" bIns="0" anchor="t">
            <a:spAutoFit/>
          </a:bodyPr>
          <a:lstStyle/>
          <a:p>
            <a:pPr>
              <a:spcAft>
                <a:spcPts val="200"/>
              </a:spcAft>
            </a:pPr>
            <a:r>
              <a:rPr sz="2700" b="1">
                <a:solidFill>
                  <a:srgbClr val="F8F8F2"/>
                </a:solidFill>
                <a:latin typeface="Aptos"/>
              </a:rPr>
              <a:t>Explore</a:t>
            </a:r>
          </a:p>
        </p:txBody>
      </p:sp>
      <p:sp>
        <p:nvSpPr>
          <p:cNvPr id="21" name="TextBox 20"/>
          <p:cNvSpPr txBox="1"/>
          <p:nvPr/>
        </p:nvSpPr>
        <p:spPr>
          <a:xfrm>
            <a:off x="5541264" y="3977639"/>
            <a:ext cx="2212848" cy="1051560"/>
          </a:xfrm>
          <a:prstGeom prst="rect">
            <a:avLst/>
          </a:prstGeom>
          <a:noFill/>
        </p:spPr>
        <p:txBody>
          <a:bodyPr wrap="square" lIns="9144" rIns="9144" tIns="0" bIns="0" anchor="t">
            <a:spAutoFit/>
          </a:bodyPr>
          <a:lstStyle/>
          <a:p>
            <a:pPr>
              <a:spcAft>
                <a:spcPts val="200"/>
              </a:spcAft>
            </a:pPr>
            <a:r>
              <a:rPr sz="1800" b="0">
                <a:solidFill>
                  <a:srgbClr val="C6D3CA"/>
                </a:solidFill>
                <a:latin typeface="Aptos"/>
              </a:rPr>
              <a:t>Specialists compare the evidence.</a:t>
            </a:r>
          </a:p>
        </p:txBody>
      </p:sp>
      <p:sp>
        <p:nvSpPr>
          <p:cNvPr id="22" name="Oval 21"/>
          <p:cNvSpPr/>
          <p:nvPr/>
        </p:nvSpPr>
        <p:spPr>
          <a:xfrm>
            <a:off x="7955279" y="2779776"/>
            <a:ext cx="329184" cy="329184"/>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03336" y="2761488"/>
            <a:ext cx="1737360" cy="329184"/>
          </a:xfrm>
          <a:prstGeom prst="rect">
            <a:avLst/>
          </a:prstGeom>
          <a:noFill/>
        </p:spPr>
        <p:txBody>
          <a:bodyPr wrap="square" lIns="9144" rIns="9144" tIns="0" bIns="0" anchor="t">
            <a:spAutoFit/>
          </a:bodyPr>
          <a:lstStyle/>
          <a:p>
            <a:pPr>
              <a:spcAft>
                <a:spcPts val="200"/>
              </a:spcAft>
            </a:pPr>
            <a:r>
              <a:rPr sz="1300" b="1">
                <a:solidFill>
                  <a:srgbClr val="D9EDB7"/>
                </a:solidFill>
                <a:latin typeface="Aptos"/>
              </a:rPr>
              <a:t>04</a:t>
            </a:r>
          </a:p>
        </p:txBody>
      </p:sp>
      <p:sp>
        <p:nvSpPr>
          <p:cNvPr id="24" name="TextBox 23"/>
          <p:cNvSpPr txBox="1"/>
          <p:nvPr/>
        </p:nvSpPr>
        <p:spPr>
          <a:xfrm>
            <a:off x="7955279" y="3429000"/>
            <a:ext cx="2267712" cy="420624"/>
          </a:xfrm>
          <a:prstGeom prst="rect">
            <a:avLst/>
          </a:prstGeom>
          <a:noFill/>
        </p:spPr>
        <p:txBody>
          <a:bodyPr wrap="square" lIns="9144" rIns="9144" tIns="0" bIns="0" anchor="t">
            <a:spAutoFit/>
          </a:bodyPr>
          <a:lstStyle/>
          <a:p>
            <a:pPr>
              <a:spcAft>
                <a:spcPts val="200"/>
              </a:spcAft>
            </a:pPr>
            <a:r>
              <a:rPr sz="2700" b="1">
                <a:solidFill>
                  <a:srgbClr val="F8F8F2"/>
                </a:solidFill>
                <a:latin typeface="Aptos"/>
              </a:rPr>
              <a:t>Return</a:t>
            </a:r>
          </a:p>
        </p:txBody>
      </p:sp>
      <p:sp>
        <p:nvSpPr>
          <p:cNvPr id="25" name="TextBox 24"/>
          <p:cNvSpPr txBox="1"/>
          <p:nvPr/>
        </p:nvSpPr>
        <p:spPr>
          <a:xfrm>
            <a:off x="7955279" y="3977639"/>
            <a:ext cx="2212848" cy="1051560"/>
          </a:xfrm>
          <a:prstGeom prst="rect">
            <a:avLst/>
          </a:prstGeom>
          <a:noFill/>
        </p:spPr>
        <p:txBody>
          <a:bodyPr wrap="square" lIns="9144" rIns="9144" tIns="0" bIns="0" anchor="t">
            <a:spAutoFit/>
          </a:bodyPr>
          <a:lstStyle/>
          <a:p>
            <a:pPr>
              <a:spcAft>
                <a:spcPts val="200"/>
              </a:spcAft>
            </a:pPr>
            <a:r>
              <a:rPr sz="1800" b="0">
                <a:solidFill>
                  <a:srgbClr val="C6D3CA"/>
                </a:solidFill>
                <a:latin typeface="Aptos"/>
              </a:rPr>
              <a:t>Read your saved answer and next step.</a:t>
            </a:r>
          </a:p>
        </p:txBody>
      </p:sp>
      <p:sp>
        <p:nvSpPr>
          <p:cNvPr id="26" name="Rounded Rectangle 25"/>
          <p:cNvSpPr/>
          <p:nvPr/>
        </p:nvSpPr>
        <p:spPr>
          <a:xfrm>
            <a:off x="713232" y="5550408"/>
            <a:ext cx="9464040" cy="1435608"/>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5742432"/>
            <a:ext cx="8961120" cy="256032"/>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CARD PROTECTION / COMPLETED ACTION</a:t>
            </a:r>
          </a:p>
        </p:txBody>
      </p:sp>
      <p:sp>
        <p:nvSpPr>
          <p:cNvPr id="28" name="TextBox 27"/>
          <p:cNvSpPr txBox="1"/>
          <p:nvPr/>
        </p:nvSpPr>
        <p:spPr>
          <a:xfrm>
            <a:off x="932688" y="6190488"/>
            <a:ext cx="8915400" cy="896112"/>
          </a:xfrm>
          <a:prstGeom prst="rect">
            <a:avLst/>
          </a:prstGeom>
          <a:noFill/>
        </p:spPr>
        <p:txBody>
          <a:bodyPr wrap="square" lIns="9144" rIns="9144" tIns="0" bIns="0" anchor="t">
            <a:spAutoFit/>
          </a:bodyPr>
          <a:lstStyle/>
          <a:p>
            <a:pPr>
              <a:spcAft>
                <a:spcPts val="200"/>
              </a:spcAft>
            </a:pPr>
            <a:r>
              <a:rPr sz="1600" b="0">
                <a:solidFill>
                  <a:srgbClr val="F8F8F2"/>
                </a:solidFill>
                <a:latin typeface="Aptos"/>
              </a:rPr>
              <a:t>Confirm once. Savia blocks the owned card, writes a durable status, and rereads an independent receipt. Asking never writes. Foreign cards, missing consent, and tampered receipts are refused.</a:t>
            </a:r>
          </a:p>
        </p:txBody>
      </p:sp>
      <p:pic>
        <p:nvPicPr>
          <p:cNvPr id="29" name="Picture 28" descr="savia-integrated-closure-crop.png"/>
          <p:cNvPicPr>
            <a:picLocks noChangeAspect="1"/>
          </p:cNvPicPr>
          <p:nvPr/>
        </p:nvPicPr>
        <p:blipFill>
          <a:blip r:embed="rId3"/>
          <a:stretch>
            <a:fillRect/>
          </a:stretch>
        </p:blipFill>
        <p:spPr>
          <a:xfrm>
            <a:off x="10771632" y="2697480"/>
            <a:ext cx="3054096" cy="3456432"/>
          </a:xfrm>
          <a:prstGeom prst="rect">
            <a:avLst/>
          </a:prstGeom>
        </p:spPr>
      </p:pic>
      <p:sp>
        <p:nvSpPr>
          <p:cNvPr id="30" name="TextBox 29"/>
          <p:cNvSpPr txBox="1"/>
          <p:nvPr/>
        </p:nvSpPr>
        <p:spPr>
          <a:xfrm>
            <a:off x="10762488" y="6318504"/>
            <a:ext cx="3090672" cy="850392"/>
          </a:xfrm>
          <a:prstGeom prst="rect">
            <a:avLst/>
          </a:prstGeom>
          <a:noFill/>
        </p:spPr>
        <p:txBody>
          <a:bodyPr wrap="square" lIns="9144" rIns="9144" tIns="0" bIns="0" anchor="t">
            <a:spAutoFit/>
          </a:bodyPr>
          <a:lstStyle/>
          <a:p>
            <a:pPr>
              <a:spcAft>
                <a:spcPts val="200"/>
              </a:spcAft>
            </a:pPr>
            <a:r>
              <a:rPr sz="1500" b="0">
                <a:solidFill>
                  <a:srgbClr val="D9EDB7"/>
                </a:solidFill>
                <a:latin typeface="Aptos"/>
              </a:rPr>
              <a:t>English summary: “The explanation helped.” Saved suggestions remain available.</a:t>
            </a:r>
          </a:p>
        </p:txBody>
      </p:sp>
      <p:sp>
        <p:nvSpPr>
          <p:cNvPr id="31" name="TextBox 30"/>
          <p:cNvSpPr txBox="1"/>
          <p:nvPr/>
        </p:nvSpPr>
        <p:spPr>
          <a:xfrm>
            <a:off x="722376" y="7278624"/>
            <a:ext cx="13213080" cy="283464"/>
          </a:xfrm>
          <a:prstGeom prst="rect">
            <a:avLst/>
          </a:prstGeom>
          <a:noFill/>
        </p:spPr>
        <p:txBody>
          <a:bodyPr wrap="square" lIns="9144" rIns="9144" tIns="0" bIns="0" anchor="t">
            <a:spAutoFit/>
          </a:bodyPr>
          <a:lstStyle/>
          <a:p>
            <a:pPr>
              <a:spcAft>
                <a:spcPts val="200"/>
              </a:spcAft>
            </a:pPr>
            <a:r>
              <a:rPr sz="1100" b="0">
                <a:solidFill>
                  <a:srgbClr val="C6D3CA"/>
                </a:solidFill>
                <a:latin typeface="Aptos"/>
              </a:rPr>
              <a:t>Demo ledger. Same admission rules a production host would 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332D"/>
        </a:solidFill>
        <a:effectLst/>
      </p:bgPr>
    </p:bg>
    <p:spTree>
      <p:nvGrpSpPr>
        <p:cNvPr id="1" name=""/>
        <p:cNvGrpSpPr/>
        <p:nvPr/>
      </p:nvGrpSpPr>
      <p:grpSpPr/>
      <p:sp>
        <p:nvSpPr>
          <p:cNvPr id="2" name="Rectangle 1"/>
          <p:cNvSpPr/>
          <p:nvPr/>
        </p:nvSpPr>
        <p:spPr>
          <a:xfrm>
            <a:off x="585216" y="512064"/>
            <a:ext cx="457200" cy="6400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07008" y="374904"/>
            <a:ext cx="11887200" cy="320040"/>
          </a:xfrm>
          <a:prstGeom prst="rect">
            <a:avLst/>
          </a:prstGeom>
          <a:noFill/>
        </p:spPr>
        <p:txBody>
          <a:bodyPr wrap="square" lIns="9144" rIns="9144" tIns="0" bIns="0" anchor="t">
            <a:spAutoFit/>
          </a:bodyPr>
          <a:lstStyle/>
          <a:p>
            <a:pPr>
              <a:spcAft>
                <a:spcPts val="200"/>
              </a:spcAft>
            </a:pPr>
            <a:r>
              <a:rPr sz="1100" b="1">
                <a:solidFill>
                  <a:srgbClr val="D9EDB7"/>
                </a:solidFill>
                <a:latin typeface="Aptos"/>
              </a:rPr>
              <a:t>02 / THE COMMERCIAL REFERENCE</a:t>
            </a:r>
          </a:p>
        </p:txBody>
      </p:sp>
      <p:sp>
        <p:nvSpPr>
          <p:cNvPr id="4" name="TextBox 3"/>
          <p:cNvSpPr txBox="1"/>
          <p:nvPr/>
        </p:nvSpPr>
        <p:spPr>
          <a:xfrm>
            <a:off x="658368" y="7772400"/>
            <a:ext cx="10972800" cy="228600"/>
          </a:xfrm>
          <a:prstGeom prst="rect">
            <a:avLst/>
          </a:prstGeom>
          <a:noFill/>
        </p:spPr>
        <p:txBody>
          <a:bodyPr wrap="square" lIns="9144" rIns="9144" tIns="0" bIns="0" anchor="t">
            <a:spAutoFit/>
          </a:bodyPr>
          <a:lstStyle/>
          <a:p>
            <a:pPr>
              <a:spcAft>
                <a:spcPts val="200"/>
              </a:spcAft>
            </a:pPr>
            <a:r>
              <a:rPr sz="900" b="0">
                <a:solidFill>
                  <a:srgbClr val="C6D3CA"/>
                </a:solidFill>
                <a:latin typeface="Aptos"/>
              </a:rPr>
              <a:t>SAVIA  /  ASK ONCE. SAVIA FOLLOWS THROUGH.</a:t>
            </a:r>
          </a:p>
        </p:txBody>
      </p:sp>
      <p:sp>
        <p:nvSpPr>
          <p:cNvPr id="5" name="TextBox 4"/>
          <p:cNvSpPr txBox="1"/>
          <p:nvPr/>
        </p:nvSpPr>
        <p:spPr>
          <a:xfrm>
            <a:off x="13002768" y="7754112"/>
            <a:ext cx="914400" cy="256032"/>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03 / 06</a:t>
            </a:r>
          </a:p>
        </p:txBody>
      </p:sp>
      <p:sp>
        <p:nvSpPr>
          <p:cNvPr id="6" name="TextBox 5"/>
          <p:cNvSpPr txBox="1"/>
          <p:nvPr/>
        </p:nvSpPr>
        <p:spPr>
          <a:xfrm>
            <a:off x="658368" y="978408"/>
            <a:ext cx="13533120" cy="1444752"/>
          </a:xfrm>
          <a:prstGeom prst="rect">
            <a:avLst/>
          </a:prstGeom>
          <a:noFill/>
        </p:spPr>
        <p:txBody>
          <a:bodyPr wrap="square" lIns="9144" rIns="9144" tIns="0" bIns="0" anchor="t">
            <a:spAutoFit/>
          </a:bodyPr>
          <a:lstStyle/>
          <a:p>
            <a:pPr>
              <a:spcAft>
                <a:spcPts val="200"/>
              </a:spcAft>
            </a:pPr>
            <a:r>
              <a:rPr sz="3800" b="1">
                <a:solidFill>
                  <a:srgbClr val="F8F8F2"/>
                </a:solidFill>
                <a:latin typeface="Aptos"/>
              </a:rPr>
              <a:t>Voice is the beginning.</a:t>
            </a:r>
          </a:p>
          <a:p>
            <a:pPr>
              <a:spcAft>
                <a:spcPts val="200"/>
              </a:spcAft>
            </a:pPr>
            <a:r>
              <a:rPr sz="3800" b="1">
                <a:solidFill>
                  <a:srgbClr val="F8F8F2"/>
                </a:solidFill>
                <a:latin typeface="Aptos"/>
              </a:rPr>
              <a:t>Follow-through is the product.</a:t>
            </a:r>
          </a:p>
        </p:txBody>
      </p:sp>
      <p:sp>
        <p:nvSpPr>
          <p:cNvPr id="7" name="Rounded Rectangle 6"/>
          <p:cNvSpPr/>
          <p:nvPr/>
        </p:nvSpPr>
        <p:spPr>
          <a:xfrm>
            <a:off x="722376" y="2770632"/>
            <a:ext cx="6336792" cy="3566160"/>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2935224"/>
            <a:ext cx="5934455" cy="292608"/>
          </a:xfrm>
          <a:prstGeom prst="rect">
            <a:avLst/>
          </a:prstGeom>
          <a:noFill/>
        </p:spPr>
        <p:txBody>
          <a:bodyPr wrap="square" lIns="9144" rIns="9144" tIns="0" bIns="0" anchor="t">
            <a:spAutoFit/>
          </a:bodyPr>
          <a:lstStyle/>
          <a:p>
            <a:pPr>
              <a:spcAft>
                <a:spcPts val="200"/>
              </a:spcAft>
            </a:pPr>
            <a:r>
              <a:rPr sz="1000" b="1">
                <a:solidFill>
                  <a:srgbClr val="E9C977"/>
                </a:solidFill>
                <a:latin typeface="Aptos"/>
              </a:rPr>
              <a:t>ELEVENAGENTS / COMMERCIAL VOICE REFERENCE</a:t>
            </a:r>
          </a:p>
        </p:txBody>
      </p:sp>
      <p:sp>
        <p:nvSpPr>
          <p:cNvPr id="9" name="TextBox 8"/>
          <p:cNvSpPr txBox="1"/>
          <p:nvPr/>
        </p:nvSpPr>
        <p:spPr>
          <a:xfrm>
            <a:off x="923544" y="3355848"/>
            <a:ext cx="5934455" cy="630936"/>
          </a:xfrm>
          <a:prstGeom prst="rect">
            <a:avLst/>
          </a:prstGeom>
          <a:noFill/>
        </p:spPr>
        <p:txBody>
          <a:bodyPr wrap="square" lIns="9144" rIns="9144" tIns="0" bIns="0" anchor="t">
            <a:spAutoFit/>
          </a:bodyPr>
          <a:lstStyle/>
          <a:p>
            <a:pPr>
              <a:spcAft>
                <a:spcPts val="200"/>
              </a:spcAft>
            </a:pPr>
            <a:r>
              <a:rPr sz="2300" b="1">
                <a:solidFill>
                  <a:srgbClr val="F8F8F2"/>
                </a:solidFill>
                <a:latin typeface="Aptos"/>
              </a:rPr>
              <a:t>A compelling conversation</a:t>
            </a:r>
          </a:p>
        </p:txBody>
      </p:sp>
      <p:sp>
        <p:nvSpPr>
          <p:cNvPr id="10" name="TextBox 9"/>
          <p:cNvSpPr txBox="1"/>
          <p:nvPr/>
        </p:nvSpPr>
        <p:spPr>
          <a:xfrm>
            <a:off x="923544" y="4069079"/>
            <a:ext cx="5934455" cy="2139696"/>
          </a:xfrm>
          <a:prstGeom prst="rect">
            <a:avLst/>
          </a:prstGeom>
          <a:noFill/>
        </p:spPr>
        <p:txBody>
          <a:bodyPr wrap="square" lIns="9144" rIns="9144" tIns="0" bIns="0" anchor="t">
            <a:spAutoFit/>
          </a:bodyPr>
          <a:lstStyle/>
          <a:p>
            <a:pPr>
              <a:spcAft>
                <a:spcPts val="200"/>
              </a:spcAft>
            </a:pPr>
            <a:r>
              <a:rPr sz="1600" b="0">
                <a:solidFill>
                  <a:srgbClr val="C6D3CA"/>
                </a:solidFill>
                <a:latin typeface="Aptos"/>
              </a:rPr>
              <a:t>Expressive, responsive voice</a:t>
            </a:r>
          </a:p>
          <a:p>
            <a:pPr>
              <a:spcAft>
                <a:spcPts val="200"/>
              </a:spcAft>
            </a:pPr>
            <a:r>
              <a:rPr sz="1600" b="0">
                <a:solidFill>
                  <a:srgbClr val="C6D3CA"/>
                </a:solidFill>
                <a:latin typeface="Aptos"/>
              </a:rPr>
              <a:t>Financial-services dispute showcase</a:t>
            </a:r>
          </a:p>
          <a:p>
            <a:pPr>
              <a:spcAft>
                <a:spcPts val="200"/>
              </a:spcAft>
            </a:pPr>
            <a:r>
              <a:rPr sz="1600" b="0">
                <a:solidFill>
                  <a:srgbClr val="C6D3CA"/>
                </a:solidFill>
                <a:latin typeface="Aptos"/>
              </a:rPr>
              <a:t>Integrated speech and turn-taking</a:t>
            </a:r>
          </a:p>
        </p:txBody>
      </p:sp>
      <p:sp>
        <p:nvSpPr>
          <p:cNvPr id="11" name="Rounded Rectangle 10"/>
          <p:cNvSpPr/>
          <p:nvPr/>
        </p:nvSpPr>
        <p:spPr>
          <a:xfrm>
            <a:off x="7324344" y="2770632"/>
            <a:ext cx="6565392" cy="3566160"/>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25512" y="2935224"/>
            <a:ext cx="6163055" cy="292608"/>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SAVIA / THE CONTINUING CASE</a:t>
            </a:r>
          </a:p>
        </p:txBody>
      </p:sp>
      <p:sp>
        <p:nvSpPr>
          <p:cNvPr id="13" name="TextBox 12"/>
          <p:cNvSpPr txBox="1"/>
          <p:nvPr/>
        </p:nvSpPr>
        <p:spPr>
          <a:xfrm>
            <a:off x="7525512" y="3355848"/>
            <a:ext cx="6163055" cy="630936"/>
          </a:xfrm>
          <a:prstGeom prst="rect">
            <a:avLst/>
          </a:prstGeom>
          <a:noFill/>
        </p:spPr>
        <p:txBody>
          <a:bodyPr wrap="square" lIns="9144" rIns="9144" tIns="0" bIns="0" anchor="t">
            <a:spAutoFit/>
          </a:bodyPr>
          <a:lstStyle/>
          <a:p>
            <a:pPr>
              <a:spcAft>
                <a:spcPts val="200"/>
              </a:spcAft>
            </a:pPr>
            <a:r>
              <a:rPr sz="2300" b="1">
                <a:solidFill>
                  <a:srgbClr val="F8F8F2"/>
                </a:solidFill>
                <a:latin typeface="Aptos"/>
              </a:rPr>
              <a:t>A case that keeps moving</a:t>
            </a:r>
          </a:p>
        </p:txBody>
      </p:sp>
      <p:sp>
        <p:nvSpPr>
          <p:cNvPr id="14" name="TextBox 13"/>
          <p:cNvSpPr txBox="1"/>
          <p:nvPr/>
        </p:nvSpPr>
        <p:spPr>
          <a:xfrm>
            <a:off x="7525512" y="4069079"/>
            <a:ext cx="6163055" cy="2139696"/>
          </a:xfrm>
          <a:prstGeom prst="rect">
            <a:avLst/>
          </a:prstGeom>
          <a:noFill/>
        </p:spPr>
        <p:txBody>
          <a:bodyPr wrap="square" lIns="9144" rIns="9144" tIns="0" bIns="0" anchor="t">
            <a:spAutoFit/>
          </a:bodyPr>
          <a:lstStyle/>
          <a:p>
            <a:pPr>
              <a:spcAft>
                <a:spcPts val="200"/>
              </a:spcAft>
            </a:pPr>
            <a:r>
              <a:rPr sz="1600" b="0">
                <a:solidFill>
                  <a:srgbClr val="C6D3CA"/>
                </a:solidFill>
                <a:latin typeface="Aptos"/>
              </a:rPr>
              <a:t>Checked facts and ordered decisions</a:t>
            </a:r>
          </a:p>
          <a:p>
            <a:pPr>
              <a:spcAft>
                <a:spcPts val="200"/>
              </a:spcAft>
            </a:pPr>
            <a:r>
              <a:rPr sz="1600" b="0">
                <a:solidFill>
                  <a:srgbClr val="C6D3CA"/>
                </a:solidFill>
                <a:latin typeface="Aptos"/>
              </a:rPr>
              <a:t>Explicit consent and saved receipts</a:t>
            </a:r>
          </a:p>
          <a:p>
            <a:pPr>
              <a:spcAft>
                <a:spcPts val="200"/>
              </a:spcAft>
            </a:pPr>
            <a:r>
              <a:rPr sz="1600" b="0">
                <a:solidFill>
                  <a:srgbClr val="C6D3CA"/>
                </a:solidFill>
                <a:latin typeface="Aptos"/>
              </a:rPr>
              <a:t>Saved context and specialist perspectives</a:t>
            </a:r>
          </a:p>
        </p:txBody>
      </p:sp>
      <p:sp>
        <p:nvSpPr>
          <p:cNvPr id="15" name="TextBox 14"/>
          <p:cNvSpPr txBox="1"/>
          <p:nvPr/>
        </p:nvSpPr>
        <p:spPr>
          <a:xfrm>
            <a:off x="749808" y="6665976"/>
            <a:ext cx="12984480" cy="493776"/>
          </a:xfrm>
          <a:prstGeom prst="rect">
            <a:avLst/>
          </a:prstGeom>
          <a:noFill/>
        </p:spPr>
        <p:txBody>
          <a:bodyPr wrap="square" lIns="9144" rIns="9144" tIns="0" bIns="0" anchor="t">
            <a:spAutoFit/>
          </a:bodyPr>
          <a:lstStyle/>
          <a:p>
            <a:pPr>
              <a:spcAft>
                <a:spcPts val="200"/>
              </a:spcAft>
            </a:pPr>
            <a:r>
              <a:rPr sz="2500" b="1">
                <a:solidFill>
                  <a:srgbClr val="D9EDB7"/>
                </a:solidFill>
                <a:latin typeface="Aptos"/>
              </a:rPr>
              <a:t>A familiar voice. A persistent case. A clear next step.</a:t>
            </a:r>
          </a:p>
        </p:txBody>
      </p:sp>
      <p:sp>
        <p:nvSpPr>
          <p:cNvPr id="16" name="TextBox 15"/>
          <p:cNvSpPr txBox="1"/>
          <p:nvPr/>
        </p:nvSpPr>
        <p:spPr>
          <a:xfrm>
            <a:off x="749808" y="7278624"/>
            <a:ext cx="12984480" cy="246888"/>
          </a:xfrm>
          <a:prstGeom prst="rect">
            <a:avLst/>
          </a:prstGeom>
          <a:noFill/>
        </p:spPr>
        <p:txBody>
          <a:bodyPr wrap="square" lIns="9144" rIns="9144" tIns="0" bIns="0" anchor="t">
            <a:spAutoFit/>
          </a:bodyPr>
          <a:lstStyle/>
          <a:p>
            <a:pPr>
              <a:spcAft>
                <a:spcPts val="200"/>
              </a:spcAft>
            </a:pPr>
            <a:r>
              <a:rPr sz="1200" b="0">
                <a:solidFill>
                  <a:srgbClr val="C6D3CA"/>
                </a:solidFill>
                <a:latin typeface="Aptos"/>
              </a:rPr>
              <a:t>Two people. Ten days. A service the bank can inspect and control.</a:t>
            </a:r>
          </a:p>
        </p:txBody>
      </p:sp>
      <p:sp>
        <p:nvSpPr>
          <p:cNvPr id="17" name="TextBox 16">
            <a:hlinkClick r:id="rId3"/>
          </p:cNvPr>
          <p:cNvSpPr txBox="1"/>
          <p:nvPr/>
        </p:nvSpPr>
        <p:spPr>
          <a:xfrm>
            <a:off x="749808" y="7516368"/>
            <a:ext cx="11887200" cy="210312"/>
          </a:xfrm>
          <a:prstGeom prst="rect">
            <a:avLst/>
          </a:prstGeom>
          <a:noFill/>
        </p:spPr>
        <p:txBody>
          <a:bodyPr wrap="square" lIns="9144" rIns="9144" tIns="0" bIns="0" anchor="t">
            <a:spAutoFit/>
          </a:bodyPr>
          <a:lstStyle/>
          <a:p>
            <a:pPr>
              <a:spcAft>
                <a:spcPts val="200"/>
              </a:spcAft>
            </a:pPr>
            <a:r>
              <a:rPr sz="900" b="0">
                <a:solidFill>
                  <a:srgbClr val="C6D3CA"/>
                </a:solidFill>
                <a:latin typeface="Aptos"/>
              </a:rPr>
              <a:t>Reference: ElevenLabs — Eleven v4 Turbo in ElevenAgents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332D"/>
        </a:solidFill>
        <a:effectLst/>
      </p:bgPr>
    </p:bg>
    <p:spTree>
      <p:nvGrpSpPr>
        <p:cNvPr id="1" name=""/>
        <p:cNvGrpSpPr/>
        <p:nvPr/>
      </p:nvGrpSpPr>
      <p:grpSpPr/>
      <p:sp>
        <p:nvSpPr>
          <p:cNvPr id="2" name="Rectangle 1"/>
          <p:cNvSpPr/>
          <p:nvPr/>
        </p:nvSpPr>
        <p:spPr>
          <a:xfrm>
            <a:off x="585216" y="512064"/>
            <a:ext cx="457200" cy="6400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07008" y="374904"/>
            <a:ext cx="11887200" cy="320040"/>
          </a:xfrm>
          <a:prstGeom prst="rect">
            <a:avLst/>
          </a:prstGeom>
          <a:noFill/>
        </p:spPr>
        <p:txBody>
          <a:bodyPr wrap="square" lIns="9144" rIns="9144" tIns="0" bIns="0" anchor="t">
            <a:spAutoFit/>
          </a:bodyPr>
          <a:lstStyle/>
          <a:p>
            <a:pPr>
              <a:spcAft>
                <a:spcPts val="200"/>
              </a:spcAft>
            </a:pPr>
            <a:r>
              <a:rPr sz="1100" b="1">
                <a:solidFill>
                  <a:srgbClr val="D9EDB7"/>
                </a:solidFill>
                <a:latin typeface="Aptos"/>
              </a:rPr>
              <a:t>03 / THE SWARM DESIGN</a:t>
            </a:r>
          </a:p>
        </p:txBody>
      </p:sp>
      <p:sp>
        <p:nvSpPr>
          <p:cNvPr id="4" name="TextBox 3"/>
          <p:cNvSpPr txBox="1"/>
          <p:nvPr/>
        </p:nvSpPr>
        <p:spPr>
          <a:xfrm>
            <a:off x="658368" y="7772400"/>
            <a:ext cx="10972800" cy="228600"/>
          </a:xfrm>
          <a:prstGeom prst="rect">
            <a:avLst/>
          </a:prstGeom>
          <a:noFill/>
        </p:spPr>
        <p:txBody>
          <a:bodyPr wrap="square" lIns="9144" rIns="9144" tIns="0" bIns="0" anchor="t">
            <a:spAutoFit/>
          </a:bodyPr>
          <a:lstStyle/>
          <a:p>
            <a:pPr>
              <a:spcAft>
                <a:spcPts val="200"/>
              </a:spcAft>
            </a:pPr>
            <a:r>
              <a:rPr sz="900" b="0">
                <a:solidFill>
                  <a:srgbClr val="C6D3CA"/>
                </a:solidFill>
                <a:latin typeface="Aptos"/>
              </a:rPr>
              <a:t>SAVIA  /  ASK ONCE. SAVIA FOLLOWS THROUGH.</a:t>
            </a:r>
          </a:p>
        </p:txBody>
      </p:sp>
      <p:sp>
        <p:nvSpPr>
          <p:cNvPr id="5" name="TextBox 4"/>
          <p:cNvSpPr txBox="1"/>
          <p:nvPr/>
        </p:nvSpPr>
        <p:spPr>
          <a:xfrm>
            <a:off x="13002768" y="7754112"/>
            <a:ext cx="914400" cy="256032"/>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04 / 06</a:t>
            </a:r>
          </a:p>
        </p:txBody>
      </p:sp>
      <p:sp>
        <p:nvSpPr>
          <p:cNvPr id="6" name="TextBox 5"/>
          <p:cNvSpPr txBox="1"/>
          <p:nvPr/>
        </p:nvSpPr>
        <p:spPr>
          <a:xfrm>
            <a:off x="658368" y="978408"/>
            <a:ext cx="13533120" cy="1444752"/>
          </a:xfrm>
          <a:prstGeom prst="rect">
            <a:avLst/>
          </a:prstGeom>
          <a:noFill/>
        </p:spPr>
        <p:txBody>
          <a:bodyPr wrap="square" lIns="9144" rIns="9144" tIns="0" bIns="0" anchor="t">
            <a:spAutoFit/>
          </a:bodyPr>
          <a:lstStyle/>
          <a:p>
            <a:pPr>
              <a:spcAft>
                <a:spcPts val="200"/>
              </a:spcAft>
            </a:pPr>
            <a:r>
              <a:rPr sz="3800" b="1">
                <a:solidFill>
                  <a:srgbClr val="F8F8F2"/>
                </a:solidFill>
                <a:latin typeface="Aptos"/>
              </a:rPr>
              <a:t>One customer voice.</a:t>
            </a:r>
          </a:p>
          <a:p>
            <a:pPr>
              <a:spcAft>
                <a:spcPts val="200"/>
              </a:spcAft>
            </a:pPr>
            <a:r>
              <a:rPr sz="3800" b="1">
                <a:solidFill>
                  <a:srgbClr val="F8F8F2"/>
                </a:solidFill>
                <a:latin typeface="Aptos"/>
              </a:rPr>
              <a:t>Ten teams behind it.</a:t>
            </a:r>
          </a:p>
        </p:txBody>
      </p:sp>
      <p:sp>
        <p:nvSpPr>
          <p:cNvPr id="7" name="TextBox 6"/>
          <p:cNvSpPr txBox="1"/>
          <p:nvPr/>
        </p:nvSpPr>
        <p:spPr>
          <a:xfrm>
            <a:off x="740664" y="2724912"/>
            <a:ext cx="3749039" cy="1737360"/>
          </a:xfrm>
          <a:prstGeom prst="rect">
            <a:avLst/>
          </a:prstGeom>
          <a:noFill/>
        </p:spPr>
        <p:txBody>
          <a:bodyPr wrap="square" lIns="9144" rIns="9144" tIns="0" bIns="0" anchor="t">
            <a:spAutoFit/>
          </a:bodyPr>
          <a:lstStyle/>
          <a:p>
            <a:pPr>
              <a:spcAft>
                <a:spcPts val="200"/>
              </a:spcAft>
            </a:pPr>
            <a:r>
              <a:rPr sz="10200" b="1">
                <a:solidFill>
                  <a:srgbClr val="D9EDB7"/>
                </a:solidFill>
                <a:latin typeface="Aptos"/>
              </a:rPr>
              <a:t>100</a:t>
            </a:r>
          </a:p>
        </p:txBody>
      </p:sp>
      <p:sp>
        <p:nvSpPr>
          <p:cNvPr id="8" name="TextBox 7"/>
          <p:cNvSpPr txBox="1"/>
          <p:nvPr/>
        </p:nvSpPr>
        <p:spPr>
          <a:xfrm>
            <a:off x="795528" y="4608576"/>
            <a:ext cx="3657600" cy="667512"/>
          </a:xfrm>
          <a:prstGeom prst="rect">
            <a:avLst/>
          </a:prstGeom>
          <a:noFill/>
        </p:spPr>
        <p:txBody>
          <a:bodyPr wrap="square" lIns="9144" rIns="9144" tIns="0" bIns="0" anchor="t">
            <a:spAutoFit/>
          </a:bodyPr>
          <a:lstStyle/>
          <a:p>
            <a:pPr>
              <a:spcAft>
                <a:spcPts val="200"/>
              </a:spcAft>
            </a:pPr>
            <a:r>
              <a:rPr sz="2400" b="1">
                <a:solidFill>
                  <a:srgbClr val="F8F8F2"/>
                </a:solidFill>
                <a:latin typeface="Aptos"/>
              </a:rPr>
              <a:t>team conversations</a:t>
            </a:r>
          </a:p>
        </p:txBody>
      </p:sp>
      <p:sp>
        <p:nvSpPr>
          <p:cNvPr id="9" name="TextBox 8"/>
          <p:cNvSpPr txBox="1"/>
          <p:nvPr/>
        </p:nvSpPr>
        <p:spPr>
          <a:xfrm>
            <a:off x="795528" y="5422392"/>
            <a:ext cx="3749039" cy="868680"/>
          </a:xfrm>
          <a:prstGeom prst="rect">
            <a:avLst/>
          </a:prstGeom>
          <a:noFill/>
        </p:spPr>
        <p:txBody>
          <a:bodyPr wrap="square" lIns="9144" rIns="9144" tIns="0" bIns="0" anchor="t">
            <a:spAutoFit/>
          </a:bodyPr>
          <a:lstStyle/>
          <a:p>
            <a:pPr>
              <a:spcAft>
                <a:spcPts val="200"/>
              </a:spcAft>
            </a:pPr>
            <a:r>
              <a:rPr sz="1600" b="0">
                <a:solidFill>
                  <a:srgbClr val="C6D3CA"/>
                </a:solidFill>
                <a:latin typeface="Aptos"/>
              </a:rPr>
              <a:t>SWARM DESIGN</a:t>
            </a:r>
          </a:p>
          <a:p>
            <a:pPr>
              <a:spcAft>
                <a:spcPts val="200"/>
              </a:spcAft>
            </a:pPr>
            <a:r>
              <a:rPr sz="1600" b="0">
                <a:solidFill>
                  <a:srgbClr val="C6D3CA"/>
                </a:solidFill>
                <a:latin typeface="Aptos"/>
              </a:rPr>
              <a:t>10 teams × (1 lead + 9 specialists)</a:t>
            </a:r>
          </a:p>
        </p:txBody>
      </p:sp>
      <p:sp>
        <p:nvSpPr>
          <p:cNvPr id="10" name="Rounded Rectangle 9"/>
          <p:cNvSpPr/>
          <p:nvPr/>
        </p:nvSpPr>
        <p:spPr>
          <a:xfrm>
            <a:off x="5093208" y="2752344"/>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21224" y="2871215"/>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01</a:t>
            </a:r>
          </a:p>
        </p:txBody>
      </p:sp>
      <p:sp>
        <p:nvSpPr>
          <p:cNvPr id="12" name="Oval 11"/>
          <p:cNvSpPr/>
          <p:nvPr/>
        </p:nvSpPr>
        <p:spPr>
          <a:xfrm>
            <a:off x="5276088" y="3246120"/>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22976"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69864"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016752"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63640"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76088"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522976"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69864"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016752"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63640"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858000" y="2752344"/>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2871215"/>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02</a:t>
            </a:r>
          </a:p>
        </p:txBody>
      </p:sp>
      <p:sp>
        <p:nvSpPr>
          <p:cNvPr id="24" name="Oval 23"/>
          <p:cNvSpPr/>
          <p:nvPr/>
        </p:nvSpPr>
        <p:spPr>
          <a:xfrm>
            <a:off x="7040880" y="3246120"/>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287768"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34656"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781544"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40880"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287768"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34656"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781544"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028432"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622792" y="2752344"/>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50808" y="2871215"/>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03</a:t>
            </a:r>
          </a:p>
        </p:txBody>
      </p:sp>
      <p:sp>
        <p:nvSpPr>
          <p:cNvPr id="36" name="Oval 35"/>
          <p:cNvSpPr/>
          <p:nvPr/>
        </p:nvSpPr>
        <p:spPr>
          <a:xfrm>
            <a:off x="8805672" y="3246120"/>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052559"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299447"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546336"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793224"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805672"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052559"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299447"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546336"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793224"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0387584" y="2752344"/>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15600" y="2871215"/>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04</a:t>
            </a:r>
          </a:p>
        </p:txBody>
      </p:sp>
      <p:sp>
        <p:nvSpPr>
          <p:cNvPr id="48" name="Oval 47"/>
          <p:cNvSpPr/>
          <p:nvPr/>
        </p:nvSpPr>
        <p:spPr>
          <a:xfrm>
            <a:off x="10570463" y="3246120"/>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817351"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064239"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1311128"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558015"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570463"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817351"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064239"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311128"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558015"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12152376" y="2752344"/>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280392" y="2871215"/>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05</a:t>
            </a:r>
          </a:p>
        </p:txBody>
      </p:sp>
      <p:sp>
        <p:nvSpPr>
          <p:cNvPr id="60" name="Oval 59"/>
          <p:cNvSpPr/>
          <p:nvPr/>
        </p:nvSpPr>
        <p:spPr>
          <a:xfrm>
            <a:off x="12335255" y="3246120"/>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2582143"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2829031"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3075919"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3322807" y="3246120"/>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2335255"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2582143"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2829031"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3075919"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3322807" y="3547872"/>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5093208" y="4206240"/>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221224" y="4325112"/>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06</a:t>
            </a:r>
          </a:p>
        </p:txBody>
      </p:sp>
      <p:sp>
        <p:nvSpPr>
          <p:cNvPr id="72" name="Oval 71"/>
          <p:cNvSpPr/>
          <p:nvPr/>
        </p:nvSpPr>
        <p:spPr>
          <a:xfrm>
            <a:off x="5276088" y="4700016"/>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522976"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69864"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6016752"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263640"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5276088"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5522976"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5769864"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16752"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263640"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6858000" y="4206240"/>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986016" y="4325112"/>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07</a:t>
            </a:r>
          </a:p>
        </p:txBody>
      </p:sp>
      <p:sp>
        <p:nvSpPr>
          <p:cNvPr id="84" name="Oval 83"/>
          <p:cNvSpPr/>
          <p:nvPr/>
        </p:nvSpPr>
        <p:spPr>
          <a:xfrm>
            <a:off x="7040880" y="4700016"/>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287768"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7534656"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781544"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028432"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7040880"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7287768"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534656"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781544"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028432"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8622792" y="4206240"/>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750808" y="4325112"/>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08</a:t>
            </a:r>
          </a:p>
        </p:txBody>
      </p:sp>
      <p:sp>
        <p:nvSpPr>
          <p:cNvPr id="96" name="Oval 95"/>
          <p:cNvSpPr/>
          <p:nvPr/>
        </p:nvSpPr>
        <p:spPr>
          <a:xfrm>
            <a:off x="8805672" y="4700016"/>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9052559"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299447"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546336"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793224"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8805672"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052559"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9299447"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546336"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9793224"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10387584" y="4206240"/>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515600" y="4325112"/>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09</a:t>
            </a:r>
          </a:p>
        </p:txBody>
      </p:sp>
      <p:sp>
        <p:nvSpPr>
          <p:cNvPr id="108" name="Oval 107"/>
          <p:cNvSpPr/>
          <p:nvPr/>
        </p:nvSpPr>
        <p:spPr>
          <a:xfrm>
            <a:off x="10570463" y="4700016"/>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10817351"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11064239"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1311128"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1558015"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10570463"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10817351"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1064239"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11311128"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1558015"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152376" y="4206240"/>
            <a:ext cx="1581912" cy="1261872"/>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280392" y="4325112"/>
            <a:ext cx="1325880" cy="210312"/>
          </a:xfrm>
          <a:prstGeom prst="rect">
            <a:avLst/>
          </a:prstGeom>
          <a:noFill/>
        </p:spPr>
        <p:txBody>
          <a:bodyPr wrap="square" lIns="9144" rIns="9144" tIns="0" bIns="0" anchor="t">
            <a:spAutoFit/>
          </a:bodyPr>
          <a:lstStyle/>
          <a:p>
            <a:pPr>
              <a:spcAft>
                <a:spcPts val="200"/>
              </a:spcAft>
            </a:pPr>
            <a:r>
              <a:rPr sz="900" b="1">
                <a:solidFill>
                  <a:srgbClr val="C6D3CA"/>
                </a:solidFill>
                <a:latin typeface="Aptos"/>
              </a:rPr>
              <a:t>TEAM 10</a:t>
            </a:r>
          </a:p>
        </p:txBody>
      </p:sp>
      <p:sp>
        <p:nvSpPr>
          <p:cNvPr id="120" name="Oval 119"/>
          <p:cNvSpPr/>
          <p:nvPr/>
        </p:nvSpPr>
        <p:spPr>
          <a:xfrm>
            <a:off x="12335255" y="4700016"/>
            <a:ext cx="155448" cy="155448"/>
          </a:xfrm>
          <a:prstGeom prst="ellipse">
            <a:avLst/>
          </a:prstGeom>
          <a:solidFill>
            <a:srgbClr val="E9C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12582143"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12829031"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075919"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13322807" y="4700016"/>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12335255"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12582143"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2829031"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075919"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3322807" y="5001768"/>
            <a:ext cx="155448" cy="155448"/>
          </a:xfrm>
          <a:prstGeom prst="ellipse">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5111496" y="5715000"/>
            <a:ext cx="8732520" cy="265176"/>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SHARED EVIDENCE  /  SPECIALIST COLLABORATION  /  INDEPENDENT REVIEW</a:t>
            </a:r>
          </a:p>
        </p:txBody>
      </p:sp>
      <p:sp>
        <p:nvSpPr>
          <p:cNvPr id="131" name="Rounded Rectangle 130"/>
          <p:cNvSpPr/>
          <p:nvPr/>
        </p:nvSpPr>
        <p:spPr>
          <a:xfrm>
            <a:off x="731520" y="6419088"/>
            <a:ext cx="4206240" cy="868680"/>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896112" y="6528816"/>
            <a:ext cx="3840480" cy="292608"/>
          </a:xfrm>
          <a:prstGeom prst="rect">
            <a:avLst/>
          </a:prstGeom>
          <a:noFill/>
        </p:spPr>
        <p:txBody>
          <a:bodyPr wrap="square" lIns="9144" rIns="9144" tIns="0" bIns="0" anchor="t">
            <a:spAutoFit/>
          </a:bodyPr>
          <a:lstStyle/>
          <a:p>
            <a:pPr>
              <a:spcAft>
                <a:spcPts val="200"/>
              </a:spcAft>
            </a:pPr>
            <a:r>
              <a:rPr sz="1700" b="1">
                <a:solidFill>
                  <a:srgbClr val="F8F8F2"/>
                </a:solidFill>
                <a:latin typeface="Aptos"/>
              </a:rPr>
              <a:t>300 / 300</a:t>
            </a:r>
          </a:p>
        </p:txBody>
      </p:sp>
      <p:sp>
        <p:nvSpPr>
          <p:cNvPr id="133" name="TextBox 132"/>
          <p:cNvSpPr txBox="1"/>
          <p:nvPr/>
        </p:nvSpPr>
        <p:spPr>
          <a:xfrm>
            <a:off x="896112" y="6931152"/>
            <a:ext cx="3840480" cy="219456"/>
          </a:xfrm>
          <a:prstGeom prst="rect">
            <a:avLst/>
          </a:prstGeom>
          <a:noFill/>
        </p:spPr>
        <p:txBody>
          <a:bodyPr wrap="square" lIns="9144" rIns="9144" tIns="0" bIns="0" anchor="t">
            <a:spAutoFit/>
          </a:bodyPr>
          <a:lstStyle/>
          <a:p>
            <a:pPr>
              <a:spcAft>
                <a:spcPts val="200"/>
              </a:spcAft>
            </a:pPr>
            <a:r>
              <a:rPr sz="1100" b="0">
                <a:solidFill>
                  <a:srgbClr val="C6D3CA"/>
                </a:solidFill>
                <a:latin typeface="Aptos"/>
              </a:rPr>
              <a:t>Concurrent FLUJO reference returns</a:t>
            </a:r>
          </a:p>
        </p:txBody>
      </p:sp>
      <p:sp>
        <p:nvSpPr>
          <p:cNvPr id="134" name="Rounded Rectangle 133"/>
          <p:cNvSpPr/>
          <p:nvPr/>
        </p:nvSpPr>
        <p:spPr>
          <a:xfrm>
            <a:off x="5157216" y="6419088"/>
            <a:ext cx="4206240" cy="868680"/>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5321807" y="6528816"/>
            <a:ext cx="3840480" cy="292608"/>
          </a:xfrm>
          <a:prstGeom prst="rect">
            <a:avLst/>
          </a:prstGeom>
          <a:noFill/>
        </p:spPr>
        <p:txBody>
          <a:bodyPr wrap="square" lIns="9144" rIns="9144" tIns="0" bIns="0" anchor="t">
            <a:spAutoFit/>
          </a:bodyPr>
          <a:lstStyle/>
          <a:p>
            <a:pPr>
              <a:spcAft>
                <a:spcPts val="200"/>
              </a:spcAft>
            </a:pPr>
            <a:r>
              <a:rPr sz="1700" b="1">
                <a:solidFill>
                  <a:srgbClr val="F8F8F2"/>
                </a:solidFill>
                <a:latin typeface="Aptos"/>
              </a:rPr>
              <a:t>18 live together</a:t>
            </a:r>
          </a:p>
        </p:txBody>
      </p:sp>
      <p:sp>
        <p:nvSpPr>
          <p:cNvPr id="136" name="TextBox 135"/>
          <p:cNvSpPr txBox="1"/>
          <p:nvPr/>
        </p:nvSpPr>
        <p:spPr>
          <a:xfrm>
            <a:off x="5321807" y="6931152"/>
            <a:ext cx="3840480" cy="219456"/>
          </a:xfrm>
          <a:prstGeom prst="rect">
            <a:avLst/>
          </a:prstGeom>
          <a:noFill/>
        </p:spPr>
        <p:txBody>
          <a:bodyPr wrap="square" lIns="9144" rIns="9144" tIns="0" bIns="0" anchor="t">
            <a:spAutoFit/>
          </a:bodyPr>
          <a:lstStyle/>
          <a:p>
            <a:pPr>
              <a:spcAft>
                <a:spcPts val="200"/>
              </a:spcAft>
            </a:pPr>
            <a:r>
              <a:rPr sz="1100" b="0">
                <a:solidFill>
                  <a:srgbClr val="C6D3CA"/>
                </a:solidFill>
                <a:latin typeface="Aptos"/>
              </a:rPr>
              <a:t>Sandboxes in the tested foundation</a:t>
            </a:r>
          </a:p>
        </p:txBody>
      </p:sp>
      <p:sp>
        <p:nvSpPr>
          <p:cNvPr id="137" name="Rounded Rectangle 136"/>
          <p:cNvSpPr/>
          <p:nvPr/>
        </p:nvSpPr>
        <p:spPr>
          <a:xfrm>
            <a:off x="9582912" y="6419088"/>
            <a:ext cx="4206240" cy="868680"/>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9747504" y="6528816"/>
            <a:ext cx="3840480" cy="292608"/>
          </a:xfrm>
          <a:prstGeom prst="rect">
            <a:avLst/>
          </a:prstGeom>
          <a:noFill/>
        </p:spPr>
        <p:txBody>
          <a:bodyPr wrap="square" lIns="9144" rIns="9144" tIns="0" bIns="0" anchor="t">
            <a:spAutoFit/>
          </a:bodyPr>
          <a:lstStyle/>
          <a:p>
            <a:pPr>
              <a:spcAft>
                <a:spcPts val="200"/>
              </a:spcAft>
            </a:pPr>
            <a:r>
              <a:rPr sz="1700" b="1">
                <a:solidFill>
                  <a:srgbClr val="F8F8F2"/>
                </a:solidFill>
                <a:latin typeface="Aptos"/>
              </a:rPr>
              <a:t>Two completed reviewers</a:t>
            </a:r>
          </a:p>
        </p:txBody>
      </p:sp>
      <p:sp>
        <p:nvSpPr>
          <p:cNvPr id="139" name="TextBox 138"/>
          <p:cNvSpPr txBox="1"/>
          <p:nvPr/>
        </p:nvSpPr>
        <p:spPr>
          <a:xfrm>
            <a:off x="9747504" y="6931152"/>
            <a:ext cx="3840480" cy="219456"/>
          </a:xfrm>
          <a:prstGeom prst="rect">
            <a:avLst/>
          </a:prstGeom>
          <a:noFill/>
        </p:spPr>
        <p:txBody>
          <a:bodyPr wrap="square" lIns="9144" rIns="9144" tIns="0" bIns="0" anchor="t">
            <a:spAutoFit/>
          </a:bodyPr>
          <a:lstStyle/>
          <a:p>
            <a:pPr>
              <a:spcAft>
                <a:spcPts val="200"/>
              </a:spcAft>
            </a:pPr>
            <a:r>
              <a:rPr sz="1100" b="0">
                <a:solidFill>
                  <a:srgbClr val="C6D3CA"/>
                </a:solidFill>
                <a:latin typeface="Aptos"/>
              </a:rPr>
              <a:t>The customer path we recorded</a:t>
            </a:r>
          </a:p>
        </p:txBody>
      </p:sp>
      <p:sp>
        <p:nvSpPr>
          <p:cNvPr id="140" name="TextBox 139"/>
          <p:cNvSpPr txBox="1"/>
          <p:nvPr/>
        </p:nvSpPr>
        <p:spPr>
          <a:xfrm>
            <a:off x="749808" y="7434072"/>
            <a:ext cx="12984480" cy="228600"/>
          </a:xfrm>
          <a:prstGeom prst="rect">
            <a:avLst/>
          </a:prstGeom>
          <a:noFill/>
        </p:spPr>
        <p:txBody>
          <a:bodyPr wrap="square" lIns="9144" rIns="9144" tIns="0" bIns="0" anchor="t">
            <a:spAutoFit/>
          </a:bodyPr>
          <a:lstStyle/>
          <a:p>
            <a:pPr>
              <a:spcAft>
                <a:spcPts val="200"/>
              </a:spcAft>
            </a:pPr>
            <a:r>
              <a:rPr sz="1200" b="0">
                <a:solidFill>
                  <a:srgbClr val="D9EDB7"/>
                </a:solidFill>
                <a:latin typeface="Aptos"/>
              </a:rPr>
              <a:t>One customer voice. Ten teams behind it. The architecture is ready to scale.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332D"/>
        </a:solidFill>
        <a:effectLst/>
      </p:bgPr>
    </p:bg>
    <p:spTree>
      <p:nvGrpSpPr>
        <p:cNvPr id="1" name=""/>
        <p:cNvGrpSpPr/>
        <p:nvPr/>
      </p:nvGrpSpPr>
      <p:grpSpPr/>
      <p:sp>
        <p:nvSpPr>
          <p:cNvPr id="2" name="Rectangle 1"/>
          <p:cNvSpPr/>
          <p:nvPr/>
        </p:nvSpPr>
        <p:spPr>
          <a:xfrm>
            <a:off x="585216" y="512064"/>
            <a:ext cx="457200" cy="6400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07008" y="374904"/>
            <a:ext cx="11887200" cy="320040"/>
          </a:xfrm>
          <a:prstGeom prst="rect">
            <a:avLst/>
          </a:prstGeom>
          <a:noFill/>
        </p:spPr>
        <p:txBody>
          <a:bodyPr wrap="square" lIns="9144" rIns="9144" tIns="0" bIns="0" anchor="t">
            <a:spAutoFit/>
          </a:bodyPr>
          <a:lstStyle/>
          <a:p>
            <a:pPr>
              <a:spcAft>
                <a:spcPts val="200"/>
              </a:spcAft>
            </a:pPr>
            <a:r>
              <a:rPr sz="1100" b="1">
                <a:solidFill>
                  <a:srgbClr val="D9EDB7"/>
                </a:solidFill>
                <a:latin typeface="Aptos"/>
              </a:rPr>
              <a:t>04 / QUALIFIED PROOF &amp; DATA DECISIONS</a:t>
            </a:r>
          </a:p>
        </p:txBody>
      </p:sp>
      <p:sp>
        <p:nvSpPr>
          <p:cNvPr id="4" name="TextBox 3"/>
          <p:cNvSpPr txBox="1"/>
          <p:nvPr/>
        </p:nvSpPr>
        <p:spPr>
          <a:xfrm>
            <a:off x="658368" y="7772400"/>
            <a:ext cx="10972800" cy="228600"/>
          </a:xfrm>
          <a:prstGeom prst="rect">
            <a:avLst/>
          </a:prstGeom>
          <a:noFill/>
        </p:spPr>
        <p:txBody>
          <a:bodyPr wrap="square" lIns="9144" rIns="9144" tIns="0" bIns="0" anchor="t">
            <a:spAutoFit/>
          </a:bodyPr>
          <a:lstStyle/>
          <a:p>
            <a:pPr>
              <a:spcAft>
                <a:spcPts val="200"/>
              </a:spcAft>
            </a:pPr>
            <a:r>
              <a:rPr sz="900" b="0">
                <a:solidFill>
                  <a:srgbClr val="C6D3CA"/>
                </a:solidFill>
                <a:latin typeface="Aptos"/>
              </a:rPr>
              <a:t>SAVIA  /  ASK ONCE. SAVIA FOLLOWS THROUGH.</a:t>
            </a:r>
          </a:p>
        </p:txBody>
      </p:sp>
      <p:sp>
        <p:nvSpPr>
          <p:cNvPr id="5" name="TextBox 4"/>
          <p:cNvSpPr txBox="1"/>
          <p:nvPr/>
        </p:nvSpPr>
        <p:spPr>
          <a:xfrm>
            <a:off x="13002768" y="7754112"/>
            <a:ext cx="914400" cy="256032"/>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05 / 06</a:t>
            </a:r>
          </a:p>
        </p:txBody>
      </p:sp>
      <p:sp>
        <p:nvSpPr>
          <p:cNvPr id="6" name="TextBox 5"/>
          <p:cNvSpPr txBox="1"/>
          <p:nvPr/>
        </p:nvSpPr>
        <p:spPr>
          <a:xfrm>
            <a:off x="658368" y="978408"/>
            <a:ext cx="13533120" cy="1444752"/>
          </a:xfrm>
          <a:prstGeom prst="rect">
            <a:avLst/>
          </a:prstGeom>
          <a:noFill/>
        </p:spPr>
        <p:txBody>
          <a:bodyPr wrap="square" lIns="9144" rIns="9144" tIns="0" bIns="0" anchor="t">
            <a:spAutoFit/>
          </a:bodyPr>
          <a:lstStyle/>
          <a:p>
            <a:pPr>
              <a:spcAft>
                <a:spcPts val="200"/>
              </a:spcAft>
            </a:pPr>
            <a:r>
              <a:rPr sz="3800" b="1">
                <a:solidFill>
                  <a:srgbClr val="F8F8F2"/>
                </a:solidFill>
                <a:latin typeface="Aptos"/>
              </a:rPr>
              <a:t>Evidence you can inspect.</a:t>
            </a:r>
          </a:p>
          <a:p>
            <a:pPr>
              <a:spcAft>
                <a:spcPts val="200"/>
              </a:spcAft>
            </a:pPr>
            <a:r>
              <a:rPr sz="3800" b="1">
                <a:solidFill>
                  <a:srgbClr val="F8F8F2"/>
                </a:solidFill>
                <a:latin typeface="Aptos"/>
              </a:rPr>
              <a:t>Choices a bank can control.</a:t>
            </a:r>
          </a:p>
        </p:txBody>
      </p:sp>
      <p:sp>
        <p:nvSpPr>
          <p:cNvPr id="7" name="TextBox 6"/>
          <p:cNvSpPr txBox="1"/>
          <p:nvPr/>
        </p:nvSpPr>
        <p:spPr>
          <a:xfrm>
            <a:off x="749808" y="2651760"/>
            <a:ext cx="13075920" cy="365760"/>
          </a:xfrm>
          <a:prstGeom prst="rect">
            <a:avLst/>
          </a:prstGeom>
          <a:noFill/>
        </p:spPr>
        <p:txBody>
          <a:bodyPr wrap="square" lIns="9144" rIns="9144" tIns="0" bIns="0" anchor="t">
            <a:spAutoFit/>
          </a:bodyPr>
          <a:lstStyle/>
          <a:p>
            <a:pPr>
              <a:spcAft>
                <a:spcPts val="200"/>
              </a:spcAft>
            </a:pPr>
            <a:r>
              <a:rPr sz="2200" b="1">
                <a:solidFill>
                  <a:srgbClr val="D9EDB7"/>
                </a:solidFill>
                <a:latin typeface="Aptos"/>
              </a:rPr>
              <a:t>Policy, not the model, authorizes the card action.</a:t>
            </a:r>
          </a:p>
        </p:txBody>
      </p:sp>
      <p:sp>
        <p:nvSpPr>
          <p:cNvPr id="8" name="Rounded Rectangle 7"/>
          <p:cNvSpPr/>
          <p:nvPr/>
        </p:nvSpPr>
        <p:spPr>
          <a:xfrm>
            <a:off x="731520" y="3218688"/>
            <a:ext cx="3090672" cy="859536"/>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3355848"/>
            <a:ext cx="2788920" cy="210312"/>
          </a:xfrm>
          <a:prstGeom prst="rect">
            <a:avLst/>
          </a:prstGeom>
          <a:noFill/>
        </p:spPr>
        <p:txBody>
          <a:bodyPr wrap="square" lIns="9144" rIns="9144" tIns="0" bIns="0" anchor="t">
            <a:spAutoFit/>
          </a:bodyPr>
          <a:lstStyle/>
          <a:p>
            <a:pPr>
              <a:spcAft>
                <a:spcPts val="200"/>
              </a:spcAft>
            </a:pPr>
            <a:r>
              <a:rPr sz="900" b="1">
                <a:solidFill>
                  <a:srgbClr val="D9EDB7"/>
                </a:solidFill>
                <a:latin typeface="Aptos"/>
              </a:rPr>
              <a:t>OWNED FACTS</a:t>
            </a:r>
          </a:p>
        </p:txBody>
      </p:sp>
      <p:sp>
        <p:nvSpPr>
          <p:cNvPr id="10" name="TextBox 9"/>
          <p:cNvSpPr txBox="1"/>
          <p:nvPr/>
        </p:nvSpPr>
        <p:spPr>
          <a:xfrm>
            <a:off x="877824" y="3703320"/>
            <a:ext cx="2788920" cy="265176"/>
          </a:xfrm>
          <a:prstGeom prst="rect">
            <a:avLst/>
          </a:prstGeom>
          <a:noFill/>
        </p:spPr>
        <p:txBody>
          <a:bodyPr wrap="square" lIns="9144" rIns="9144" tIns="0" bIns="0" anchor="t">
            <a:spAutoFit/>
          </a:bodyPr>
          <a:lstStyle/>
          <a:p>
            <a:pPr>
              <a:spcAft>
                <a:spcPts val="200"/>
              </a:spcAft>
            </a:pPr>
            <a:r>
              <a:rPr sz="1600" b="1">
                <a:solidFill>
                  <a:srgbClr val="F8F8F2"/>
                </a:solidFill>
                <a:latin typeface="Aptos"/>
              </a:rPr>
              <a:t>Customer + charge</a:t>
            </a:r>
          </a:p>
        </p:txBody>
      </p:sp>
      <p:sp>
        <p:nvSpPr>
          <p:cNvPr id="11" name="TextBox 10"/>
          <p:cNvSpPr txBox="1"/>
          <p:nvPr/>
        </p:nvSpPr>
        <p:spPr>
          <a:xfrm>
            <a:off x="3831336" y="3557016"/>
            <a:ext cx="228600" cy="292608"/>
          </a:xfrm>
          <a:prstGeom prst="rect">
            <a:avLst/>
          </a:prstGeom>
          <a:noFill/>
        </p:spPr>
        <p:txBody>
          <a:bodyPr wrap="square" lIns="9144" rIns="9144" tIns="0" bIns="0" anchor="t">
            <a:spAutoFit/>
          </a:bodyPr>
          <a:lstStyle/>
          <a:p>
            <a:pPr>
              <a:spcAft>
                <a:spcPts val="200"/>
              </a:spcAft>
            </a:pPr>
            <a:r>
              <a:rPr sz="1400" b="1">
                <a:solidFill>
                  <a:srgbClr val="D9EDB7"/>
                </a:solidFill>
                <a:latin typeface="Aptos"/>
              </a:rPr>
              <a:t>→</a:t>
            </a:r>
          </a:p>
        </p:txBody>
      </p:sp>
      <p:sp>
        <p:nvSpPr>
          <p:cNvPr id="12" name="Rounded Rectangle 11"/>
          <p:cNvSpPr/>
          <p:nvPr/>
        </p:nvSpPr>
        <p:spPr>
          <a:xfrm>
            <a:off x="4069080" y="3218688"/>
            <a:ext cx="3090672" cy="859536"/>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15384" y="3355848"/>
            <a:ext cx="2788920" cy="210312"/>
          </a:xfrm>
          <a:prstGeom prst="rect">
            <a:avLst/>
          </a:prstGeom>
          <a:noFill/>
        </p:spPr>
        <p:txBody>
          <a:bodyPr wrap="square" lIns="9144" rIns="9144" tIns="0" bIns="0" anchor="t">
            <a:spAutoFit/>
          </a:bodyPr>
          <a:lstStyle/>
          <a:p>
            <a:pPr>
              <a:spcAft>
                <a:spcPts val="200"/>
              </a:spcAft>
            </a:pPr>
            <a:r>
              <a:rPr sz="900" b="1">
                <a:solidFill>
                  <a:srgbClr val="D9EDB7"/>
                </a:solidFill>
                <a:latin typeface="Aptos"/>
              </a:rPr>
              <a:t>ORDERED POLICY</a:t>
            </a:r>
          </a:p>
        </p:txBody>
      </p:sp>
      <p:sp>
        <p:nvSpPr>
          <p:cNvPr id="14" name="TextBox 13"/>
          <p:cNvSpPr txBox="1"/>
          <p:nvPr/>
        </p:nvSpPr>
        <p:spPr>
          <a:xfrm>
            <a:off x="4215384" y="3703320"/>
            <a:ext cx="2788920" cy="265176"/>
          </a:xfrm>
          <a:prstGeom prst="rect">
            <a:avLst/>
          </a:prstGeom>
          <a:noFill/>
        </p:spPr>
        <p:txBody>
          <a:bodyPr wrap="square" lIns="9144" rIns="9144" tIns="0" bIns="0" anchor="t">
            <a:spAutoFit/>
          </a:bodyPr>
          <a:lstStyle/>
          <a:p>
            <a:pPr>
              <a:spcAft>
                <a:spcPts val="200"/>
              </a:spcAft>
            </a:pPr>
            <a:r>
              <a:rPr sz="1600" b="1">
                <a:solidFill>
                  <a:srgbClr val="F8F8F2"/>
                </a:solidFill>
                <a:latin typeface="Aptos"/>
              </a:rPr>
              <a:t>R0–R18 + consent</a:t>
            </a:r>
          </a:p>
        </p:txBody>
      </p:sp>
      <p:sp>
        <p:nvSpPr>
          <p:cNvPr id="15" name="TextBox 14"/>
          <p:cNvSpPr txBox="1"/>
          <p:nvPr/>
        </p:nvSpPr>
        <p:spPr>
          <a:xfrm>
            <a:off x="7168896" y="3557016"/>
            <a:ext cx="228600" cy="292608"/>
          </a:xfrm>
          <a:prstGeom prst="rect">
            <a:avLst/>
          </a:prstGeom>
          <a:noFill/>
        </p:spPr>
        <p:txBody>
          <a:bodyPr wrap="square" lIns="9144" rIns="9144" tIns="0" bIns="0" anchor="t">
            <a:spAutoFit/>
          </a:bodyPr>
          <a:lstStyle/>
          <a:p>
            <a:pPr>
              <a:spcAft>
                <a:spcPts val="200"/>
              </a:spcAft>
            </a:pPr>
            <a:r>
              <a:rPr sz="1400" b="1">
                <a:solidFill>
                  <a:srgbClr val="D9EDB7"/>
                </a:solidFill>
                <a:latin typeface="Aptos"/>
              </a:rPr>
              <a:t>→</a:t>
            </a:r>
          </a:p>
        </p:txBody>
      </p:sp>
      <p:sp>
        <p:nvSpPr>
          <p:cNvPr id="16" name="Rounded Rectangle 15"/>
          <p:cNvSpPr/>
          <p:nvPr/>
        </p:nvSpPr>
        <p:spPr>
          <a:xfrm>
            <a:off x="7406640" y="3218688"/>
            <a:ext cx="3090672" cy="859536"/>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52944" y="3355848"/>
            <a:ext cx="2788920" cy="210312"/>
          </a:xfrm>
          <a:prstGeom prst="rect">
            <a:avLst/>
          </a:prstGeom>
          <a:noFill/>
        </p:spPr>
        <p:txBody>
          <a:bodyPr wrap="square" lIns="9144" rIns="9144" tIns="0" bIns="0" anchor="t">
            <a:spAutoFit/>
          </a:bodyPr>
          <a:lstStyle/>
          <a:p>
            <a:pPr>
              <a:spcAft>
                <a:spcPts val="200"/>
              </a:spcAft>
            </a:pPr>
            <a:r>
              <a:rPr sz="900" b="1">
                <a:solidFill>
                  <a:srgbClr val="D9EDB7"/>
                </a:solidFill>
                <a:latin typeface="Aptos"/>
              </a:rPr>
              <a:t>VERIFIED RECEIPT</a:t>
            </a:r>
          </a:p>
        </p:txBody>
      </p:sp>
      <p:sp>
        <p:nvSpPr>
          <p:cNvPr id="18" name="TextBox 17"/>
          <p:cNvSpPr txBox="1"/>
          <p:nvPr/>
        </p:nvSpPr>
        <p:spPr>
          <a:xfrm>
            <a:off x="7552944" y="3703320"/>
            <a:ext cx="2788920" cy="265176"/>
          </a:xfrm>
          <a:prstGeom prst="rect">
            <a:avLst/>
          </a:prstGeom>
          <a:noFill/>
        </p:spPr>
        <p:txBody>
          <a:bodyPr wrap="square" lIns="9144" rIns="9144" tIns="0" bIns="0" anchor="t">
            <a:spAutoFit/>
          </a:bodyPr>
          <a:lstStyle/>
          <a:p>
            <a:pPr>
              <a:spcAft>
                <a:spcPts val="200"/>
              </a:spcAft>
            </a:pPr>
            <a:r>
              <a:rPr sz="1600" b="1">
                <a:solidFill>
                  <a:srgbClr val="F8F8F2"/>
                </a:solidFill>
                <a:latin typeface="Aptos"/>
              </a:rPr>
              <a:t>Readback + recovery</a:t>
            </a:r>
          </a:p>
        </p:txBody>
      </p:sp>
      <p:sp>
        <p:nvSpPr>
          <p:cNvPr id="19" name="TextBox 18"/>
          <p:cNvSpPr txBox="1"/>
          <p:nvPr/>
        </p:nvSpPr>
        <p:spPr>
          <a:xfrm>
            <a:off x="10506456" y="3557016"/>
            <a:ext cx="228600" cy="292608"/>
          </a:xfrm>
          <a:prstGeom prst="rect">
            <a:avLst/>
          </a:prstGeom>
          <a:noFill/>
        </p:spPr>
        <p:txBody>
          <a:bodyPr wrap="square" lIns="9144" rIns="9144" tIns="0" bIns="0" anchor="t">
            <a:spAutoFit/>
          </a:bodyPr>
          <a:lstStyle/>
          <a:p>
            <a:pPr>
              <a:spcAft>
                <a:spcPts val="200"/>
              </a:spcAft>
            </a:pPr>
            <a:r>
              <a:rPr sz="1400" b="1">
                <a:solidFill>
                  <a:srgbClr val="D9EDB7"/>
                </a:solidFill>
                <a:latin typeface="Aptos"/>
              </a:rPr>
              <a:t>→</a:t>
            </a:r>
          </a:p>
        </p:txBody>
      </p:sp>
      <p:sp>
        <p:nvSpPr>
          <p:cNvPr id="20" name="Rounded Rectangle 19"/>
          <p:cNvSpPr/>
          <p:nvPr/>
        </p:nvSpPr>
        <p:spPr>
          <a:xfrm>
            <a:off x="10744200" y="3218688"/>
            <a:ext cx="3090672" cy="859536"/>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90504" y="3355848"/>
            <a:ext cx="2788920" cy="210312"/>
          </a:xfrm>
          <a:prstGeom prst="rect">
            <a:avLst/>
          </a:prstGeom>
          <a:noFill/>
        </p:spPr>
        <p:txBody>
          <a:bodyPr wrap="square" lIns="9144" rIns="9144" tIns="0" bIns="0" anchor="t">
            <a:spAutoFit/>
          </a:bodyPr>
          <a:lstStyle/>
          <a:p>
            <a:pPr>
              <a:spcAft>
                <a:spcPts val="200"/>
              </a:spcAft>
            </a:pPr>
            <a:r>
              <a:rPr sz="900" b="1">
                <a:solidFill>
                  <a:srgbClr val="D9EDB7"/>
                </a:solidFill>
                <a:latin typeface="Aptos"/>
              </a:rPr>
              <a:t>SAVED FOLLOW-UP</a:t>
            </a:r>
          </a:p>
        </p:txBody>
      </p:sp>
      <p:sp>
        <p:nvSpPr>
          <p:cNvPr id="22" name="TextBox 21"/>
          <p:cNvSpPr txBox="1"/>
          <p:nvPr/>
        </p:nvSpPr>
        <p:spPr>
          <a:xfrm>
            <a:off x="10890504" y="3703320"/>
            <a:ext cx="2788920" cy="265176"/>
          </a:xfrm>
          <a:prstGeom prst="rect">
            <a:avLst/>
          </a:prstGeom>
          <a:noFill/>
        </p:spPr>
        <p:txBody>
          <a:bodyPr wrap="square" lIns="9144" rIns="9144" tIns="0" bIns="0" anchor="t">
            <a:spAutoFit/>
          </a:bodyPr>
          <a:lstStyle/>
          <a:p>
            <a:pPr>
              <a:spcAft>
                <a:spcPts val="200"/>
              </a:spcAft>
            </a:pPr>
            <a:r>
              <a:rPr sz="1600" b="1">
                <a:solidFill>
                  <a:srgbClr val="F8F8F2"/>
                </a:solidFill>
                <a:latin typeface="Aptos"/>
              </a:rPr>
              <a:t>Context + handoff</a:t>
            </a:r>
          </a:p>
        </p:txBody>
      </p:sp>
      <p:sp>
        <p:nvSpPr>
          <p:cNvPr id="23" name="Rounded Rectangle 22"/>
          <p:cNvSpPr/>
          <p:nvPr/>
        </p:nvSpPr>
        <p:spPr>
          <a:xfrm>
            <a:off x="731520" y="4325112"/>
            <a:ext cx="4206240" cy="1755648"/>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471416"/>
            <a:ext cx="3849624" cy="530352"/>
          </a:xfrm>
          <a:prstGeom prst="rect">
            <a:avLst/>
          </a:prstGeom>
          <a:noFill/>
        </p:spPr>
        <p:txBody>
          <a:bodyPr wrap="square" lIns="9144" rIns="9144" tIns="0" bIns="0" anchor="t">
            <a:spAutoFit/>
          </a:bodyPr>
          <a:lstStyle/>
          <a:p>
            <a:pPr>
              <a:spcAft>
                <a:spcPts val="200"/>
              </a:spcAft>
            </a:pPr>
            <a:r>
              <a:rPr sz="3200" b="1">
                <a:solidFill>
                  <a:srgbClr val="D9EDB7"/>
                </a:solidFill>
                <a:latin typeface="Aptos"/>
              </a:rPr>
              <a:t>1,078</a:t>
            </a:r>
          </a:p>
        </p:txBody>
      </p:sp>
      <p:sp>
        <p:nvSpPr>
          <p:cNvPr id="25" name="TextBox 24"/>
          <p:cNvSpPr txBox="1"/>
          <p:nvPr/>
        </p:nvSpPr>
        <p:spPr>
          <a:xfrm>
            <a:off x="905256" y="5084064"/>
            <a:ext cx="3849624" cy="256032"/>
          </a:xfrm>
          <a:prstGeom prst="rect">
            <a:avLst/>
          </a:prstGeom>
          <a:noFill/>
        </p:spPr>
        <p:txBody>
          <a:bodyPr wrap="square" lIns="9144" rIns="9144" tIns="0" bIns="0" anchor="t">
            <a:spAutoFit/>
          </a:bodyPr>
          <a:lstStyle/>
          <a:p>
            <a:pPr>
              <a:spcAft>
                <a:spcPts val="200"/>
              </a:spcAft>
            </a:pPr>
            <a:r>
              <a:rPr sz="1300" b="1">
                <a:solidFill>
                  <a:srgbClr val="F8F8F2"/>
                </a:solidFill>
                <a:latin typeface="Aptos"/>
              </a:rPr>
              <a:t>offline core checks</a:t>
            </a:r>
          </a:p>
        </p:txBody>
      </p:sp>
      <p:sp>
        <p:nvSpPr>
          <p:cNvPr id="26" name="TextBox 25"/>
          <p:cNvSpPr txBox="1"/>
          <p:nvPr/>
        </p:nvSpPr>
        <p:spPr>
          <a:xfrm>
            <a:off x="905256" y="5477256"/>
            <a:ext cx="3849624" cy="429768"/>
          </a:xfrm>
          <a:prstGeom prst="rect">
            <a:avLst/>
          </a:prstGeom>
          <a:noFill/>
        </p:spPr>
        <p:txBody>
          <a:bodyPr wrap="square" lIns="9144" rIns="9144" tIns="0" bIns="0" anchor="t">
            <a:spAutoFit/>
          </a:bodyPr>
          <a:lstStyle/>
          <a:p>
            <a:pPr>
              <a:spcAft>
                <a:spcPts val="200"/>
              </a:spcAft>
            </a:pPr>
            <a:r>
              <a:rPr sz="1100" b="0">
                <a:solidFill>
                  <a:srgbClr val="C6D3CA"/>
                </a:solidFill>
                <a:latin typeface="Aptos"/>
              </a:rPr>
              <a:t>R0–R18, ownership, consent,</a:t>
            </a:r>
          </a:p>
          <a:p>
            <a:pPr>
              <a:spcAft>
                <a:spcPts val="200"/>
              </a:spcAft>
            </a:pPr>
            <a:r>
              <a:rPr sz="1100" b="0">
                <a:solidFill>
                  <a:srgbClr val="C6D3CA"/>
                </a:solidFill>
                <a:latin typeface="Aptos"/>
              </a:rPr>
              <a:t>receipts and recovery</a:t>
            </a:r>
          </a:p>
        </p:txBody>
      </p:sp>
      <p:sp>
        <p:nvSpPr>
          <p:cNvPr id="27" name="Rounded Rectangle 26"/>
          <p:cNvSpPr/>
          <p:nvPr/>
        </p:nvSpPr>
        <p:spPr>
          <a:xfrm>
            <a:off x="5157216" y="4325112"/>
            <a:ext cx="4206240" cy="1755648"/>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30952" y="4471416"/>
            <a:ext cx="3849624" cy="530352"/>
          </a:xfrm>
          <a:prstGeom prst="rect">
            <a:avLst/>
          </a:prstGeom>
          <a:noFill/>
        </p:spPr>
        <p:txBody>
          <a:bodyPr wrap="square" lIns="9144" rIns="9144" tIns="0" bIns="0" anchor="t">
            <a:spAutoFit/>
          </a:bodyPr>
          <a:lstStyle/>
          <a:p>
            <a:pPr>
              <a:spcAft>
                <a:spcPts val="200"/>
              </a:spcAft>
            </a:pPr>
            <a:r>
              <a:rPr sz="3200" b="1">
                <a:solidFill>
                  <a:srgbClr val="D9EDB7"/>
                </a:solidFill>
                <a:latin typeface="Aptos"/>
              </a:rPr>
              <a:t>100 / 100</a:t>
            </a:r>
          </a:p>
        </p:txBody>
      </p:sp>
      <p:sp>
        <p:nvSpPr>
          <p:cNvPr id="29" name="TextBox 28"/>
          <p:cNvSpPr txBox="1"/>
          <p:nvPr/>
        </p:nvSpPr>
        <p:spPr>
          <a:xfrm>
            <a:off x="5330952" y="5084064"/>
            <a:ext cx="3849624" cy="256032"/>
          </a:xfrm>
          <a:prstGeom prst="rect">
            <a:avLst/>
          </a:prstGeom>
          <a:noFill/>
        </p:spPr>
        <p:txBody>
          <a:bodyPr wrap="square" lIns="9144" rIns="9144" tIns="0" bIns="0" anchor="t">
            <a:spAutoFit/>
          </a:bodyPr>
          <a:lstStyle/>
          <a:p>
            <a:pPr>
              <a:spcAft>
                <a:spcPts val="200"/>
              </a:spcAft>
            </a:pPr>
            <a:r>
              <a:rPr sz="1300" b="1">
                <a:solidFill>
                  <a:srgbClr val="F8F8F2"/>
                </a:solidFill>
                <a:latin typeface="Aptos"/>
              </a:rPr>
              <a:t>local Luna fixture decisions</a:t>
            </a:r>
          </a:p>
        </p:txBody>
      </p:sp>
      <p:sp>
        <p:nvSpPr>
          <p:cNvPr id="30" name="TextBox 29"/>
          <p:cNvSpPr txBox="1"/>
          <p:nvPr/>
        </p:nvSpPr>
        <p:spPr>
          <a:xfrm>
            <a:off x="5330952" y="5477256"/>
            <a:ext cx="3849624" cy="429768"/>
          </a:xfrm>
          <a:prstGeom prst="rect">
            <a:avLst/>
          </a:prstGeom>
          <a:noFill/>
        </p:spPr>
        <p:txBody>
          <a:bodyPr wrap="square" lIns="9144" rIns="9144" tIns="0" bIns="0" anchor="t">
            <a:spAutoFit/>
          </a:bodyPr>
          <a:lstStyle/>
          <a:p>
            <a:pPr>
              <a:spcAft>
                <a:spcPts val="200"/>
              </a:spcAft>
            </a:pPr>
            <a:r>
              <a:rPr sz="1100" b="0">
                <a:solidFill>
                  <a:srgbClr val="C6D3CA"/>
                </a:solidFill>
                <a:latin typeface="Aptos"/>
              </a:rPr>
              <a:t>50 ES + 50 PT</a:t>
            </a:r>
          </a:p>
          <a:p>
            <a:pPr>
              <a:spcAft>
                <a:spcPts val="200"/>
              </a:spcAft>
            </a:pPr>
            <a:r>
              <a:rPr sz="1100" b="0">
                <a:solidFill>
                  <a:srgbClr val="C6D3CA"/>
                </a:solidFill>
                <a:latin typeface="Aptos"/>
              </a:rPr>
              <a:t>Grounded expected decisions</a:t>
            </a:r>
          </a:p>
        </p:txBody>
      </p:sp>
      <p:sp>
        <p:nvSpPr>
          <p:cNvPr id="31" name="Rounded Rectangle 30"/>
          <p:cNvSpPr/>
          <p:nvPr/>
        </p:nvSpPr>
        <p:spPr>
          <a:xfrm>
            <a:off x="9582912" y="4325112"/>
            <a:ext cx="4206240" cy="1755648"/>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56648" y="4471416"/>
            <a:ext cx="3849624" cy="530352"/>
          </a:xfrm>
          <a:prstGeom prst="rect">
            <a:avLst/>
          </a:prstGeom>
          <a:noFill/>
        </p:spPr>
        <p:txBody>
          <a:bodyPr wrap="square" lIns="9144" rIns="9144" tIns="0" bIns="0" anchor="t">
            <a:spAutoFit/>
          </a:bodyPr>
          <a:lstStyle/>
          <a:p>
            <a:pPr>
              <a:spcAft>
                <a:spcPts val="200"/>
              </a:spcAft>
            </a:pPr>
            <a:r>
              <a:rPr sz="3200" b="1">
                <a:solidFill>
                  <a:srgbClr val="D9EDB7"/>
                </a:solidFill>
                <a:latin typeface="Aptos"/>
              </a:rPr>
              <a:t>2 journeys</a:t>
            </a:r>
          </a:p>
        </p:txBody>
      </p:sp>
      <p:sp>
        <p:nvSpPr>
          <p:cNvPr id="33" name="TextBox 32"/>
          <p:cNvSpPr txBox="1"/>
          <p:nvPr/>
        </p:nvSpPr>
        <p:spPr>
          <a:xfrm>
            <a:off x="9756648" y="5084064"/>
            <a:ext cx="3849624" cy="256032"/>
          </a:xfrm>
          <a:prstGeom prst="rect">
            <a:avLst/>
          </a:prstGeom>
          <a:noFill/>
        </p:spPr>
        <p:txBody>
          <a:bodyPr wrap="square" lIns="9144" rIns="9144" tIns="0" bIns="0" anchor="t">
            <a:spAutoFit/>
          </a:bodyPr>
          <a:lstStyle/>
          <a:p>
            <a:pPr>
              <a:spcAft>
                <a:spcPts val="200"/>
              </a:spcAft>
            </a:pPr>
            <a:r>
              <a:rPr sz="1300" b="1">
                <a:solidFill>
                  <a:srgbClr val="F8F8F2"/>
                </a:solidFill>
                <a:latin typeface="Aptos"/>
              </a:rPr>
              <a:t>live public API · card protection</a:t>
            </a:r>
          </a:p>
        </p:txBody>
      </p:sp>
      <p:sp>
        <p:nvSpPr>
          <p:cNvPr id="34" name="TextBox 33"/>
          <p:cNvSpPr txBox="1"/>
          <p:nvPr/>
        </p:nvSpPr>
        <p:spPr>
          <a:xfrm>
            <a:off x="9756648" y="5477256"/>
            <a:ext cx="3849624" cy="429768"/>
          </a:xfrm>
          <a:prstGeom prst="rect">
            <a:avLst/>
          </a:prstGeom>
          <a:noFill/>
        </p:spPr>
        <p:txBody>
          <a:bodyPr wrap="square" lIns="9144" rIns="9144" tIns="0" bIns="0" anchor="t">
            <a:spAutoFit/>
          </a:bodyPr>
          <a:lstStyle/>
          <a:p>
            <a:pPr>
              <a:spcAft>
                <a:spcPts val="200"/>
              </a:spcAft>
            </a:pPr>
            <a:r>
              <a:rPr sz="1100" b="0">
                <a:solidFill>
                  <a:srgbClr val="C6D3CA"/>
                </a:solidFill>
                <a:latin typeface="Aptos"/>
              </a:rPr>
              <a:t>Spanish + Portuguese: consent,</a:t>
            </a:r>
          </a:p>
          <a:p>
            <a:pPr>
              <a:spcAft>
                <a:spcPts val="200"/>
              </a:spcAft>
            </a:pPr>
            <a:r>
              <a:rPr sz="1100" b="0">
                <a:solidFill>
                  <a:srgbClr val="C6D3CA"/>
                </a:solidFill>
                <a:latin typeface="Aptos"/>
              </a:rPr>
              <a:t>verified block and status on new login</a:t>
            </a:r>
          </a:p>
        </p:txBody>
      </p:sp>
      <p:sp>
        <p:nvSpPr>
          <p:cNvPr id="35" name="Rounded Rectangle 34"/>
          <p:cNvSpPr/>
          <p:nvPr/>
        </p:nvSpPr>
        <p:spPr>
          <a:xfrm>
            <a:off x="731520" y="6327648"/>
            <a:ext cx="13057632" cy="914400"/>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6455664"/>
            <a:ext cx="12664440" cy="192024"/>
          </a:xfrm>
          <a:prstGeom prst="rect">
            <a:avLst/>
          </a:prstGeom>
          <a:noFill/>
        </p:spPr>
        <p:txBody>
          <a:bodyPr wrap="square" lIns="9144" rIns="9144" tIns="0" bIns="0" anchor="t">
            <a:spAutoFit/>
          </a:bodyPr>
          <a:lstStyle/>
          <a:p>
            <a:pPr>
              <a:spcAft>
                <a:spcPts val="200"/>
              </a:spcAft>
            </a:pPr>
            <a:r>
              <a:rPr sz="900" b="1">
                <a:solidFill>
                  <a:srgbClr val="D9EDB7"/>
                </a:solidFill>
                <a:latin typeface="Aptos"/>
              </a:rPr>
              <a:t>DATA → PRODUCT DECISION</a:t>
            </a:r>
          </a:p>
        </p:txBody>
      </p:sp>
      <p:sp>
        <p:nvSpPr>
          <p:cNvPr id="37" name="TextBox 36"/>
          <p:cNvSpPr txBox="1"/>
          <p:nvPr/>
        </p:nvSpPr>
        <p:spPr>
          <a:xfrm>
            <a:off x="914400" y="6766560"/>
            <a:ext cx="12664440" cy="256032"/>
          </a:xfrm>
          <a:prstGeom prst="rect">
            <a:avLst/>
          </a:prstGeom>
          <a:noFill/>
        </p:spPr>
        <p:txBody>
          <a:bodyPr wrap="square" lIns="9144" rIns="9144" tIns="0" bIns="0" anchor="t">
            <a:spAutoFit/>
          </a:bodyPr>
          <a:lstStyle/>
          <a:p>
            <a:pPr>
              <a:spcAft>
                <a:spcPts val="200"/>
              </a:spcAft>
            </a:pPr>
            <a:r>
              <a:rPr sz="1700" b="1">
                <a:solidFill>
                  <a:srgbClr val="F8F8F2"/>
                </a:solidFill>
                <a:latin typeface="Aptos"/>
              </a:rPr>
              <a:t>Historical links crossed customer ownership. New inquiries use owned transaction reads.</a:t>
            </a:r>
          </a:p>
        </p:txBody>
      </p:sp>
      <p:sp>
        <p:nvSpPr>
          <p:cNvPr id="38" name="TextBox 37"/>
          <p:cNvSpPr txBox="1"/>
          <p:nvPr/>
        </p:nvSpPr>
        <p:spPr>
          <a:xfrm>
            <a:off x="749808" y="7434072"/>
            <a:ext cx="13167360" cy="210312"/>
          </a:xfrm>
          <a:prstGeom prst="rect">
            <a:avLst/>
          </a:prstGeom>
          <a:noFill/>
        </p:spPr>
        <p:txBody>
          <a:bodyPr wrap="square" lIns="9144" rIns="9144" tIns="0" bIns="0" anchor="t">
            <a:spAutoFit/>
          </a:bodyPr>
          <a:lstStyle/>
          <a:p>
            <a:pPr>
              <a:spcAft>
                <a:spcPts val="200"/>
              </a:spcAft>
            </a:pPr>
            <a:r>
              <a:rPr sz="1000" b="0">
                <a:solidFill>
                  <a:srgbClr val="C6D3CA"/>
                </a:solidFill>
                <a:latin typeface="Aptos"/>
              </a:rPr>
              <a:t>Savia + Banking MCP own the banking boundary. FLUJO keeps its generic interfaces; voice and models remain replaceable.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332D"/>
        </a:solidFill>
        <a:effectLst/>
      </p:bgPr>
    </p:bg>
    <p:spTree>
      <p:nvGrpSpPr>
        <p:cNvPr id="1" name=""/>
        <p:cNvGrpSpPr/>
        <p:nvPr/>
      </p:nvGrpSpPr>
      <p:grpSpPr/>
      <p:sp>
        <p:nvSpPr>
          <p:cNvPr id="2" name="Rectangle 1"/>
          <p:cNvSpPr/>
          <p:nvPr/>
        </p:nvSpPr>
        <p:spPr>
          <a:xfrm>
            <a:off x="585216" y="512064"/>
            <a:ext cx="457200" cy="64008"/>
          </a:xfrm>
          <a:prstGeom prst="rect">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07008" y="374904"/>
            <a:ext cx="11887200" cy="320040"/>
          </a:xfrm>
          <a:prstGeom prst="rect">
            <a:avLst/>
          </a:prstGeom>
          <a:noFill/>
        </p:spPr>
        <p:txBody>
          <a:bodyPr wrap="square" lIns="9144" rIns="9144" tIns="0" bIns="0" anchor="t">
            <a:spAutoFit/>
          </a:bodyPr>
          <a:lstStyle/>
          <a:p>
            <a:pPr>
              <a:spcAft>
                <a:spcPts val="200"/>
              </a:spcAft>
            </a:pPr>
            <a:r>
              <a:rPr sz="1100" b="1">
                <a:solidFill>
                  <a:srgbClr val="D9EDB7"/>
                </a:solidFill>
                <a:latin typeface="Aptos"/>
              </a:rPr>
              <a:t>05 / THE BANK PILOT</a:t>
            </a:r>
          </a:p>
        </p:txBody>
      </p:sp>
      <p:sp>
        <p:nvSpPr>
          <p:cNvPr id="4" name="TextBox 3"/>
          <p:cNvSpPr txBox="1"/>
          <p:nvPr/>
        </p:nvSpPr>
        <p:spPr>
          <a:xfrm>
            <a:off x="658368" y="7772400"/>
            <a:ext cx="10972800" cy="228600"/>
          </a:xfrm>
          <a:prstGeom prst="rect">
            <a:avLst/>
          </a:prstGeom>
          <a:noFill/>
        </p:spPr>
        <p:txBody>
          <a:bodyPr wrap="square" lIns="9144" rIns="9144" tIns="0" bIns="0" anchor="t">
            <a:spAutoFit/>
          </a:bodyPr>
          <a:lstStyle/>
          <a:p>
            <a:pPr>
              <a:spcAft>
                <a:spcPts val="200"/>
              </a:spcAft>
            </a:pPr>
            <a:r>
              <a:rPr sz="900" b="0">
                <a:solidFill>
                  <a:srgbClr val="C6D3CA"/>
                </a:solidFill>
                <a:latin typeface="Aptos"/>
              </a:rPr>
              <a:t>SAVIA  /  ASK ONCE. SAVIA FOLLOWS THROUGH.</a:t>
            </a:r>
          </a:p>
        </p:txBody>
      </p:sp>
      <p:sp>
        <p:nvSpPr>
          <p:cNvPr id="5" name="TextBox 4"/>
          <p:cNvSpPr txBox="1"/>
          <p:nvPr/>
        </p:nvSpPr>
        <p:spPr>
          <a:xfrm>
            <a:off x="13002768" y="7754112"/>
            <a:ext cx="914400" cy="256032"/>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06 / 06</a:t>
            </a:r>
          </a:p>
        </p:txBody>
      </p:sp>
      <p:sp>
        <p:nvSpPr>
          <p:cNvPr id="6" name="TextBox 5"/>
          <p:cNvSpPr txBox="1"/>
          <p:nvPr/>
        </p:nvSpPr>
        <p:spPr>
          <a:xfrm>
            <a:off x="658368" y="978408"/>
            <a:ext cx="13533120" cy="1444752"/>
          </a:xfrm>
          <a:prstGeom prst="rect">
            <a:avLst/>
          </a:prstGeom>
          <a:noFill/>
        </p:spPr>
        <p:txBody>
          <a:bodyPr wrap="square" lIns="9144" rIns="9144" tIns="0" bIns="0" anchor="t">
            <a:spAutoFit/>
          </a:bodyPr>
          <a:lstStyle/>
          <a:p>
            <a:pPr>
              <a:spcAft>
                <a:spcPts val="200"/>
              </a:spcAft>
            </a:pPr>
            <a:r>
              <a:rPr sz="3800" b="1">
                <a:solidFill>
                  <a:srgbClr val="F8F8F2"/>
                </a:solidFill>
                <a:latin typeface="Aptos"/>
              </a:rPr>
              <a:t>Make “I’ll look into it”</a:t>
            </a:r>
          </a:p>
          <a:p>
            <a:pPr>
              <a:spcAft>
                <a:spcPts val="200"/>
              </a:spcAft>
            </a:pPr>
            <a:r>
              <a:rPr sz="3800" b="1">
                <a:solidFill>
                  <a:srgbClr val="F8F8F2"/>
                </a:solidFill>
                <a:latin typeface="Aptos"/>
              </a:rPr>
              <a:t>a service customers can feel.</a:t>
            </a:r>
          </a:p>
        </p:txBody>
      </p:sp>
      <p:sp>
        <p:nvSpPr>
          <p:cNvPr id="7" name="Rounded Rectangle 6"/>
          <p:cNvSpPr/>
          <p:nvPr/>
        </p:nvSpPr>
        <p:spPr>
          <a:xfrm>
            <a:off x="731520" y="2770632"/>
            <a:ext cx="4206240" cy="2688336"/>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935224"/>
            <a:ext cx="3803903" cy="292608"/>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FOR THE CUSTOMER</a:t>
            </a:r>
          </a:p>
        </p:txBody>
      </p:sp>
      <p:sp>
        <p:nvSpPr>
          <p:cNvPr id="9" name="TextBox 8"/>
          <p:cNvSpPr txBox="1"/>
          <p:nvPr/>
        </p:nvSpPr>
        <p:spPr>
          <a:xfrm>
            <a:off x="932688" y="3355848"/>
            <a:ext cx="3803903" cy="630936"/>
          </a:xfrm>
          <a:prstGeom prst="rect">
            <a:avLst/>
          </a:prstGeom>
          <a:noFill/>
        </p:spPr>
        <p:txBody>
          <a:bodyPr wrap="square" lIns="9144" rIns="9144" tIns="0" bIns="0" anchor="t">
            <a:spAutoFit/>
          </a:bodyPr>
          <a:lstStyle/>
          <a:p>
            <a:pPr>
              <a:spcAft>
                <a:spcPts val="200"/>
              </a:spcAft>
            </a:pPr>
            <a:r>
              <a:rPr sz="2300" b="1">
                <a:solidFill>
                  <a:srgbClr val="F8F8F2"/>
                </a:solidFill>
                <a:latin typeface="Aptos"/>
              </a:rPr>
              <a:t>Less chasing.</a:t>
            </a:r>
          </a:p>
        </p:txBody>
      </p:sp>
      <p:sp>
        <p:nvSpPr>
          <p:cNvPr id="10" name="TextBox 9"/>
          <p:cNvSpPr txBox="1"/>
          <p:nvPr/>
        </p:nvSpPr>
        <p:spPr>
          <a:xfrm>
            <a:off x="932688" y="4069079"/>
            <a:ext cx="3803903" cy="1261872"/>
          </a:xfrm>
          <a:prstGeom prst="rect">
            <a:avLst/>
          </a:prstGeom>
          <a:noFill/>
        </p:spPr>
        <p:txBody>
          <a:bodyPr wrap="square" lIns="9144" rIns="9144" tIns="0" bIns="0" anchor="t">
            <a:spAutoFit/>
          </a:bodyPr>
          <a:lstStyle/>
          <a:p>
            <a:pPr>
              <a:spcAft>
                <a:spcPts val="200"/>
              </a:spcAft>
            </a:pPr>
            <a:r>
              <a:rPr sz="1600" b="0">
                <a:solidFill>
                  <a:srgbClr val="C6D3CA"/>
                </a:solidFill>
                <a:latin typeface="Aptos"/>
              </a:rPr>
              <a:t>One guide keeps the context</a:t>
            </a:r>
          </a:p>
          <a:p>
            <a:pPr>
              <a:spcAft>
                <a:spcPts val="200"/>
              </a:spcAft>
            </a:pPr>
            <a:r>
              <a:rPr sz="1600" b="0">
                <a:solidFill>
                  <a:srgbClr val="C6D3CA"/>
                </a:solidFill>
                <a:latin typeface="Aptos"/>
              </a:rPr>
              <a:t>and brings the next step back.</a:t>
            </a:r>
          </a:p>
        </p:txBody>
      </p:sp>
      <p:sp>
        <p:nvSpPr>
          <p:cNvPr id="11" name="Rounded Rectangle 10"/>
          <p:cNvSpPr/>
          <p:nvPr/>
        </p:nvSpPr>
        <p:spPr>
          <a:xfrm>
            <a:off x="5157216" y="2770632"/>
            <a:ext cx="4206240" cy="2688336"/>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58383" y="2935224"/>
            <a:ext cx="3803903" cy="292608"/>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FOR THE BANK</a:t>
            </a:r>
          </a:p>
        </p:txBody>
      </p:sp>
      <p:sp>
        <p:nvSpPr>
          <p:cNvPr id="13" name="TextBox 12"/>
          <p:cNvSpPr txBox="1"/>
          <p:nvPr/>
        </p:nvSpPr>
        <p:spPr>
          <a:xfrm>
            <a:off x="5358383" y="3355848"/>
            <a:ext cx="3803903" cy="630936"/>
          </a:xfrm>
          <a:prstGeom prst="rect">
            <a:avLst/>
          </a:prstGeom>
          <a:noFill/>
        </p:spPr>
        <p:txBody>
          <a:bodyPr wrap="square" lIns="9144" rIns="9144" tIns="0" bIns="0" anchor="t">
            <a:spAutoFit/>
          </a:bodyPr>
          <a:lstStyle/>
          <a:p>
            <a:pPr>
              <a:spcAft>
                <a:spcPts val="200"/>
              </a:spcAft>
            </a:pPr>
            <a:r>
              <a:rPr sz="2300" b="1">
                <a:solidFill>
                  <a:srgbClr val="F8F8F2"/>
                </a:solidFill>
                <a:latin typeface="Aptos"/>
              </a:rPr>
              <a:t>Better prepared support.</a:t>
            </a:r>
          </a:p>
        </p:txBody>
      </p:sp>
      <p:sp>
        <p:nvSpPr>
          <p:cNvPr id="14" name="TextBox 13"/>
          <p:cNvSpPr txBox="1"/>
          <p:nvPr/>
        </p:nvSpPr>
        <p:spPr>
          <a:xfrm>
            <a:off x="5358383" y="4069079"/>
            <a:ext cx="3803903" cy="1261872"/>
          </a:xfrm>
          <a:prstGeom prst="rect">
            <a:avLst/>
          </a:prstGeom>
          <a:noFill/>
        </p:spPr>
        <p:txBody>
          <a:bodyPr wrap="square" lIns="9144" rIns="9144" tIns="0" bIns="0" anchor="t">
            <a:spAutoFit/>
          </a:bodyPr>
          <a:lstStyle/>
          <a:p>
            <a:pPr>
              <a:spcAft>
                <a:spcPts val="200"/>
              </a:spcAft>
            </a:pPr>
            <a:r>
              <a:rPr sz="1600" b="0">
                <a:solidFill>
                  <a:srgbClr val="C6D3CA"/>
                </a:solidFill>
                <a:latin typeface="Aptos"/>
              </a:rPr>
              <a:t>Reviewed evidence and a clear</a:t>
            </a:r>
          </a:p>
          <a:p>
            <a:pPr>
              <a:spcAft>
                <a:spcPts val="200"/>
              </a:spcAft>
            </a:pPr>
            <a:r>
              <a:rPr sz="1600" b="0">
                <a:solidFill>
                  <a:srgbClr val="C6D3CA"/>
                </a:solidFill>
                <a:latin typeface="Aptos"/>
              </a:rPr>
              <a:t>packet for the next handoff.</a:t>
            </a:r>
          </a:p>
        </p:txBody>
      </p:sp>
      <p:sp>
        <p:nvSpPr>
          <p:cNvPr id="15" name="Rounded Rectangle 14"/>
          <p:cNvSpPr/>
          <p:nvPr/>
        </p:nvSpPr>
        <p:spPr>
          <a:xfrm>
            <a:off x="9582912" y="2770632"/>
            <a:ext cx="4206240" cy="2688336"/>
          </a:xfrm>
          <a:prstGeom prst="roundRect">
            <a:avLst>
              <a:gd name="adj" fmla="val 12000"/>
            </a:avLst>
          </a:prstGeom>
          <a:solidFill>
            <a:srgbClr val="214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0" y="2935224"/>
            <a:ext cx="3803903" cy="292608"/>
          </a:xfrm>
          <a:prstGeom prst="rect">
            <a:avLst/>
          </a:prstGeom>
          <a:noFill/>
        </p:spPr>
        <p:txBody>
          <a:bodyPr wrap="square" lIns="9144" rIns="9144" tIns="0" bIns="0" anchor="t">
            <a:spAutoFit/>
          </a:bodyPr>
          <a:lstStyle/>
          <a:p>
            <a:pPr>
              <a:spcAft>
                <a:spcPts val="200"/>
              </a:spcAft>
            </a:pPr>
            <a:r>
              <a:rPr sz="1000" b="1">
                <a:solidFill>
                  <a:srgbClr val="D9EDB7"/>
                </a:solidFill>
                <a:latin typeface="Aptos"/>
              </a:rPr>
              <a:t>THE NEXT STEP</a:t>
            </a:r>
          </a:p>
        </p:txBody>
      </p:sp>
      <p:sp>
        <p:nvSpPr>
          <p:cNvPr id="17" name="TextBox 16"/>
          <p:cNvSpPr txBox="1"/>
          <p:nvPr/>
        </p:nvSpPr>
        <p:spPr>
          <a:xfrm>
            <a:off x="9784080" y="3355848"/>
            <a:ext cx="3803903" cy="630936"/>
          </a:xfrm>
          <a:prstGeom prst="rect">
            <a:avLst/>
          </a:prstGeom>
          <a:noFill/>
        </p:spPr>
        <p:txBody>
          <a:bodyPr wrap="square" lIns="9144" rIns="9144" tIns="0" bIns="0" anchor="t">
            <a:spAutoFit/>
          </a:bodyPr>
          <a:lstStyle/>
          <a:p>
            <a:pPr>
              <a:spcAft>
                <a:spcPts val="200"/>
              </a:spcAft>
            </a:pPr>
            <a:r>
              <a:rPr sz="2300" b="1">
                <a:solidFill>
                  <a:srgbClr val="F8F8F2"/>
                </a:solidFill>
                <a:latin typeface="Aptos"/>
              </a:rPr>
              <a:t>A bounded bank pilot.</a:t>
            </a:r>
          </a:p>
        </p:txBody>
      </p:sp>
      <p:sp>
        <p:nvSpPr>
          <p:cNvPr id="18" name="TextBox 17"/>
          <p:cNvSpPr txBox="1"/>
          <p:nvPr/>
        </p:nvSpPr>
        <p:spPr>
          <a:xfrm>
            <a:off x="9784080" y="4069079"/>
            <a:ext cx="3803903" cy="1261872"/>
          </a:xfrm>
          <a:prstGeom prst="rect">
            <a:avLst/>
          </a:prstGeom>
          <a:noFill/>
        </p:spPr>
        <p:txBody>
          <a:bodyPr wrap="square" lIns="9144" rIns="9144" tIns="0" bIns="0" anchor="t">
            <a:spAutoFit/>
          </a:bodyPr>
          <a:lstStyle/>
          <a:p>
            <a:pPr>
              <a:spcAft>
                <a:spcPts val="200"/>
              </a:spcAft>
            </a:pPr>
            <a:r>
              <a:rPr sz="1600" b="0">
                <a:solidFill>
                  <a:srgbClr val="C6D3CA"/>
                </a:solidFill>
                <a:latin typeface="Aptos"/>
              </a:rPr>
              <a:t>Start with transaction disputes.</a:t>
            </a:r>
          </a:p>
          <a:p>
            <a:pPr>
              <a:spcAft>
                <a:spcPts val="200"/>
              </a:spcAft>
            </a:pPr>
            <a:r>
              <a:rPr sz="1600" b="0">
                <a:solidFill>
                  <a:srgbClr val="C6D3CA"/>
                </a:solidFill>
                <a:latin typeface="Aptos"/>
              </a:rPr>
              <a:t>Measure value before scaling.</a:t>
            </a:r>
          </a:p>
        </p:txBody>
      </p:sp>
      <p:sp>
        <p:nvSpPr>
          <p:cNvPr id="19" name="Rounded Rectangle 18"/>
          <p:cNvSpPr/>
          <p:nvPr/>
        </p:nvSpPr>
        <p:spPr>
          <a:xfrm>
            <a:off x="731520" y="5705856"/>
            <a:ext cx="13057632" cy="1435608"/>
          </a:xfrm>
          <a:prstGeom prst="roundRect">
            <a:avLst>
              <a:gd name="adj" fmla="val 12000"/>
            </a:avLst>
          </a:prstGeom>
          <a:solidFill>
            <a:srgbClr val="D9ED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888736"/>
            <a:ext cx="12563856" cy="429768"/>
          </a:xfrm>
          <a:prstGeom prst="rect">
            <a:avLst/>
          </a:prstGeom>
          <a:noFill/>
        </p:spPr>
        <p:txBody>
          <a:bodyPr wrap="square" lIns="9144" rIns="9144" tIns="0" bIns="0" anchor="t">
            <a:spAutoFit/>
          </a:bodyPr>
          <a:lstStyle/>
          <a:p>
            <a:pPr>
              <a:spcAft>
                <a:spcPts val="200"/>
              </a:spcAft>
            </a:pPr>
            <a:r>
              <a:rPr sz="2900" b="1">
                <a:solidFill>
                  <a:srgbClr val="12332D"/>
                </a:solidFill>
                <a:latin typeface="Aptos"/>
              </a:rPr>
              <a:t>Ask once. Savia follows through.</a:t>
            </a:r>
          </a:p>
        </p:txBody>
      </p:sp>
      <p:sp>
        <p:nvSpPr>
          <p:cNvPr id="21" name="TextBox 20"/>
          <p:cNvSpPr txBox="1"/>
          <p:nvPr/>
        </p:nvSpPr>
        <p:spPr>
          <a:xfrm>
            <a:off x="978408" y="6483096"/>
            <a:ext cx="12490704" cy="301752"/>
          </a:xfrm>
          <a:prstGeom prst="rect">
            <a:avLst/>
          </a:prstGeom>
          <a:noFill/>
        </p:spPr>
        <p:txBody>
          <a:bodyPr wrap="square" lIns="9144" rIns="9144" tIns="0" bIns="0" anchor="t">
            <a:spAutoFit/>
          </a:bodyPr>
          <a:lstStyle/>
          <a:p>
            <a:pPr>
              <a:spcAft>
                <a:spcPts val="200"/>
              </a:spcAft>
            </a:pPr>
            <a:r>
              <a:rPr sz="1400" b="0">
                <a:solidFill>
                  <a:srgbClr val="12332D"/>
                </a:solidFill>
                <a:latin typeface="Aptos"/>
              </a:rPr>
              <a:t>Pilot measures: repeat contacts · helpful answers · handoff quality · cost per case</a:t>
            </a:r>
          </a:p>
        </p:txBody>
      </p:sp>
      <p:sp>
        <p:nvSpPr>
          <p:cNvPr id="22" name="TextBox 21">
            <a:hlinkClick r:id="rId3"/>
          </p:cNvPr>
          <p:cNvSpPr txBox="1"/>
          <p:nvPr/>
        </p:nvSpPr>
        <p:spPr>
          <a:xfrm>
            <a:off x="768096" y="7315200"/>
            <a:ext cx="6492240" cy="219456"/>
          </a:xfrm>
          <a:prstGeom prst="rect">
            <a:avLst/>
          </a:prstGeom>
          <a:noFill/>
        </p:spPr>
        <p:txBody>
          <a:bodyPr wrap="square" lIns="9144" rIns="9144" tIns="0" bIns="0" anchor="t">
            <a:spAutoFit/>
          </a:bodyPr>
          <a:lstStyle/>
          <a:p>
            <a:pPr>
              <a:spcAft>
                <a:spcPts val="200"/>
              </a:spcAft>
            </a:pPr>
            <a:r>
              <a:rPr sz="1000" b="0">
                <a:solidFill>
                  <a:srgbClr val="D9EDB7"/>
                </a:solidFill>
                <a:latin typeface="Aptos"/>
              </a:rPr>
              <a:t>Try the fictional demo: savia-rc-2026.fly.dev  /  SAVIA-2026</a:t>
            </a:r>
          </a:p>
        </p:txBody>
      </p:sp>
      <p:sp>
        <p:nvSpPr>
          <p:cNvPr id="23" name="TextBox 22"/>
          <p:cNvSpPr txBox="1"/>
          <p:nvPr/>
        </p:nvSpPr>
        <p:spPr>
          <a:xfrm>
            <a:off x="7452360" y="7315200"/>
            <a:ext cx="6400800" cy="210312"/>
          </a:xfrm>
          <a:prstGeom prst="rect">
            <a:avLst/>
          </a:prstGeom>
          <a:noFill/>
        </p:spPr>
        <p:txBody>
          <a:bodyPr wrap="square" lIns="9144" rIns="9144" tIns="0" bIns="0" anchor="t">
            <a:spAutoFit/>
          </a:bodyPr>
          <a:lstStyle/>
          <a:p>
            <a:pPr>
              <a:spcAft>
                <a:spcPts val="200"/>
              </a:spcAft>
            </a:pPr>
            <a:r>
              <a:rPr sz="900" b="0">
                <a:solidFill>
                  <a:srgbClr val="C6D3CA"/>
                </a:solidFill>
                <a:latin typeface="Aptos"/>
              </a:rPr>
              <a:t>Gloria Yanta Salc · Carlos Diaz · Mario Andreschak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Savia — a decision engine with saved follow-through</dc:title>
  <dc:subject>Final six-slide bank-pilot product pitch / October 5, 2026</dc:subject>
  <dc:creator>Savia team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