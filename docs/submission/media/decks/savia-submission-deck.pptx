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1D9091-5175-46E4-92E4-CA775D2BAC0D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53F8F8-3F18-40FC-91C5-6CA142255D06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5074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Open with the product promise: ask once, let Savia gather useful perspectives, then return to progress without starting over. The home scene is an illustrative fictional TV-spot image, not a service screenshot. The captured evidence that follows uses fictional customer data and informational suggestions.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53F8F8-3F18-40FC-91C5-6CA142255D0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2850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The screenshot is the actual grounded Spanish answer in docs/submission/measurements/team-story-final/04-grounded-answer.png. The selected model answer was useful and took 9.338 seconds. The browser showed the existing fictional claim and its current review status; it did not create another claim. The informational team interaction completed in 4.278 seconds. Keep these measurements distinct: the separate standalone stdio MCP smoke in docs/submission/assistant/mcp-smoke.json completed two workers in 2.783 seconds; it is not the timing for this browser answer or team interaction. No bank decision or real action is claimed.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53F8F8-3F18-40FC-91C5-6CA142255D06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56332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The screenshot is the actual saved-result capture docs/submission/measurements/team-story-final/11-saved-useful-result.png. The customer explicitly closed the informational inquiry as helpful. Both real Savia-team suggestions remained visible after starting a new chat and reloading. The selected bank claim shown in context was already present; the team did not create a new claim or resolve it. The actual UI completion for the team inquiry was 4.278 seconds. The selected grounded answer was separately measured at 9.338 seconds; the standalone MCP smoke took 2.783 seconds. These are different runs and timings.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53F8F8-3F18-40FC-91C5-6CA142255D06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335453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This is the accepted integrated Savia UI capture from source 9d77a7599128b668b0e34f9c2937eb40b6bd3824, image sha256 484fe8edc07ac37dd78f61deb7a08254352b8ce597fa8265f917706e93d199a5, and served JS hash f06ecbad1ea5089a227a04ea7468aeb8f4b1ef023ac04a98e6b71379771cc8bd. The foreground provider transcript was “Despacio, sí, bien tranquilo, aquí estoy.” (6.6 s; exact 158,400 samples) and received one complete HTTP 200 playback acknowledgement at 21.473 s. While it played, the existing third informational inquiry was marked helpful at 14.949 s; its canonical closure became available at 15.836 s and was queued until the next native request at 21.503 s. The closure transcript was “Cerró la consulta, ya te ayudó la explicación.” (3.95 s; exact 94,800 samples) with one complete HTTP 200 acknowledgement at 26.659 s. The screenshot shows the customer-marked helpful closure and saved team suggestions. This closed an informational case only; no bank decision or refund occurred. The existing case, two completed worker suggestions and prior bank reply were restored; this continuation created zero bank chats, inquiries or workers. It does not claim a new team task or recommendations spoken aloud. Input used typed Spanish and a file-backed fictional WAV through the browser voice control; physical-microphone quality is not qualified, and the raw final ASR contained errors. Optional recorder cleanup diagnostics later exceeded the 180-second cap while awaiting unused response bodies; both exact playback receipts and required product checks had already passed. The diagnostic exit status is not a product failure. Evidence: docs/submission/measurements/intended-savia-native/receipt.json.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53F8F8-3F18-40FC-91C5-6CA142255D06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487768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Explain the current structure without promising production integration. The canonical browser path uses the Savia app host loop to coordinate two direct-provider informational tasks, hold the customer's inquiry, and return progress; the actual team smoke used direct OpenRouter Gemini and both tasks completed in 2,783 ms. The app-owned inquiry policy supports a first reminder after 30 minutes and a tracking window up to seven days; the seven-day operation has not been observed live. Separately, one real-clock simulated receipt check repeated after 30 minutes and deduplicated the unchanged result. The optional generic FLUJO/MCP schedule was qualified with one connected tool call against empty informational state: it completed without queueing a case or making a paid model call, and its 30-minute schedule is installed but disabled. That optional tick is not the browser's Savia team path, and the empty-state run does not demonstrate a scheduled case event. Informational reads may fail; the voice surface reported the read failure. No bank action, real dispute decision or refund is established here. Credits: Gloria Yanta Salc for prompt flow/R0–R18 design, Carlos Diaz for data pipeline and lookup, Savia team for integration. Evidence: docs/submission/runtime-mcp.json and docs/submission/measurements/actual-half-hour-followup.json.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53F8F8-3F18-40FC-91C5-6CA142255D06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3849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3C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D9ED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12064" y="274320"/>
            <a:ext cx="11155680" cy="23774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D9EDB7"/>
                </a:solidFill>
                <a:latin typeface="Aptos"/>
              </a:rPr>
              <a:t>FACTORED AI &amp; DATA HACKATHON 2026   /   SAVIA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519672"/>
            <a:ext cx="1170432" cy="16459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C8D1C4"/>
                </a:solidFill>
                <a:latin typeface="Aptos"/>
              </a:rPr>
              <a:t>SAVIA   •   01/05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987552"/>
            <a:ext cx="5257800" cy="115214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800" b="1">
                <a:solidFill>
                  <a:srgbClr val="F8F9F6"/>
                </a:solidFill>
                <a:latin typeface="Aptos"/>
              </a:rPr>
              <a:t>Ask once.</a:t>
            </a:r>
          </a:p>
          <a:p>
            <a:pPr algn="l">
              <a:spcAft>
                <a:spcPts val="0"/>
              </a:spcAft>
            </a:pPr>
            <a:r>
              <a:rPr sz="3800" b="1">
                <a:solidFill>
                  <a:srgbClr val="F8F9F6"/>
                </a:solidFill>
                <a:latin typeface="Aptos"/>
              </a:rPr>
              <a:t>Carry 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267712"/>
            <a:ext cx="5257800" cy="9144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C8D1C4"/>
                </a:solidFill>
                <a:latin typeface="Aptos"/>
              </a:rPr>
              <a:t>You shouldn’t have to repeat your story or chase updates. Savia keeps your place.</a:t>
            </a:r>
          </a:p>
        </p:txBody>
      </p:sp>
      <p:sp>
        <p:nvSpPr>
          <p:cNvPr id="7" name="Rectangle 6"/>
          <p:cNvSpPr/>
          <p:nvPr/>
        </p:nvSpPr>
        <p:spPr>
          <a:xfrm>
            <a:off x="6236208" y="1042415"/>
            <a:ext cx="5394960" cy="3072384"/>
          </a:xfrm>
          <a:prstGeom prst="rect">
            <a:avLst/>
          </a:prstGeom>
          <a:solidFill>
            <a:srgbClr val="F8F9F6"/>
          </a:solidFill>
          <a:ln>
            <a:solidFill>
              <a:srgbClr val="315F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savia-hero-custom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2784" y="1078992"/>
            <a:ext cx="5321808" cy="299923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76656" y="3456432"/>
            <a:ext cx="1280160" cy="20116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D9EDB7"/>
                </a:solidFill>
                <a:latin typeface="Aptos"/>
              </a:rPr>
              <a:t>01  ASK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38528" y="3447288"/>
            <a:ext cx="4069080" cy="32004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F8F9F6"/>
                </a:solidFill>
                <a:latin typeface="Aptos"/>
              </a:rPr>
              <a:t>Use your own words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" y="4059935"/>
            <a:ext cx="1280160" cy="20116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D9EDB7"/>
                </a:solidFill>
                <a:latin typeface="Aptos"/>
              </a:rPr>
              <a:t>02  TEAM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38528" y="4050791"/>
            <a:ext cx="4069080" cy="32004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F8F9F6"/>
                </a:solidFill>
                <a:latin typeface="Aptos"/>
              </a:rPr>
              <a:t>Find helpful angles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" y="4663440"/>
            <a:ext cx="1280160" cy="20116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D9EDB7"/>
                </a:solidFill>
                <a:latin typeface="Aptos"/>
              </a:rPr>
              <a:t>03  RETURN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38528" y="4654296"/>
            <a:ext cx="4069080" cy="32004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F8F9F6"/>
                </a:solidFill>
                <a:latin typeface="Aptos"/>
              </a:rPr>
              <a:t>Come back to progress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0352" y="5559552"/>
            <a:ext cx="11128248" cy="384048"/>
          </a:xfrm>
          <a:prstGeom prst="roundRect">
            <a:avLst/>
          </a:prstGeom>
          <a:solidFill>
            <a:srgbClr val="315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13232" y="5591556"/>
            <a:ext cx="10771632" cy="29260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8F9F6"/>
                </a:solidFill>
                <a:latin typeface="Aptos"/>
              </a:rPr>
              <a:t>MEET SAVIA  ·  YOUR FRIENDLY VOICE ASSISTANT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3C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D9ED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12064" y="274320"/>
            <a:ext cx="11155680" cy="23774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D9EDB7"/>
                </a:solidFill>
                <a:latin typeface="Aptos"/>
              </a:rPr>
              <a:t>02   /   A TEAM IN YOUR CORNER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" y="704088"/>
            <a:ext cx="11155680" cy="6583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F8F9F6"/>
                </a:solidFill>
                <a:latin typeface="Aptos"/>
              </a:rPr>
              <a:t>A grounded answer, in the moment.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463040"/>
            <a:ext cx="11109960" cy="3840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C8D1C4"/>
                </a:solidFill>
                <a:latin typeface="Aptos"/>
              </a:rPr>
              <a:t>Savia explains the selected charge and the existing record, in the customer's words.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519672"/>
            <a:ext cx="1170432" cy="16459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C8D1C4"/>
                </a:solidFill>
                <a:latin typeface="Aptos"/>
              </a:rPr>
              <a:t>SAVIA   •   02/05</a:t>
            </a:r>
          </a:p>
        </p:txBody>
      </p:sp>
      <p:sp>
        <p:nvSpPr>
          <p:cNvPr id="7" name="Rectangle 6"/>
          <p:cNvSpPr/>
          <p:nvPr/>
        </p:nvSpPr>
        <p:spPr>
          <a:xfrm>
            <a:off x="530352" y="2276856"/>
            <a:ext cx="3273552" cy="3630168"/>
          </a:xfrm>
          <a:prstGeom prst="rect">
            <a:avLst/>
          </a:prstGeom>
          <a:solidFill>
            <a:srgbClr val="F8F9F6"/>
          </a:solidFill>
          <a:ln>
            <a:solidFill>
              <a:srgbClr val="315F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savia-grounded-answer-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" y="2331720"/>
            <a:ext cx="3127248" cy="352044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4096512" y="2331720"/>
            <a:ext cx="7552944" cy="941832"/>
          </a:xfrm>
          <a:prstGeom prst="roundRect">
            <a:avLst/>
          </a:prstGeom>
          <a:solidFill>
            <a:srgbClr val="244E40"/>
          </a:solidFill>
          <a:ln>
            <a:solidFill>
              <a:srgbClr val="315F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261104" y="2386584"/>
            <a:ext cx="1481328" cy="20116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D9EDB7"/>
                </a:solidFill>
                <a:latin typeface="Aptos"/>
              </a:rPr>
              <a:t>MODEL ANSWER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42432" y="2377439"/>
            <a:ext cx="1874519" cy="2560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8F9F6"/>
                </a:solidFill>
                <a:latin typeface="Aptos"/>
              </a:rPr>
              <a:t>Useful in 9.338 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44383" y="2377439"/>
            <a:ext cx="3858768" cy="85039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C8D1C4"/>
                </a:solidFill>
                <a:latin typeface="Aptos"/>
              </a:rPr>
              <a:t>Grounded to the selected MXN 4,280.75 charge and existing claim.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096512" y="3438144"/>
            <a:ext cx="7552944" cy="941832"/>
          </a:xfrm>
          <a:prstGeom prst="roundRect">
            <a:avLst/>
          </a:prstGeom>
          <a:solidFill>
            <a:srgbClr val="244E40"/>
          </a:solidFill>
          <a:ln>
            <a:solidFill>
              <a:srgbClr val="315F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261104" y="3493008"/>
            <a:ext cx="1481328" cy="20116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FFC879"/>
                </a:solidFill>
                <a:latin typeface="Aptos"/>
              </a:rPr>
              <a:t>STATUS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42432" y="3483863"/>
            <a:ext cx="1874519" cy="2560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8F9F6"/>
                </a:solidFill>
                <a:latin typeface="Aptos"/>
              </a:rPr>
              <a:t>Already in review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44383" y="3483863"/>
            <a:ext cx="3858768" cy="85039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C8D1C4"/>
                </a:solidFill>
                <a:latin typeface="Aptos"/>
              </a:rPr>
              <a:t>Savia explains the existing record; it creates no new claim.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096512" y="4544568"/>
            <a:ext cx="7552944" cy="941832"/>
          </a:xfrm>
          <a:prstGeom prst="roundRect">
            <a:avLst/>
          </a:prstGeom>
          <a:solidFill>
            <a:srgbClr val="244E40"/>
          </a:solidFill>
          <a:ln>
            <a:solidFill>
              <a:srgbClr val="315F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261104" y="4599431"/>
            <a:ext cx="1481328" cy="20116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FF907A"/>
                </a:solidFill>
                <a:latin typeface="Aptos"/>
              </a:rPr>
              <a:t>SEPARATE MCP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42432" y="4590288"/>
            <a:ext cx="1874519" cy="2560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8F9F6"/>
                </a:solidFill>
                <a:latin typeface="Aptos"/>
              </a:rPr>
              <a:t>2 workers · 2.783 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44383" y="4590288"/>
            <a:ext cx="3858768" cy="85039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C8D1C4"/>
                </a:solidFill>
                <a:latin typeface="Aptos"/>
              </a:rPr>
              <a:t>Standalone stdio run; separate from this browser answer.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33087" y="5586984"/>
            <a:ext cx="7406640" cy="29260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C8D1C4"/>
                </a:solidFill>
                <a:latin typeface="Aptos"/>
              </a:rPr>
              <a:t>Actual Spanish browser answer · selected fictional charge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30352" y="6016752"/>
            <a:ext cx="11128248" cy="384048"/>
          </a:xfrm>
          <a:prstGeom prst="roundRect">
            <a:avLst/>
          </a:prstGeom>
          <a:solidFill>
            <a:srgbClr val="315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13232" y="6048756"/>
            <a:ext cx="10771632" cy="29260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F8F9F6"/>
                </a:solidFill>
                <a:latin typeface="Aptos"/>
              </a:rPr>
              <a:t>Existing simulated claim · no bank decision or new request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3C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D9ED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12064" y="274320"/>
            <a:ext cx="11155680" cy="23774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D9EDB7"/>
                </a:solidFill>
                <a:latin typeface="Aptos"/>
              </a:rPr>
              <a:t>03   /   COME BACK WHEN IT SUITS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" y="704088"/>
            <a:ext cx="11155680" cy="6583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F8F9F6"/>
                </a:solidFill>
                <a:latin typeface="Aptos"/>
              </a:rPr>
              <a:t>Your team’s suggestions stay with you.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463040"/>
            <a:ext cx="11109960" cy="3840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C8D1C4"/>
                </a:solidFill>
                <a:latin typeface="Aptos"/>
              </a:rPr>
              <a:t>Mark an answer helpful. Start a new chat. Return to the same saved perspectives.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519672"/>
            <a:ext cx="1170432" cy="16459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C8D1C4"/>
                </a:solidFill>
                <a:latin typeface="Aptos"/>
              </a:rPr>
              <a:t>SAVIA   •   03/05</a:t>
            </a:r>
          </a:p>
        </p:txBody>
      </p:sp>
      <p:sp>
        <p:nvSpPr>
          <p:cNvPr id="7" name="Rectangle 6"/>
          <p:cNvSpPr/>
          <p:nvPr/>
        </p:nvSpPr>
        <p:spPr>
          <a:xfrm>
            <a:off x="530352" y="2276856"/>
            <a:ext cx="3273552" cy="3630168"/>
          </a:xfrm>
          <a:prstGeom prst="rect">
            <a:avLst/>
          </a:prstGeom>
          <a:solidFill>
            <a:srgbClr val="F8F9F6"/>
          </a:solidFill>
          <a:ln>
            <a:solidFill>
              <a:srgbClr val="315F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savia-team-saved-result-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" y="2331720"/>
            <a:ext cx="3127248" cy="352044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4096512" y="2331720"/>
            <a:ext cx="7552944" cy="941832"/>
          </a:xfrm>
          <a:prstGeom prst="roundRect">
            <a:avLst/>
          </a:prstGeom>
          <a:solidFill>
            <a:srgbClr val="244E40"/>
          </a:solidFill>
          <a:ln>
            <a:solidFill>
              <a:srgbClr val="315F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261104" y="2386584"/>
            <a:ext cx="1481328" cy="20116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D9EDB7"/>
                </a:solidFill>
                <a:latin typeface="Aptos"/>
              </a:rPr>
              <a:t>CUSTOMER CHOICE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42432" y="2377439"/>
            <a:ext cx="1874519" cy="2560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8F9F6"/>
                </a:solidFill>
                <a:latin typeface="Aptos"/>
              </a:rPr>
              <a:t>Closed as helpful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44383" y="2377439"/>
            <a:ext cx="3858768" cy="85039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C8D1C4"/>
                </a:solidFill>
                <a:latin typeface="Aptos"/>
              </a:rPr>
              <a:t>The customer explicitly confirmed the informational answer helped.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096512" y="3438144"/>
            <a:ext cx="7552944" cy="941832"/>
          </a:xfrm>
          <a:prstGeom prst="roundRect">
            <a:avLst/>
          </a:prstGeom>
          <a:solidFill>
            <a:srgbClr val="244E40"/>
          </a:solidFill>
          <a:ln>
            <a:solidFill>
              <a:srgbClr val="315F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261104" y="3493008"/>
            <a:ext cx="1481328" cy="20116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FFC879"/>
                </a:solidFill>
                <a:latin typeface="Aptos"/>
              </a:rPr>
              <a:t>SAVED TOGETHER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42432" y="3483863"/>
            <a:ext cx="1874519" cy="2560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8F9F6"/>
                </a:solidFill>
                <a:latin typeface="Aptos"/>
              </a:rPr>
              <a:t>Two team suggestions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44383" y="3483863"/>
            <a:ext cx="3858768" cy="85039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C8D1C4"/>
                </a:solidFill>
                <a:latin typeface="Aptos"/>
              </a:rPr>
              <a:t>Both remained available after a new chat and reload.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096512" y="4544568"/>
            <a:ext cx="7552944" cy="941832"/>
          </a:xfrm>
          <a:prstGeom prst="roundRect">
            <a:avLst/>
          </a:prstGeom>
          <a:solidFill>
            <a:srgbClr val="244E40"/>
          </a:solidFill>
          <a:ln>
            <a:solidFill>
              <a:srgbClr val="315F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261104" y="4599431"/>
            <a:ext cx="1481328" cy="20116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FF907A"/>
                </a:solidFill>
                <a:latin typeface="Aptos"/>
              </a:rPr>
              <a:t>BANK RECORD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42432" y="4590288"/>
            <a:ext cx="1874519" cy="2560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8F9F6"/>
                </a:solidFill>
                <a:latin typeface="Aptos"/>
              </a:rPr>
              <a:t>Existing claim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44383" y="4590288"/>
            <a:ext cx="3858768" cy="85039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C8D1C4"/>
                </a:solidFill>
                <a:latin typeface="Aptos"/>
              </a:rPr>
              <a:t>No new claim was created by the assistant team.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33087" y="5586984"/>
            <a:ext cx="7406640" cy="29260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C8D1C4"/>
                </a:solidFill>
                <a:latin typeface="Aptos"/>
              </a:rPr>
              <a:t>Actual Spanish browser capture · closure and saved result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30352" y="6016752"/>
            <a:ext cx="11128248" cy="384048"/>
          </a:xfrm>
          <a:prstGeom prst="roundRect">
            <a:avLst/>
          </a:prstGeom>
          <a:solidFill>
            <a:srgbClr val="315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13232" y="6048756"/>
            <a:ext cx="10771632" cy="29260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F8F9F6"/>
                </a:solidFill>
                <a:latin typeface="Aptos"/>
              </a:rPr>
              <a:t>Informational help saved · existing claim only · no bank decision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3C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D9ED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12064" y="274320"/>
            <a:ext cx="11155680" cy="23774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D9EDB7"/>
                </a:solidFill>
                <a:latin typeface="Aptos"/>
              </a:rPr>
              <a:t>04   /   VOICE THAT STAYS WITH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" y="704088"/>
            <a:ext cx="11155680" cy="6583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F8F9F6"/>
                </a:solidFill>
                <a:latin typeface="Aptos"/>
              </a:rPr>
              <a:t>A voice that keeps your place.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463040"/>
            <a:ext cx="11109960" cy="3840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C8D1C4"/>
                </a:solidFill>
                <a:latin typeface="Aptos"/>
              </a:rPr>
              <a:t>A calm moment, then a spoken confirmation when your explanation helps.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519672"/>
            <a:ext cx="1170432" cy="16459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C8D1C4"/>
                </a:solidFill>
                <a:latin typeface="Aptos"/>
              </a:rPr>
              <a:t>SAVIA   •   04/05</a:t>
            </a:r>
          </a:p>
        </p:txBody>
      </p:sp>
      <p:sp>
        <p:nvSpPr>
          <p:cNvPr id="7" name="Rectangle 6"/>
          <p:cNvSpPr/>
          <p:nvPr/>
        </p:nvSpPr>
        <p:spPr>
          <a:xfrm>
            <a:off x="530352" y="2276856"/>
            <a:ext cx="3273552" cy="3630168"/>
          </a:xfrm>
          <a:prstGeom prst="rect">
            <a:avLst/>
          </a:prstGeom>
          <a:solidFill>
            <a:srgbClr val="F8F9F6"/>
          </a:solidFill>
          <a:ln>
            <a:solidFill>
              <a:srgbClr val="315F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savia-integrated-closure-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" y="2331720"/>
            <a:ext cx="3127248" cy="352044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4096512" y="2331720"/>
            <a:ext cx="7552944" cy="1344168"/>
          </a:xfrm>
          <a:prstGeom prst="roundRect">
            <a:avLst/>
          </a:prstGeom>
          <a:solidFill>
            <a:srgbClr val="244E40"/>
          </a:solidFill>
          <a:ln w="12700">
            <a:solidFill>
              <a:srgbClr val="315F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279392" y="2459736"/>
            <a:ext cx="7187183" cy="2560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D9EDB7"/>
                </a:solidFill>
                <a:latin typeface="Aptos"/>
              </a:rPr>
              <a:t>FOREGROUND · 6.6 S · FULL ACK 200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79392" y="2779776"/>
            <a:ext cx="7187183" cy="4754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F8F9F6"/>
                </a:solidFill>
                <a:latin typeface="Aptos"/>
              </a:rPr>
              <a:t>Calm reassurance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79392" y="3300984"/>
            <a:ext cx="7187183" cy="26517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C8D1C4"/>
                </a:solidFill>
                <a:latin typeface="Aptos"/>
              </a:rPr>
              <a:t>“Despacio, sí, bien tranquilo, aquí estoy.”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096512" y="3858768"/>
            <a:ext cx="7552944" cy="1344168"/>
          </a:xfrm>
          <a:prstGeom prst="roundRect">
            <a:avLst/>
          </a:prstGeom>
          <a:solidFill>
            <a:srgbClr val="244E40"/>
          </a:solidFill>
          <a:ln w="12700">
            <a:solidFill>
              <a:srgbClr val="315F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279392" y="3986783"/>
            <a:ext cx="7187183" cy="2560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FC879"/>
                </a:solidFill>
                <a:latin typeface="Aptos"/>
              </a:rPr>
              <a:t>HELPFUL CLOSURE · 3.95 S · FULL ACK 200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79392" y="4306824"/>
            <a:ext cx="7187183" cy="4754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F8F9F6"/>
                </a:solidFill>
                <a:latin typeface="Aptos"/>
              </a:rPr>
              <a:t>Customer-confirmed closure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79392" y="4828031"/>
            <a:ext cx="7187183" cy="26517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C8D1C4"/>
                </a:solidFill>
                <a:latin typeface="Aptos"/>
              </a:rPr>
              <a:t>“Cerró la consulta, ya te ayudó la explicación.”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30352" y="6053328"/>
            <a:ext cx="11128248" cy="384048"/>
          </a:xfrm>
          <a:prstGeom prst="roundRect">
            <a:avLst/>
          </a:prstGeom>
          <a:solidFill>
            <a:srgbClr val="315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13232" y="6085332"/>
            <a:ext cx="10771632" cy="29260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8F9F6"/>
                </a:solidFill>
                <a:latin typeface="Aptos"/>
              </a:rPr>
              <a:t>Actual integrated Savia voice · customer-marked-helpful inquiry · saved context restored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3C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D9ED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12064" y="274320"/>
            <a:ext cx="11155680" cy="23774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D9EDB7"/>
                </a:solidFill>
                <a:latin typeface="Aptos"/>
              </a:rPr>
              <a:t>05   /   HOW SAVIA HOLDS THE THREAD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" y="704088"/>
            <a:ext cx="11155680" cy="6583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F8F9F6"/>
                </a:solidFill>
                <a:latin typeface="Aptos"/>
              </a:rPr>
              <a:t>One guide, with clear boundaries.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463040"/>
            <a:ext cx="11109960" cy="3840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C8D1C4"/>
                </a:solidFill>
                <a:latin typeface="Aptos"/>
              </a:rPr>
              <a:t>Savia keeps the conversation, brings perspectives together, and returns useful progress over time.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519672"/>
            <a:ext cx="1170432" cy="16459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C8D1C4"/>
                </a:solidFill>
                <a:latin typeface="Aptos"/>
              </a:rPr>
              <a:t>SAVIA   •   05/05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2331720"/>
            <a:ext cx="2084831" cy="1645920"/>
          </a:xfrm>
          <a:prstGeom prst="roundRect">
            <a:avLst/>
          </a:prstGeom>
          <a:solidFill>
            <a:srgbClr val="244E40"/>
          </a:solidFill>
          <a:ln>
            <a:solidFill>
              <a:srgbClr val="315F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76656" y="2468880"/>
            <a:ext cx="1645920" cy="2286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D9EDB7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" y="2788920"/>
            <a:ext cx="1828800" cy="47548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8F9F6"/>
                </a:solidFill>
                <a:latin typeface="Aptos"/>
              </a:rPr>
              <a:t>You ask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" y="3310128"/>
            <a:ext cx="1828800" cy="4572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C8D1C4"/>
                </a:solidFill>
                <a:latin typeface="Aptos"/>
              </a:rPr>
              <a:t>Voice or text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06040" y="2907792"/>
            <a:ext cx="210312" cy="36576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D9EDB7"/>
                </a:solidFill>
                <a:latin typeface="Aptos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98064" y="2331720"/>
            <a:ext cx="2084831" cy="1645920"/>
          </a:xfrm>
          <a:prstGeom prst="roundRect">
            <a:avLst/>
          </a:prstGeom>
          <a:solidFill>
            <a:srgbClr val="244E40"/>
          </a:solidFill>
          <a:ln>
            <a:solidFill>
              <a:srgbClr val="315F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944368" y="2468880"/>
            <a:ext cx="1645920" cy="2286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D9EDB7"/>
                </a:solidFill>
                <a:latin typeface="Apto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44368" y="2788920"/>
            <a:ext cx="1828800" cy="47548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8F9F6"/>
                </a:solidFill>
                <a:latin typeface="Aptos"/>
              </a:rPr>
              <a:t>Savia host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44368" y="3310128"/>
            <a:ext cx="1828800" cy="4572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C8D1C4"/>
                </a:solidFill>
                <a:latin typeface="Aptos"/>
              </a:rPr>
              <a:t>Holds context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73752" y="2907792"/>
            <a:ext cx="210312" cy="36576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D9EDB7"/>
                </a:solidFill>
                <a:latin typeface="Aptos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65776" y="2331720"/>
            <a:ext cx="2084831" cy="1645920"/>
          </a:xfrm>
          <a:prstGeom prst="roundRect">
            <a:avLst/>
          </a:prstGeom>
          <a:solidFill>
            <a:srgbClr val="244E40"/>
          </a:solidFill>
          <a:ln>
            <a:solidFill>
              <a:srgbClr val="315F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212080" y="2468880"/>
            <a:ext cx="1645920" cy="2286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D9EDB7"/>
                </a:solidFill>
                <a:latin typeface="Aptos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80" y="2788920"/>
            <a:ext cx="1828800" cy="47548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8F9F6"/>
                </a:solidFill>
                <a:latin typeface="Aptos"/>
              </a:rPr>
              <a:t>Savia team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12080" y="3310128"/>
            <a:ext cx="1828800" cy="4572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C8D1C4"/>
                </a:solidFill>
                <a:latin typeface="Aptos"/>
              </a:rPr>
              <a:t>Two perspectives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41464" y="2907792"/>
            <a:ext cx="210312" cy="36576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D9EDB7"/>
                </a:solidFill>
                <a:latin typeface="Aptos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33488" y="2331720"/>
            <a:ext cx="2084831" cy="1645920"/>
          </a:xfrm>
          <a:prstGeom prst="roundRect">
            <a:avLst/>
          </a:prstGeom>
          <a:solidFill>
            <a:srgbClr val="244E40"/>
          </a:solidFill>
          <a:ln>
            <a:solidFill>
              <a:srgbClr val="315F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479792" y="2468880"/>
            <a:ext cx="1645920" cy="2286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D9EDB7"/>
                </a:solidFill>
                <a:latin typeface="Aptos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79792" y="2788920"/>
            <a:ext cx="1828800" cy="47548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8F9F6"/>
                </a:solidFill>
                <a:latin typeface="Aptos"/>
              </a:rPr>
              <a:t>Informational read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79792" y="3310128"/>
            <a:ext cx="1828800" cy="4572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C8D1C4"/>
                </a:solidFill>
                <a:latin typeface="Aptos"/>
              </a:rPr>
              <a:t>Can fail safely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09176" y="2907792"/>
            <a:ext cx="210312" cy="36576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D9EDB7"/>
                </a:solidFill>
                <a:latin typeface="Aptos"/>
              </a:rP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601200" y="2331720"/>
            <a:ext cx="2084831" cy="1645920"/>
          </a:xfrm>
          <a:prstGeom prst="roundRect">
            <a:avLst/>
          </a:prstGeom>
          <a:solidFill>
            <a:srgbClr val="244E40"/>
          </a:solidFill>
          <a:ln>
            <a:solidFill>
              <a:srgbClr val="315F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747504" y="2468880"/>
            <a:ext cx="1645920" cy="2286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D9EDB7"/>
                </a:solidFill>
                <a:latin typeface="Aptos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47504" y="2788920"/>
            <a:ext cx="1828800" cy="47548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8F9F6"/>
                </a:solidFill>
                <a:latin typeface="Aptos"/>
              </a:rPr>
              <a:t>Check back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47504" y="3310128"/>
            <a:ext cx="1828800" cy="4572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C8D1C4"/>
                </a:solidFill>
                <a:latin typeface="Aptos"/>
              </a:rPr>
              <a:t>30 min · up to 7 days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30352" y="4407408"/>
            <a:ext cx="11128248" cy="384048"/>
          </a:xfrm>
          <a:prstGeom prst="roundRect">
            <a:avLst/>
          </a:prstGeom>
          <a:solidFill>
            <a:srgbClr val="315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13232" y="4439412"/>
            <a:ext cx="10771632" cy="29260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8F9F6"/>
                </a:solidFill>
                <a:latin typeface="Aptos"/>
              </a:rPr>
              <a:t>Fictional information service · no bank actions or real resolution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6928" y="4965192"/>
            <a:ext cx="10972800" cy="32918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8F9F6"/>
                </a:solidFill>
                <a:latin typeface="Aptos"/>
              </a:rPr>
              <a:t>Prompt flow &amp; decision design: Gloria Yanta Salc     •     Data pipeline &amp; lookup: Carlos Diaz     •     Integration: Savia team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1218</Words>
  <Application>Microsoft Office PowerPoint</Application>
  <PresentationFormat>Breitbild</PresentationFormat>
  <Paragraphs>88</Paragraphs>
  <Slides>5</Slides>
  <Notes>5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5</vt:i4>
      </vt:variant>
    </vt:vector>
  </HeadingPairs>
  <TitlesOfParts>
    <vt:vector size="9" baseType="lpstr">
      <vt:lpstr>Aptos</vt:lpstr>
      <vt:lpstr>Arial</vt:lpstr>
      <vt:lpstr>Calibri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Savia — Hackathon Submission</dc:title>
  <dc:subject>A focused, multilingual customer-service prototype</dc:subject>
  <dc:creator>Savia team</dc:creator>
  <cp:keywords/>
  <dc:description>generated using python-pptx</dc:description>
  <cp:lastModifiedBy>Mario Andreschak</cp:lastModifiedBy>
  <cp:revision>2</cp:revision>
  <dcterms:created xsi:type="dcterms:W3CDTF">2013-01-27T09:14:16Z</dcterms:created>
  <dcterms:modified xsi:type="dcterms:W3CDTF">2026-10-05T04:53:03Z</dcterms:modified>
  <cp:category/>
</cp:coreProperties>
</file>