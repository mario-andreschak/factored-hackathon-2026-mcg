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1BCEB-139B-4AFA-AE61-223AB7C3155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B49FEE-3AB9-4233-AECF-22BCE84EB73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942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Meet Savia: ask once, carry on. The home scene is an illustrative fictional customer image for the TV spot, not a service screenshot. Savia's product promise is to keep the question moving, bring useful perspectives back, and remember the thread.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49FEE-3AB9-4233-AECF-22BCE84EB7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24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Actual grounded answer captured in docs/submission/measurements/team-story-final/04-grounded-answer.png. The selected model answer was useful and took 9.338 seconds. It described the existing fictional claim and current review status; it did not create another claim. The informational team interaction completed in 4.278 seconds. Keep these separate from the standalone two-worker stdio MCP smoke, which completed in 2.783 seconds. No real bank decision or action is claimed.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49FEE-3AB9-4233-AECF-22BCE84EB7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87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Actual saved-result capture in docs/submission/measurements/team-story-final/11-saved-useful-result.png. The customer explicitly confirmed the answer was helpful and closed the informational inquiry. Both Savia-team suggestions stayed visible after a new chat and reload. The bank claim was an existing simulated record and was not newly created. The UI team interaction completed in 4.278 seconds; the selected grounded model answer took 9.338 seconds. The 2.783-second MCP smoke was a separate standalone run.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49FEE-3AB9-4233-AECF-22BCE84EB7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50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Accepted actual integrated Savia UI capture, source 9d77a7599128b668b0e34f9c2937eb40b6bd3824, image sha256 484fe8edc07ac37dd78f61deb7a08254352b8ce597fa8265f917706e93d199a5, served JS hash f06ecbad1ea5089a227a04ea7468aeb8f4b1ef023ac04a98e6b71379771cc8bd. Foreground Spanish transcript: “Despacio, sí, bien tranquilo, aquí estoy.” (6.6 s; exact 158,400 samples), full browser playback acknowledged once with HTTP 200 at 21.473 s. The existing third informational inquiry was marked helpful at 14.949 s during the foreground playback. Its canonical closure was available at 15.836 s and queued until native request 21.503 s. Closure transcript: “Cerró la consulta, ya te ayudó la explicación.” (3.95 s; exact 94,800 samples), acknowledged once with HTTP 200 at 26.659 s. This is an informational helpful closure, not a bank decision or refund. Existing case context, two completed team suggestions and prior bank reply were restored; the continuation created zero bank chats, inquiries or workers. No additional worker concurrency or spoken recommendations are claimed. Input used typed Spanish plus a file-backed fictional WAV through the browser control; the physical microphone is unqualified and raw final ASR contained errors. Optional recorder cleanup exceeded its 180-second cap while awaiting unused response bodies after both playback receipts and required product checks passed; its diagnostic exit 1 is not a product failure. Evidence: docs/submission/measurements/intended-savia-native/receipt.json.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49FEE-3AB9-4233-AECF-22BCE84EB7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92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with the invitation for a bank partner to run a bounded customer-support pilot. The value hypothesis is fewer repeat contacts and clearer context for support; this deck claims no ROI or measured reduction. Agree measures for repeat contacts, time to first useful answer, customer helpful closure and handoff quality. Use a fictional, informational scope and no production actions. The canonical browser path uses the Savia app host loop for two direct-provider tasks; it is separate from optional generic FLUJO/MCP scheduling. The latter's qualification made one connected call against empty informational state, queued no case, made no paid model call, and left its installed 30-minute schedule disabled. The 2.783-second standalone MCP smoke is also separate from the browser answer and team UI times. Evidence: docs/submission/runtime-mcp.json.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49FEE-3AB9-4233-AECF-22BCE84EB7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50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9E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2064" y="274320"/>
            <a:ext cx="1115568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FACTORED AI &amp; DATA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19672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C8D1C4"/>
                </a:solidFill>
                <a:latin typeface="Aptos"/>
              </a:rPr>
              <a:t>SAVIA   •   01/05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60704"/>
            <a:ext cx="5257800" cy="1353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8F9F6"/>
                </a:solidFill>
                <a:latin typeface="Aptos"/>
              </a:rPr>
              <a:t>Ask once.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F8F9F6"/>
                </a:solidFill>
                <a:latin typeface="Aptos"/>
              </a:rPr>
              <a:t>Carry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0"/>
            <a:ext cx="516636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D9EDB7"/>
                </a:solidFill>
                <a:latin typeface="Aptos"/>
              </a:rPr>
              <a:t>You shouldn’t have to repeat your story or chase updates. Savia keeps your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8" y="1042415"/>
            <a:ext cx="5394960" cy="3072384"/>
          </a:xfrm>
          <a:prstGeom prst="rect">
            <a:avLst/>
          </a:prstGeom>
          <a:solidFill>
            <a:srgbClr val="F8F9F6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avia-hero-custo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078992"/>
            <a:ext cx="5321808" cy="2999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" y="3703320"/>
            <a:ext cx="5394960" cy="7863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C8D1C4"/>
                </a:solidFill>
                <a:latin typeface="Aptos"/>
              </a:rPr>
              <a:t>A small team finds useful perspectives. Savia keeps the thread while you get on with your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5559552"/>
            <a:ext cx="11128248" cy="384048"/>
          </a:xfrm>
          <a:prstGeom prst="roundRect">
            <a:avLst/>
          </a:prstGeom>
          <a:solidFill>
            <a:srgbClr val="315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5591556"/>
            <a:ext cx="1077163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9F6"/>
                </a:solidFill>
                <a:latin typeface="Aptos"/>
              </a:rPr>
              <a:t>SAVIA  ·  YOUR FRIENDLY VOICE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9E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2064" y="274320"/>
            <a:ext cx="1115568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THE TEAM BEHIND 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04088"/>
            <a:ext cx="1115568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8F9F6"/>
                </a:solidFill>
                <a:latin typeface="Aptos"/>
              </a:rPr>
              <a:t>A grounded answer, in the moment.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63040"/>
            <a:ext cx="11109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8D1C4"/>
                </a:solidFill>
                <a:latin typeface="Aptos"/>
              </a:rPr>
              <a:t>Savia explained the selected charge and existing claim in a useful Spanish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9672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C8D1C4"/>
                </a:solidFill>
                <a:latin typeface="Aptos"/>
              </a:rPr>
              <a:t>SAVIA   •   02/05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2276856"/>
            <a:ext cx="3273552" cy="3630168"/>
          </a:xfrm>
          <a:prstGeom prst="rect">
            <a:avLst/>
          </a:prstGeom>
          <a:solidFill>
            <a:srgbClr val="F8F9F6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avia-grounded-answer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331720"/>
            <a:ext cx="3127248" cy="3520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96512" y="2331720"/>
            <a:ext cx="7552944" cy="941832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1104" y="2386584"/>
            <a:ext cx="14813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D9EDB7"/>
                </a:solidFill>
                <a:latin typeface="Aptos"/>
              </a:rPr>
              <a:t>MODEL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2" y="2377439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F9F6"/>
                </a:solidFill>
                <a:latin typeface="Aptos"/>
              </a:rPr>
              <a:t>Useful in 9.338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383" y="2377439"/>
            <a:ext cx="3858768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8D1C4"/>
                </a:solidFill>
                <a:latin typeface="Aptos"/>
              </a:rPr>
              <a:t>Grounded to the selected MXN 4,280.75 charge and existing claim.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6512" y="3438144"/>
            <a:ext cx="7552944" cy="941832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61104" y="3493008"/>
            <a:ext cx="14813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C879"/>
                </a:solidFill>
                <a:latin typeface="Aptos"/>
              </a:rPr>
              <a:t>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3483863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F9F6"/>
                </a:solidFill>
                <a:latin typeface="Aptos"/>
              </a:rPr>
              <a:t>Already in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3" y="3483863"/>
            <a:ext cx="3858768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8D1C4"/>
                </a:solidFill>
                <a:latin typeface="Aptos"/>
              </a:rPr>
              <a:t>No duplicate claim was created.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6512" y="4544568"/>
            <a:ext cx="7552944" cy="941832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61104" y="4599431"/>
            <a:ext cx="14813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907A"/>
                </a:solidFill>
                <a:latin typeface="Aptos"/>
              </a:rPr>
              <a:t>SEPARATE 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4590288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F9F6"/>
                </a:solidFill>
                <a:latin typeface="Aptos"/>
              </a:rPr>
              <a:t>2 workers · 2.783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3" y="4590288"/>
            <a:ext cx="3858768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8D1C4"/>
                </a:solidFill>
                <a:latin typeface="Aptos"/>
              </a:rPr>
              <a:t>Standalone stdio run, separate from this browser answer.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5586984"/>
            <a:ext cx="740664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8D1C4"/>
                </a:solidFill>
                <a:latin typeface="Aptos"/>
              </a:rPr>
              <a:t>Actual Spanish browser answer · selected fictional charge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6016752"/>
            <a:ext cx="11128248" cy="384048"/>
          </a:xfrm>
          <a:prstGeom prst="roundRect">
            <a:avLst/>
          </a:prstGeom>
          <a:solidFill>
            <a:srgbClr val="315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6048756"/>
            <a:ext cx="1077163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8F9F6"/>
                </a:solidFill>
                <a:latin typeface="Aptos"/>
              </a:rPr>
              <a:t>Existing simulated claim · no bank decision or new request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9E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2064" y="274320"/>
            <a:ext cx="1115568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COME BACK WHEN IT SUITS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04088"/>
            <a:ext cx="1115568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8F9F6"/>
                </a:solidFill>
                <a:latin typeface="Aptos"/>
              </a:rPr>
              <a:t>Your team’s suggestions stay with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63040"/>
            <a:ext cx="11109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8D1C4"/>
                </a:solidFill>
                <a:latin typeface="Aptos"/>
              </a:rPr>
              <a:t>Confirm that it helped, begin a new chat, and return to the saved perspectives.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9672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C8D1C4"/>
                </a:solidFill>
                <a:latin typeface="Aptos"/>
              </a:rPr>
              <a:t>SAVIA   •   03/05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2276856"/>
            <a:ext cx="3273552" cy="3630168"/>
          </a:xfrm>
          <a:prstGeom prst="rect">
            <a:avLst/>
          </a:prstGeom>
          <a:solidFill>
            <a:srgbClr val="F8F9F6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avia-team-saved-result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331720"/>
            <a:ext cx="3127248" cy="3520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96512" y="2331720"/>
            <a:ext cx="7552944" cy="941832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1104" y="2386584"/>
            <a:ext cx="14813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D9EDB7"/>
                </a:solidFill>
                <a:latin typeface="Aptos"/>
              </a:rPr>
              <a:t>CUSTOMER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2" y="2377439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F9F6"/>
                </a:solidFill>
                <a:latin typeface="Aptos"/>
              </a:rPr>
              <a:t>Marked helpful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383" y="2377439"/>
            <a:ext cx="3858768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8D1C4"/>
                </a:solidFill>
                <a:latin typeface="Aptos"/>
              </a:rPr>
              <a:t>The customer explicitly closed the informational inquiry.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6512" y="3438144"/>
            <a:ext cx="7552944" cy="941832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61104" y="3493008"/>
            <a:ext cx="14813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C879"/>
                </a:solidFill>
                <a:latin typeface="Aptos"/>
              </a:rPr>
              <a:t>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3483863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F9F6"/>
                </a:solidFill>
                <a:latin typeface="Aptos"/>
              </a:rPr>
              <a:t>Two suggestions saved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3" y="3483863"/>
            <a:ext cx="3858768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8D1C4"/>
                </a:solidFill>
                <a:latin typeface="Aptos"/>
              </a:rPr>
              <a:t>They remained after a new chat and reload.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6512" y="4544568"/>
            <a:ext cx="7552944" cy="941832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61104" y="4599431"/>
            <a:ext cx="14813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907A"/>
                </a:solidFill>
                <a:latin typeface="Aptos"/>
              </a:rPr>
              <a:t>BANK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4590288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F9F6"/>
                </a:solidFill>
                <a:latin typeface="Aptos"/>
              </a:rPr>
              <a:t>Existing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3" y="4590288"/>
            <a:ext cx="3858768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8D1C4"/>
                </a:solidFill>
                <a:latin typeface="Aptos"/>
              </a:rPr>
              <a:t>The team did not create a new claim.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5586984"/>
            <a:ext cx="740664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8D1C4"/>
                </a:solidFill>
                <a:latin typeface="Aptos"/>
              </a:rPr>
              <a:t>Actual Spanish browser capture · saved result after return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6016752"/>
            <a:ext cx="11128248" cy="384048"/>
          </a:xfrm>
          <a:prstGeom prst="roundRect">
            <a:avLst/>
          </a:prstGeom>
          <a:solidFill>
            <a:srgbClr val="315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6048756"/>
            <a:ext cx="1077163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8F9F6"/>
                </a:solidFill>
                <a:latin typeface="Aptos"/>
              </a:rPr>
              <a:t>Informational help saved · existing claim only · no bank decision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9E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2064" y="274320"/>
            <a:ext cx="1115568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A VOICE THAT STAYS 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04088"/>
            <a:ext cx="1115568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8F9F6"/>
                </a:solidFill>
                <a:latin typeface="Aptos"/>
              </a:rPr>
              <a:t>A voice that keeps your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63040"/>
            <a:ext cx="11109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8D1C4"/>
                </a:solidFill>
                <a:latin typeface="Aptos"/>
              </a:rPr>
              <a:t>A calm moment, then a spoken confirmation when your explanation helps.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9672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C8D1C4"/>
                </a:solidFill>
                <a:latin typeface="Aptos"/>
              </a:rPr>
              <a:t>SAVIA   •   04/05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2276856"/>
            <a:ext cx="3273552" cy="3630168"/>
          </a:xfrm>
          <a:prstGeom prst="rect">
            <a:avLst/>
          </a:prstGeom>
          <a:solidFill>
            <a:srgbClr val="F8F9F6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avia-integrated-closure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331720"/>
            <a:ext cx="3127248" cy="3520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96512" y="2331720"/>
            <a:ext cx="7552944" cy="1344168"/>
          </a:xfrm>
          <a:prstGeom prst="roundRect">
            <a:avLst/>
          </a:prstGeom>
          <a:solidFill>
            <a:srgbClr val="244E40"/>
          </a:solidFill>
          <a:ln w="12700"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79392" y="2459736"/>
            <a:ext cx="7187183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FOREGROUND · 6.6 S · FULL ACK 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9392" y="2779776"/>
            <a:ext cx="7187183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8F9F6"/>
                </a:solidFill>
                <a:latin typeface="Aptos"/>
              </a:rPr>
              <a:t>Calm reassurance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3300984"/>
            <a:ext cx="7187183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8D1C4"/>
                </a:solidFill>
                <a:latin typeface="Aptos"/>
              </a:rPr>
              <a:t>“Despacio, sí, bien tranquilo, aquí estoy.”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6512" y="3858768"/>
            <a:ext cx="7552944" cy="1344168"/>
          </a:xfrm>
          <a:prstGeom prst="roundRect">
            <a:avLst/>
          </a:prstGeom>
          <a:solidFill>
            <a:srgbClr val="244E40"/>
          </a:solidFill>
          <a:ln w="12700"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9392" y="3986783"/>
            <a:ext cx="7187183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C879"/>
                </a:solidFill>
                <a:latin typeface="Aptos"/>
              </a:rPr>
              <a:t>HELPFUL CLOSURE · 3.95 S · FULL ACK 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4306824"/>
            <a:ext cx="7187183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8F9F6"/>
                </a:solidFill>
                <a:latin typeface="Aptos"/>
              </a:rPr>
              <a:t>Customer-confirmed closure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4828031"/>
            <a:ext cx="7187183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8D1C4"/>
                </a:solidFill>
                <a:latin typeface="Aptos"/>
              </a:rPr>
              <a:t>“Cerró la consulta, ya te ayudó la explicación.”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6053328"/>
            <a:ext cx="11128248" cy="384048"/>
          </a:xfrm>
          <a:prstGeom prst="roundRect">
            <a:avLst/>
          </a:prstGeom>
          <a:solidFill>
            <a:srgbClr val="315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6085332"/>
            <a:ext cx="1077163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8F9F6"/>
                </a:solidFill>
                <a:latin typeface="Aptos"/>
              </a:rPr>
              <a:t>Actual integrated Savia voice · customer-marked-helpful inquiry · saved context restored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9E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2064" y="274320"/>
            <a:ext cx="1115568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THE SERVICE UNDER THE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04088"/>
            <a:ext cx="1115568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8F9F6"/>
                </a:solidFill>
                <a:latin typeface="Aptos"/>
              </a:rPr>
              <a:t>Let’s prove value with a bounded pilot.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63040"/>
            <a:ext cx="11109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8D1C4"/>
                </a:solidFill>
                <a:latin typeface="Aptos"/>
              </a:rPr>
              <a:t>Partner with a bank to test the customer-support journey and its handoffs.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9672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C8D1C4"/>
                </a:solidFill>
                <a:latin typeface="Aptos"/>
              </a:rPr>
              <a:t>SAVIA   •   05/05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2331720"/>
            <a:ext cx="2084831" cy="1645920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2468880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788920"/>
            <a:ext cx="18288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9F6"/>
                </a:solidFill>
                <a:latin typeface="Aptos"/>
              </a:rPr>
              <a:t>You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3310128"/>
            <a:ext cx="18288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D1C4"/>
                </a:solidFill>
                <a:latin typeface="Aptos"/>
              </a:rPr>
              <a:t>Voice or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07792"/>
            <a:ext cx="210312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D9EDB7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8064" y="2331720"/>
            <a:ext cx="2084831" cy="1645920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4368" y="2468880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788920"/>
            <a:ext cx="18288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9F6"/>
                </a:solidFill>
                <a:latin typeface="Aptos"/>
              </a:rPr>
              <a:t>Savia 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3310128"/>
            <a:ext cx="18288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D1C4"/>
                </a:solidFill>
                <a:latin typeface="Aptos"/>
              </a:rPr>
              <a:t>Keeps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2907792"/>
            <a:ext cx="210312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D9EDB7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5776" y="2331720"/>
            <a:ext cx="2084831" cy="1645920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0" y="2468880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788920"/>
            <a:ext cx="18288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9F6"/>
                </a:solidFill>
                <a:latin typeface="Aptos"/>
              </a:rPr>
              <a:t>Savia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310128"/>
            <a:ext cx="18288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D1C4"/>
                </a:solidFill>
                <a:latin typeface="Aptos"/>
              </a:rPr>
              <a:t>Two perspectives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1464" y="2907792"/>
            <a:ext cx="210312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D9EDB7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3488" y="2331720"/>
            <a:ext cx="2084831" cy="1645920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79792" y="2468880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2788920"/>
            <a:ext cx="18288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9F6"/>
                </a:solidFill>
                <a:latin typeface="Aptos"/>
              </a:rPr>
              <a:t>Info 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3310128"/>
            <a:ext cx="18288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D1C4"/>
                </a:solidFill>
                <a:latin typeface="Aptos"/>
              </a:rPr>
              <a:t>May fail safely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2907792"/>
            <a:ext cx="210312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D9EDB7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2331720"/>
            <a:ext cx="2084831" cy="1645920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47504" y="2468880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2788920"/>
            <a:ext cx="18288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9F6"/>
                </a:solidFill>
                <a:latin typeface="Aptos"/>
              </a:rPr>
              <a:t>Check 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3310128"/>
            <a:ext cx="18288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D1C4"/>
                </a:solidFill>
                <a:latin typeface="Aptos"/>
              </a:rPr>
              <a:t>30 min · up to 7 days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4407408"/>
            <a:ext cx="11128248" cy="384048"/>
          </a:xfrm>
          <a:prstGeom prst="roundRect">
            <a:avLst/>
          </a:prstGeom>
          <a:solidFill>
            <a:srgbClr val="315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4439412"/>
            <a:ext cx="1077163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8F9F6"/>
                </a:solidFill>
                <a:latin typeface="Aptos"/>
              </a:rPr>
              <a:t>BANK PARTNER INVITED · bounded customer-support pilot · no production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965192"/>
            <a:ext cx="1097280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9F6"/>
                </a:solidFill>
                <a:latin typeface="Aptos"/>
              </a:rPr>
              <a:t>Gloria Yanta Salc · prompt flow     |     Carlos Diaz · data pipeline     |     Savia team ·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376672"/>
            <a:ext cx="1097280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8D1C4"/>
                </a:solidFill>
                <a:latin typeface="Aptos"/>
              </a:rPr>
              <a:t>Measure: repeat contacts · time to first useful answer · helpful closure · handoff 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1037</Words>
  <Application>Microsoft Office PowerPoint</Application>
  <PresentationFormat>Breitbild</PresentationFormat>
  <Paragraphs>84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Savia — Short Pitch</dc:title>
  <dc:subject>A clearer next step for an unfamiliar charge</dc:subject>
  <dc:creator>Savia team</dc:creator>
  <cp:keywords/>
  <dc:description>generated using python-pptx</dc:description>
  <cp:lastModifiedBy>Mario Andreschak</cp:lastModifiedBy>
  <cp:revision>2</cp:revision>
  <dcterms:created xsi:type="dcterms:W3CDTF">2013-01-27T09:14:16Z</dcterms:created>
  <dcterms:modified xsi:type="dcterms:W3CDTF">2026-10-05T04:53:06Z</dcterms:modified>
  <cp:category/>
</cp:coreProperties>
</file>